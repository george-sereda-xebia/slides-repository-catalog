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34805224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7"/>
  </p:normalViewPr>
  <p:slideViewPr>
    <p:cSldViewPr snapToGrid="0">
      <p:cViewPr varScale="1">
        <p:scale>
          <a:sx n="126" d="100"/>
          <a:sy n="126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D96DB-9A98-4150-9C42-445B3989A21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28F3E-A709-4E74-9AD8-4E27E3B43E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9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NL"/>
            </a:b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4914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Presentation Title</a:t>
            </a:r>
          </a:p>
        </p:txBody>
      </p:sp>
      <p:sp>
        <p:nvSpPr>
          <p:cNvPr id="13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6102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5486400" y="-101600"/>
            <a:ext cx="6072419" cy="70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635000"/>
            <a:ext cx="4889500" cy="2941137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3530288"/>
            <a:ext cx="4889500" cy="2692712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8825"/>
            <a:ext cx="243656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54488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44" name="Hoofdtekst - niveau één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499221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Hoofdtekst - niveau één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47155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61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6096000" y="-203633"/>
            <a:ext cx="5458437" cy="727791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109222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>
              <a:defRPr sz="5800" b="0" spc="-116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8825"/>
            <a:ext cx="243656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369241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8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78345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Agenda Subtitle</a:t>
            </a:r>
          </a:p>
        </p:txBody>
      </p:sp>
      <p:sp>
        <p:nvSpPr>
          <p:cNvPr id="90" name="Hoofdtekst - niveau één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1pPr>
            <a:lvl2pPr marL="0" indent="2286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2pPr>
            <a:lvl3pPr marL="0" indent="4572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3pPr>
            <a:lvl4pPr marL="0" indent="6858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4pPr>
            <a:lvl5pPr marL="0" indent="9144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32994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460422"/>
            <a:ext cx="10985500" cy="19371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5800" spc="-116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864921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Hoofdtekst - niveau één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1pPr>
            <a:lvl2pPr marL="0" indent="2286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2pPr>
            <a:lvl3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3pPr>
            <a:lvl4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4pPr>
            <a:lvl5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2500" b="1" spc="-125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Fact information</a:t>
            </a:r>
          </a:p>
        </p:txBody>
      </p:sp>
      <p:sp>
        <p:nvSpPr>
          <p:cNvPr id="108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8127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5012" y="5337727"/>
            <a:ext cx="101000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Attribution</a:t>
            </a:r>
          </a:p>
        </p:txBody>
      </p:sp>
      <p:sp>
        <p:nvSpPr>
          <p:cNvPr id="116" name="Hoofdtekst - niveau één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62" indent="-2349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62" indent="-63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62" indent="2222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62" indent="4508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62" indent="6794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518992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Afbeelding"/>
          <p:cNvSpPr>
            <a:spLocks noGrp="1"/>
          </p:cNvSpPr>
          <p:nvPr>
            <p:ph type="pic" sz="quarter" idx="21"/>
          </p:nvPr>
        </p:nvSpPr>
        <p:spPr>
          <a:xfrm>
            <a:off x="7880350" y="508000"/>
            <a:ext cx="3719550" cy="297483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Afbeelding"/>
          <p:cNvSpPr>
            <a:spLocks noGrp="1"/>
          </p:cNvSpPr>
          <p:nvPr>
            <p:ph type="pic" sz="half" idx="22"/>
          </p:nvPr>
        </p:nvSpPr>
        <p:spPr>
          <a:xfrm>
            <a:off x="6750050" y="1989138"/>
            <a:ext cx="5219700" cy="60750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Afbeelding"/>
          <p:cNvSpPr>
            <a:spLocks noGrp="1"/>
          </p:cNvSpPr>
          <p:nvPr>
            <p:ph type="pic" idx="23"/>
          </p:nvPr>
        </p:nvSpPr>
        <p:spPr>
          <a:xfrm>
            <a:off x="-69850" y="247650"/>
            <a:ext cx="8305800" cy="6229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781019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rom idea to product in one month. Fully embedded in your organization."/>
          <p:cNvSpPr txBox="1">
            <a:spLocks noGrp="1"/>
          </p:cNvSpPr>
          <p:nvPr>
            <p:ph type="body" sz="quarter" idx="21"/>
          </p:nvPr>
        </p:nvSpPr>
        <p:spPr>
          <a:xfrm>
            <a:off x="835533" y="3951085"/>
            <a:ext cx="4189960" cy="102592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000">
                <a:solidFill>
                  <a:srgbClr val="929292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r>
              <a:t>From idea to product in one month. Fully embedded in your organization.</a:t>
            </a:r>
          </a:p>
        </p:txBody>
      </p:sp>
      <p:sp>
        <p:nvSpPr>
          <p:cNvPr id="150" name="Titeltekst"/>
          <p:cNvSpPr txBox="1">
            <a:spLocks noGrp="1"/>
          </p:cNvSpPr>
          <p:nvPr>
            <p:ph type="title"/>
          </p:nvPr>
        </p:nvSpPr>
        <p:spPr>
          <a:xfrm>
            <a:off x="857250" y="1921619"/>
            <a:ext cx="5232897" cy="1744762"/>
          </a:xfrm>
          <a:prstGeom prst="rect">
            <a:avLst/>
          </a:prstGeom>
        </p:spPr>
        <p:txBody>
          <a:bodyPr anchor="b"/>
          <a:lstStyle>
            <a:lvl1pPr defTabSz="412750">
              <a:lnSpc>
                <a:spcPct val="100000"/>
              </a:lnSpc>
              <a:defRPr sz="5000" b="0" spc="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r>
              <a:t>Titeltekst</a:t>
            </a:r>
          </a:p>
        </p:txBody>
      </p:sp>
      <p:sp>
        <p:nvSpPr>
          <p:cNvPr id="151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 anchor="t"/>
          <a:lstStyle>
            <a:lvl1pPr defTabSz="412750"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088107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con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consprize@3x.png" descr="Iconsprize@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27407">
            <a:off x="-7776219" y="-3253058"/>
            <a:ext cx="25282512" cy="27689715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Cirkel"/>
          <p:cNvSpPr>
            <a:spLocks noGrp="1"/>
          </p:cNvSpPr>
          <p:nvPr>
            <p:ph type="body" sz="quarter" idx="21"/>
          </p:nvPr>
        </p:nvSpPr>
        <p:spPr>
          <a:xfrm>
            <a:off x="894368" y="2430784"/>
            <a:ext cx="1615228" cy="1615228"/>
          </a:xfrm>
          <a:prstGeom prst="ellipse">
            <a:avLst/>
          </a:prstGeom>
          <a:solidFill>
            <a:srgbClr val="FFFFFF"/>
          </a:solidFill>
          <a:effectLst>
            <a:outerShdw blurRad="177800" dist="59322" dir="5400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sym typeface="Proxima Nova Semibold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pPr>
            <a:endParaRPr/>
          </a:p>
        </p:txBody>
      </p:sp>
      <p:sp>
        <p:nvSpPr>
          <p:cNvPr id="223" name="Afbeelding"/>
          <p:cNvSpPr>
            <a:spLocks noGrp="1"/>
          </p:cNvSpPr>
          <p:nvPr>
            <p:ph type="pic" sz="quarter" idx="22"/>
          </p:nvPr>
        </p:nvSpPr>
        <p:spPr>
          <a:xfrm>
            <a:off x="1298558" y="2832563"/>
            <a:ext cx="806774" cy="80677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4" name="Don’t interrogate. Have a natural  conversation, like having  a tea together."/>
          <p:cNvSpPr txBox="1">
            <a:spLocks noGrp="1"/>
          </p:cNvSpPr>
          <p:nvPr>
            <p:ph type="body" sz="quarter" idx="23"/>
          </p:nvPr>
        </p:nvSpPr>
        <p:spPr>
          <a:xfrm>
            <a:off x="-638402" y="4744716"/>
            <a:ext cx="4680770" cy="1210588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sym typeface="Proxima Nova Light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t>Don’t interrogate. Have a natural </a:t>
            </a:r>
            <a:br/>
            <a:r>
              <a:t>conversation, like having </a:t>
            </a:r>
            <a:br/>
            <a:r>
              <a:t>a tea together.</a:t>
            </a:r>
          </a:p>
        </p:txBody>
      </p:sp>
      <p:sp>
        <p:nvSpPr>
          <p:cNvPr id="225" name="Have a natural conversation"/>
          <p:cNvSpPr txBox="1">
            <a:spLocks noGrp="1"/>
          </p:cNvSpPr>
          <p:nvPr>
            <p:ph type="body" sz="quarter" idx="24"/>
          </p:nvPr>
        </p:nvSpPr>
        <p:spPr>
          <a:xfrm>
            <a:off x="698502" y="4315236"/>
            <a:ext cx="2006960" cy="287258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</a:lstStyle>
          <a:p>
            <a:pPr>
              <a:defRPr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rPr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Have a natural conversation</a:t>
            </a:r>
          </a:p>
        </p:txBody>
      </p:sp>
      <p:sp>
        <p:nvSpPr>
          <p:cNvPr id="226" name="Cirkel"/>
          <p:cNvSpPr>
            <a:spLocks noGrp="1"/>
          </p:cNvSpPr>
          <p:nvPr>
            <p:ph type="body" sz="quarter" idx="25"/>
          </p:nvPr>
        </p:nvSpPr>
        <p:spPr>
          <a:xfrm>
            <a:off x="3993168" y="2430784"/>
            <a:ext cx="1615228" cy="1615228"/>
          </a:xfrm>
          <a:prstGeom prst="ellipse">
            <a:avLst/>
          </a:prstGeom>
          <a:solidFill>
            <a:srgbClr val="FFFFFF"/>
          </a:solidFill>
          <a:effectLst>
            <a:outerShdw blurRad="177800" dist="59322" dir="5400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sym typeface="Proxima Nova Semibold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pPr>
            <a:endParaRPr/>
          </a:p>
        </p:txBody>
      </p:sp>
      <p:sp>
        <p:nvSpPr>
          <p:cNvPr id="227" name="IconsArtboard 19@3x.png"/>
          <p:cNvSpPr>
            <a:spLocks noGrp="1"/>
          </p:cNvSpPr>
          <p:nvPr>
            <p:ph type="pic" sz="quarter" idx="26"/>
          </p:nvPr>
        </p:nvSpPr>
        <p:spPr>
          <a:xfrm>
            <a:off x="4397359" y="2832563"/>
            <a:ext cx="806774" cy="80677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8" name="Listen for 99% of the time.  Use silences to give participants time to reflect."/>
          <p:cNvSpPr txBox="1">
            <a:spLocks noGrp="1"/>
          </p:cNvSpPr>
          <p:nvPr>
            <p:ph type="body" sz="quarter" idx="27"/>
          </p:nvPr>
        </p:nvSpPr>
        <p:spPr>
          <a:xfrm>
            <a:off x="3686052" y="4744716"/>
            <a:ext cx="2229460" cy="231858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sym typeface="Proxima Nova Light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t>Listen for 99% of the time. </a:t>
            </a:r>
            <a:br/>
            <a:r>
              <a:t>Use silences to give participants time to reflect.</a:t>
            </a:r>
          </a:p>
        </p:txBody>
      </p:sp>
      <p:sp>
        <p:nvSpPr>
          <p:cNvPr id="229" name="Be silent &amp; listen"/>
          <p:cNvSpPr txBox="1">
            <a:spLocks noGrp="1"/>
          </p:cNvSpPr>
          <p:nvPr>
            <p:ph type="body" sz="quarter" idx="28"/>
          </p:nvPr>
        </p:nvSpPr>
        <p:spPr>
          <a:xfrm>
            <a:off x="4179618" y="4315236"/>
            <a:ext cx="1242328" cy="287258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</a:lstStyle>
          <a:p>
            <a:pPr>
              <a:defRPr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rPr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 silent &amp; listen</a:t>
            </a:r>
          </a:p>
        </p:txBody>
      </p:sp>
      <p:sp>
        <p:nvSpPr>
          <p:cNvPr id="230" name="Cirkel"/>
          <p:cNvSpPr>
            <a:spLocks noGrp="1"/>
          </p:cNvSpPr>
          <p:nvPr>
            <p:ph type="body" sz="quarter" idx="29"/>
          </p:nvPr>
        </p:nvSpPr>
        <p:spPr>
          <a:xfrm>
            <a:off x="6799869" y="2430784"/>
            <a:ext cx="1615228" cy="1615228"/>
          </a:xfrm>
          <a:prstGeom prst="ellipse">
            <a:avLst/>
          </a:prstGeom>
          <a:solidFill>
            <a:srgbClr val="FFFFFF"/>
          </a:solidFill>
          <a:effectLst>
            <a:outerShdw blurRad="177800" dist="59322" dir="5400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sym typeface="Proxima Nova Semibold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pPr>
            <a:endParaRPr/>
          </a:p>
        </p:txBody>
      </p:sp>
      <p:sp>
        <p:nvSpPr>
          <p:cNvPr id="231" name="05_Orientation.png"/>
          <p:cNvSpPr>
            <a:spLocks noGrp="1"/>
          </p:cNvSpPr>
          <p:nvPr>
            <p:ph type="pic" sz="quarter" idx="30"/>
          </p:nvPr>
        </p:nvSpPr>
        <p:spPr>
          <a:xfrm>
            <a:off x="7238413" y="2866918"/>
            <a:ext cx="738066" cy="73806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2" name="Ask open questions and dig deeper, as you don’t know  what your after."/>
          <p:cNvSpPr txBox="1">
            <a:spLocks noGrp="1"/>
          </p:cNvSpPr>
          <p:nvPr>
            <p:ph type="body" sz="quarter" idx="31"/>
          </p:nvPr>
        </p:nvSpPr>
        <p:spPr>
          <a:xfrm>
            <a:off x="5688688" y="4744716"/>
            <a:ext cx="3837590" cy="1210588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sym typeface="Proxima Nova Light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t>Ask open questions and dig</a:t>
            </a:r>
            <a:br/>
            <a:r>
              <a:t>deeper, as you don’t know </a:t>
            </a:r>
            <a:br/>
            <a:r>
              <a:t>what your after.</a:t>
            </a:r>
          </a:p>
        </p:txBody>
      </p:sp>
      <p:sp>
        <p:nvSpPr>
          <p:cNvPr id="233" name="Ask open-ended questions"/>
          <p:cNvSpPr txBox="1">
            <a:spLocks noGrp="1"/>
          </p:cNvSpPr>
          <p:nvPr>
            <p:ph type="body" sz="quarter" idx="32"/>
          </p:nvPr>
        </p:nvSpPr>
        <p:spPr>
          <a:xfrm>
            <a:off x="6658505" y="4315236"/>
            <a:ext cx="1897955" cy="287258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</a:lstStyle>
          <a:p>
            <a:pPr>
              <a:defRPr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rPr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Ask open-ended questions</a:t>
            </a:r>
          </a:p>
        </p:txBody>
      </p:sp>
      <p:sp>
        <p:nvSpPr>
          <p:cNvPr id="234" name="Cirkel"/>
          <p:cNvSpPr>
            <a:spLocks noGrp="1"/>
          </p:cNvSpPr>
          <p:nvPr>
            <p:ph type="body" sz="quarter" idx="33"/>
          </p:nvPr>
        </p:nvSpPr>
        <p:spPr>
          <a:xfrm>
            <a:off x="9898669" y="2430784"/>
            <a:ext cx="1615228" cy="1615228"/>
          </a:xfrm>
          <a:prstGeom prst="ellipse">
            <a:avLst/>
          </a:prstGeom>
          <a:solidFill>
            <a:srgbClr val="FFFFFF"/>
          </a:solidFill>
          <a:effectLst>
            <a:outerShdw blurRad="177800" dist="59322" dir="5400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sym typeface="Proxima Nova Semibold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pPr>
            <a:endParaRPr/>
          </a:p>
        </p:txBody>
      </p:sp>
      <p:sp>
        <p:nvSpPr>
          <p:cNvPr id="235" name="IconsUser@3x.png"/>
          <p:cNvSpPr>
            <a:spLocks noGrp="1"/>
          </p:cNvSpPr>
          <p:nvPr>
            <p:ph type="pic" sz="quarter" idx="34"/>
          </p:nvPr>
        </p:nvSpPr>
        <p:spPr>
          <a:xfrm>
            <a:off x="10302859" y="2832563"/>
            <a:ext cx="806774" cy="80677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6" name="Don’t judge the participant.  Try to love them and be like  them. Oh, and don’t interpret."/>
          <p:cNvSpPr txBox="1">
            <a:spLocks noGrp="1"/>
          </p:cNvSpPr>
          <p:nvPr>
            <p:ph type="body" sz="quarter" idx="35"/>
          </p:nvPr>
        </p:nvSpPr>
        <p:spPr>
          <a:xfrm>
            <a:off x="9591553" y="4744716"/>
            <a:ext cx="2229460" cy="268791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sym typeface="Proxima Nova Light"/>
              </a:defRPr>
            </a:lvl1pPr>
          </a:lstStyle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t>Don’t judge the participant. </a:t>
            </a:r>
            <a:br/>
            <a:r>
              <a:t>Try to love them and be like </a:t>
            </a:r>
            <a:br/>
            <a:r>
              <a:t>them. Oh, and don’t interpret.</a:t>
            </a:r>
          </a:p>
        </p:txBody>
      </p:sp>
      <p:sp>
        <p:nvSpPr>
          <p:cNvPr id="237" name="Fall in love ❤️"/>
          <p:cNvSpPr txBox="1">
            <a:spLocks noGrp="1"/>
          </p:cNvSpPr>
          <p:nvPr>
            <p:ph type="body" sz="quarter" idx="36"/>
          </p:nvPr>
        </p:nvSpPr>
        <p:spPr>
          <a:xfrm>
            <a:off x="10162064" y="4315236"/>
            <a:ext cx="1088439" cy="287258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</a:lstStyle>
          <a:p>
            <a:pPr>
              <a:defRPr>
                <a:solidFill>
                  <a:srgbClr val="555555"/>
                </a:solidFill>
                <a:latin typeface="Proxima Nova Light"/>
                <a:ea typeface="Proxima Nova Light"/>
                <a:cs typeface="Proxima Nova Light"/>
                <a:sym typeface="Proxima Nova Light"/>
              </a:defRPr>
            </a:pPr>
            <a:r>
              <a:rPr>
                <a:solidFill>
                  <a:srgbClr val="6C1D5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Fall in love ❤️</a:t>
            </a:r>
          </a:p>
        </p:txBody>
      </p:sp>
      <p:sp>
        <p:nvSpPr>
          <p:cNvPr id="238" name="Titeltekst"/>
          <p:cNvSpPr txBox="1">
            <a:spLocks noGrp="1"/>
          </p:cNvSpPr>
          <p:nvPr>
            <p:ph type="title"/>
          </p:nvPr>
        </p:nvSpPr>
        <p:spPr>
          <a:xfrm>
            <a:off x="844550" y="990600"/>
            <a:ext cx="10502900" cy="1455192"/>
          </a:xfrm>
          <a:prstGeom prst="rect">
            <a:avLst/>
          </a:prstGeom>
        </p:spPr>
        <p:txBody>
          <a:bodyPr/>
          <a:lstStyle>
            <a:lvl1pPr algn="ctr" defTabSz="412750">
              <a:lnSpc>
                <a:spcPct val="100000"/>
              </a:lnSpc>
              <a:defRPr sz="3600" b="0" spc="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r>
              <a:t>Titeltekst</a:t>
            </a:r>
          </a:p>
        </p:txBody>
      </p:sp>
      <p:sp>
        <p:nvSpPr>
          <p:cNvPr id="239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 anchor="t"/>
          <a:lstStyle>
            <a:lvl1pPr defTabSz="412750"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638499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llustration-Right-3">
    <p:bg>
      <p:bgPr>
        <a:solidFill>
          <a:srgbClr val="F9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ShapesDesignSprint_1@3x.png" descr="ShapesDesignSprint_1@3x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0800000">
            <a:off x="5264479" y="-2107679"/>
            <a:ext cx="10007078" cy="10952372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889000" y="1370996"/>
            <a:ext cx="6096000" cy="1406427"/>
          </a:xfrm>
          <a:prstGeom prst="rect">
            <a:avLst/>
          </a:prstGeom>
        </p:spPr>
        <p:txBody>
          <a:bodyPr anchor="b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500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1pPr>
            <a:lvl2pPr marL="978958" indent="-661458" defTabSz="412750">
              <a:lnSpc>
                <a:spcPct val="100000"/>
              </a:lnSpc>
              <a:spcBef>
                <a:spcPts val="0"/>
              </a:spcBef>
              <a:buSzPct val="125000"/>
              <a:defRPr sz="500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2pPr>
            <a:lvl3pPr marL="1296458" indent="-661458" defTabSz="412750">
              <a:lnSpc>
                <a:spcPct val="100000"/>
              </a:lnSpc>
              <a:spcBef>
                <a:spcPts val="0"/>
              </a:spcBef>
              <a:buSzPct val="125000"/>
              <a:defRPr sz="500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3pPr>
            <a:lvl4pPr marL="1613958" indent="-661458" defTabSz="412750">
              <a:lnSpc>
                <a:spcPct val="100000"/>
              </a:lnSpc>
              <a:spcBef>
                <a:spcPts val="0"/>
              </a:spcBef>
              <a:buSzPct val="125000"/>
              <a:defRPr sz="500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4pPr>
            <a:lvl5pPr marL="1931458" indent="-661458" defTabSz="412750">
              <a:lnSpc>
                <a:spcPct val="100000"/>
              </a:lnSpc>
              <a:spcBef>
                <a:spcPts val="0"/>
              </a:spcBef>
              <a:buSzPct val="125000"/>
              <a:defRPr sz="5000">
                <a:solidFill>
                  <a:srgbClr val="4A4A4A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257" name="Lorem ipsum dolor sit amet, consectetur adipiscing elit. Nullam a lectus justo. Cras dictum tellus nisi, quis pellentesque magna luctus vitae. Vestibulum laoreet ipsum ac arcu fermentum, quis mollis elit luctus. Nam egestas ligula sapien, at euismod ligu"/>
          <p:cNvSpPr txBox="1">
            <a:spLocks noGrp="1"/>
          </p:cNvSpPr>
          <p:nvPr>
            <p:ph type="body" sz="quarter" idx="21"/>
          </p:nvPr>
        </p:nvSpPr>
        <p:spPr>
          <a:xfrm>
            <a:off x="889000" y="2916202"/>
            <a:ext cx="3865415" cy="2905196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40000"/>
              </a:lnSpc>
              <a:buSzTx/>
              <a:buNone/>
              <a:defRPr sz="2400">
                <a:solidFill>
                  <a:srgbClr val="929292"/>
                </a:solidFill>
                <a:latin typeface="Proxima Nova Rg"/>
                <a:sym typeface="Proxima Nova"/>
              </a:defRPr>
            </a:lvl1pPr>
          </a:lstStyle>
          <a:p>
            <a:pPr marL="0" indent="0" defTabSz="825500">
              <a:lnSpc>
                <a:spcPct val="140000"/>
              </a:lnSpc>
              <a:buSzTx/>
              <a:buNone/>
              <a:defRPr sz="2400">
                <a:solidFill>
                  <a:srgbClr val="929292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endParaRPr/>
          </a:p>
        </p:txBody>
      </p:sp>
      <p:sp>
        <p:nvSpPr>
          <p:cNvPr id="258" name="_illustrationsCultureandCompetence@3x.png"/>
          <p:cNvSpPr>
            <a:spLocks noGrp="1"/>
          </p:cNvSpPr>
          <p:nvPr>
            <p:ph type="pic" sz="half" idx="22"/>
          </p:nvPr>
        </p:nvSpPr>
        <p:spPr>
          <a:xfrm>
            <a:off x="6358572" y="475198"/>
            <a:ext cx="5280791" cy="57864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9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 anchor="t"/>
          <a:lstStyle>
            <a:lvl1pPr defTabSz="412750"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88101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Afbeelding"/>
          <p:cNvSpPr>
            <a:spLocks noGrp="1"/>
          </p:cNvSpPr>
          <p:nvPr>
            <p:ph type="pic" idx="21"/>
          </p:nvPr>
        </p:nvSpPr>
        <p:spPr>
          <a:xfrm>
            <a:off x="-666750" y="-2762250"/>
            <a:ext cx="13525500" cy="10820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182477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1">
            <a:extLst>
              <a:ext uri="{FF2B5EF4-FFF2-40B4-BE49-F238E27FC236}">
                <a16:creationId xmlns:a16="http://schemas.microsoft.com/office/drawing/2014/main" id="{B0DAEC88-62C8-43D5-A5F2-46C0AD7D5671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2656213" y="-2656226"/>
            <a:ext cx="6900415" cy="12212857"/>
          </a:xfrm>
          <a:custGeom>
            <a:avLst/>
            <a:gdLst>
              <a:gd name="connsiteX0" fmla="*/ 892481 w 5315644"/>
              <a:gd name="connsiteY0" fmla="*/ 0 h 7563811"/>
              <a:gd name="connsiteX1" fmla="*/ 5816 w 5315644"/>
              <a:gd name="connsiteY1" fmla="*/ 3571624 h 7563811"/>
              <a:gd name="connsiteX2" fmla="*/ 747667 w 5315644"/>
              <a:gd name="connsiteY2" fmla="*/ 7563812 h 7563811"/>
              <a:gd name="connsiteX3" fmla="*/ 5315644 w 5315644"/>
              <a:gd name="connsiteY3" fmla="*/ 7563812 h 7563811"/>
              <a:gd name="connsiteX4" fmla="*/ 5315644 w 5315644"/>
              <a:gd name="connsiteY4" fmla="*/ 0 h 7563811"/>
              <a:gd name="connsiteX5" fmla="*/ 892481 w 5315644"/>
              <a:gd name="connsiteY5" fmla="*/ 0 h 7563811"/>
              <a:gd name="connsiteX0" fmla="*/ 892481 w 5315644"/>
              <a:gd name="connsiteY0" fmla="*/ 0 h 7563813"/>
              <a:gd name="connsiteX1" fmla="*/ 5816 w 5315644"/>
              <a:gd name="connsiteY1" fmla="*/ 3571624 h 7563813"/>
              <a:gd name="connsiteX2" fmla="*/ 747667 w 5315644"/>
              <a:gd name="connsiteY2" fmla="*/ 7563812 h 7563813"/>
              <a:gd name="connsiteX3" fmla="*/ 4552322 w 5315644"/>
              <a:gd name="connsiteY3" fmla="*/ 7563813 h 7563813"/>
              <a:gd name="connsiteX4" fmla="*/ 5315644 w 5315644"/>
              <a:gd name="connsiteY4" fmla="*/ 0 h 7563813"/>
              <a:gd name="connsiteX5" fmla="*/ 892481 w 5315644"/>
              <a:gd name="connsiteY5" fmla="*/ 0 h 7563813"/>
              <a:gd name="connsiteX0" fmla="*/ 892481 w 5315644"/>
              <a:gd name="connsiteY0" fmla="*/ 0 h 7563813"/>
              <a:gd name="connsiteX1" fmla="*/ 5816 w 5315644"/>
              <a:gd name="connsiteY1" fmla="*/ 3571624 h 7563813"/>
              <a:gd name="connsiteX2" fmla="*/ 747667 w 5315644"/>
              <a:gd name="connsiteY2" fmla="*/ 7563812 h 7563813"/>
              <a:gd name="connsiteX3" fmla="*/ 4901639 w 5315644"/>
              <a:gd name="connsiteY3" fmla="*/ 7563813 h 7563813"/>
              <a:gd name="connsiteX4" fmla="*/ 5315644 w 5315644"/>
              <a:gd name="connsiteY4" fmla="*/ 0 h 7563813"/>
              <a:gd name="connsiteX5" fmla="*/ 892481 w 5315644"/>
              <a:gd name="connsiteY5" fmla="*/ 0 h 7563813"/>
              <a:gd name="connsiteX0" fmla="*/ 892481 w 4901639"/>
              <a:gd name="connsiteY0" fmla="*/ 0 h 7563813"/>
              <a:gd name="connsiteX1" fmla="*/ 5816 w 4901639"/>
              <a:gd name="connsiteY1" fmla="*/ 3571624 h 7563813"/>
              <a:gd name="connsiteX2" fmla="*/ 747667 w 4901639"/>
              <a:gd name="connsiteY2" fmla="*/ 7563812 h 7563813"/>
              <a:gd name="connsiteX3" fmla="*/ 4901639 w 4901639"/>
              <a:gd name="connsiteY3" fmla="*/ 7563813 h 7563813"/>
              <a:gd name="connsiteX4" fmla="*/ 4565260 w 4901639"/>
              <a:gd name="connsiteY4" fmla="*/ 0 h 7563813"/>
              <a:gd name="connsiteX5" fmla="*/ 892481 w 4901639"/>
              <a:gd name="connsiteY5" fmla="*/ 0 h 7563813"/>
              <a:gd name="connsiteX0" fmla="*/ 892481 w 4901639"/>
              <a:gd name="connsiteY0" fmla="*/ 12938 h 7576751"/>
              <a:gd name="connsiteX1" fmla="*/ 5816 w 4901639"/>
              <a:gd name="connsiteY1" fmla="*/ 3584562 h 7576751"/>
              <a:gd name="connsiteX2" fmla="*/ 747667 w 4901639"/>
              <a:gd name="connsiteY2" fmla="*/ 7576750 h 7576751"/>
              <a:gd name="connsiteX3" fmla="*/ 4901639 w 4901639"/>
              <a:gd name="connsiteY3" fmla="*/ 7576751 h 7576751"/>
              <a:gd name="connsiteX4" fmla="*/ 4901639 w 4901639"/>
              <a:gd name="connsiteY4" fmla="*/ 0 h 7576751"/>
              <a:gd name="connsiteX5" fmla="*/ 892481 w 4901639"/>
              <a:gd name="connsiteY5" fmla="*/ 12938 h 7576751"/>
              <a:gd name="connsiteX0" fmla="*/ 0 w 4906702"/>
              <a:gd name="connsiteY0" fmla="*/ 20502 h 7576751"/>
              <a:gd name="connsiteX1" fmla="*/ 10879 w 4906702"/>
              <a:gd name="connsiteY1" fmla="*/ 3584562 h 7576751"/>
              <a:gd name="connsiteX2" fmla="*/ 752730 w 4906702"/>
              <a:gd name="connsiteY2" fmla="*/ 7576750 h 7576751"/>
              <a:gd name="connsiteX3" fmla="*/ 4906702 w 4906702"/>
              <a:gd name="connsiteY3" fmla="*/ 7576751 h 7576751"/>
              <a:gd name="connsiteX4" fmla="*/ 4906702 w 4906702"/>
              <a:gd name="connsiteY4" fmla="*/ 0 h 7576751"/>
              <a:gd name="connsiteX5" fmla="*/ 0 w 4906702"/>
              <a:gd name="connsiteY5" fmla="*/ 20502 h 7576751"/>
              <a:gd name="connsiteX0" fmla="*/ 0 w 4906702"/>
              <a:gd name="connsiteY0" fmla="*/ 823283 h 8379532"/>
              <a:gd name="connsiteX1" fmla="*/ 10879 w 4906702"/>
              <a:gd name="connsiteY1" fmla="*/ 4387343 h 8379532"/>
              <a:gd name="connsiteX2" fmla="*/ 752730 w 4906702"/>
              <a:gd name="connsiteY2" fmla="*/ 8379531 h 8379532"/>
              <a:gd name="connsiteX3" fmla="*/ 4906702 w 4906702"/>
              <a:gd name="connsiteY3" fmla="*/ 8379532 h 8379532"/>
              <a:gd name="connsiteX4" fmla="*/ 4906702 w 4906702"/>
              <a:gd name="connsiteY4" fmla="*/ 802781 h 8379532"/>
              <a:gd name="connsiteX5" fmla="*/ 0 w 4906702"/>
              <a:gd name="connsiteY5" fmla="*/ 823283 h 8379532"/>
              <a:gd name="connsiteX0" fmla="*/ 0 w 4906702"/>
              <a:gd name="connsiteY0" fmla="*/ 20502 h 7576751"/>
              <a:gd name="connsiteX1" fmla="*/ 10879 w 4906702"/>
              <a:gd name="connsiteY1" fmla="*/ 3584562 h 7576751"/>
              <a:gd name="connsiteX2" fmla="*/ 752730 w 4906702"/>
              <a:gd name="connsiteY2" fmla="*/ 7576750 h 7576751"/>
              <a:gd name="connsiteX3" fmla="*/ 4906702 w 4906702"/>
              <a:gd name="connsiteY3" fmla="*/ 7576751 h 7576751"/>
              <a:gd name="connsiteX4" fmla="*/ 4906702 w 4906702"/>
              <a:gd name="connsiteY4" fmla="*/ 0 h 7576751"/>
              <a:gd name="connsiteX5" fmla="*/ 0 w 4906702"/>
              <a:gd name="connsiteY5" fmla="*/ 20502 h 7576751"/>
              <a:gd name="connsiteX0" fmla="*/ 0 w 4906702"/>
              <a:gd name="connsiteY0" fmla="*/ 20502 h 7576751"/>
              <a:gd name="connsiteX1" fmla="*/ 10879 w 4906702"/>
              <a:gd name="connsiteY1" fmla="*/ 3584562 h 7576751"/>
              <a:gd name="connsiteX2" fmla="*/ 752730 w 4906702"/>
              <a:gd name="connsiteY2" fmla="*/ 7576750 h 7576751"/>
              <a:gd name="connsiteX3" fmla="*/ 4906702 w 4906702"/>
              <a:gd name="connsiteY3" fmla="*/ 7576751 h 7576751"/>
              <a:gd name="connsiteX4" fmla="*/ 4906702 w 4906702"/>
              <a:gd name="connsiteY4" fmla="*/ 0 h 7576751"/>
              <a:gd name="connsiteX5" fmla="*/ 0 w 4906702"/>
              <a:gd name="connsiteY5" fmla="*/ 20502 h 7576751"/>
              <a:gd name="connsiteX0" fmla="*/ 0 w 4906702"/>
              <a:gd name="connsiteY0" fmla="*/ 20502 h 7576751"/>
              <a:gd name="connsiteX1" fmla="*/ 10879 w 4906702"/>
              <a:gd name="connsiteY1" fmla="*/ 3584562 h 7576751"/>
              <a:gd name="connsiteX2" fmla="*/ 752730 w 4906702"/>
              <a:gd name="connsiteY2" fmla="*/ 7576750 h 7576751"/>
              <a:gd name="connsiteX3" fmla="*/ 4906702 w 4906702"/>
              <a:gd name="connsiteY3" fmla="*/ 7576751 h 7576751"/>
              <a:gd name="connsiteX4" fmla="*/ 4906702 w 4906702"/>
              <a:gd name="connsiteY4" fmla="*/ 0 h 7576751"/>
              <a:gd name="connsiteX5" fmla="*/ 0 w 4906702"/>
              <a:gd name="connsiteY5" fmla="*/ 20502 h 7576751"/>
              <a:gd name="connsiteX0" fmla="*/ 147214 w 4923206"/>
              <a:gd name="connsiteY0" fmla="*/ 179342 h 7576751"/>
              <a:gd name="connsiteX1" fmla="*/ 27383 w 4923206"/>
              <a:gd name="connsiteY1" fmla="*/ 3584562 h 7576751"/>
              <a:gd name="connsiteX2" fmla="*/ 769234 w 4923206"/>
              <a:gd name="connsiteY2" fmla="*/ 7576750 h 7576751"/>
              <a:gd name="connsiteX3" fmla="*/ 4923206 w 4923206"/>
              <a:gd name="connsiteY3" fmla="*/ 7576751 h 7576751"/>
              <a:gd name="connsiteX4" fmla="*/ 4923206 w 4923206"/>
              <a:gd name="connsiteY4" fmla="*/ 0 h 7576751"/>
              <a:gd name="connsiteX5" fmla="*/ 147214 w 4923206"/>
              <a:gd name="connsiteY5" fmla="*/ 179342 h 7576751"/>
              <a:gd name="connsiteX0" fmla="*/ 42213 w 4957629"/>
              <a:gd name="connsiteY0" fmla="*/ 5373 h 7576751"/>
              <a:gd name="connsiteX1" fmla="*/ 61806 w 4957629"/>
              <a:gd name="connsiteY1" fmla="*/ 3584562 h 7576751"/>
              <a:gd name="connsiteX2" fmla="*/ 803657 w 4957629"/>
              <a:gd name="connsiteY2" fmla="*/ 7576750 h 7576751"/>
              <a:gd name="connsiteX3" fmla="*/ 4957629 w 4957629"/>
              <a:gd name="connsiteY3" fmla="*/ 7576751 h 7576751"/>
              <a:gd name="connsiteX4" fmla="*/ 4957629 w 4957629"/>
              <a:gd name="connsiteY4" fmla="*/ 0 h 7576751"/>
              <a:gd name="connsiteX5" fmla="*/ 42213 w 4957629"/>
              <a:gd name="connsiteY5" fmla="*/ 5373 h 7576751"/>
              <a:gd name="connsiteX0" fmla="*/ 19358 w 4934774"/>
              <a:gd name="connsiteY0" fmla="*/ 5373 h 7576751"/>
              <a:gd name="connsiteX1" fmla="*/ 38951 w 4934774"/>
              <a:gd name="connsiteY1" fmla="*/ 3584562 h 7576751"/>
              <a:gd name="connsiteX2" fmla="*/ 780802 w 4934774"/>
              <a:gd name="connsiteY2" fmla="*/ 7576750 h 7576751"/>
              <a:gd name="connsiteX3" fmla="*/ 4934774 w 4934774"/>
              <a:gd name="connsiteY3" fmla="*/ 7576751 h 7576751"/>
              <a:gd name="connsiteX4" fmla="*/ 4934774 w 4934774"/>
              <a:gd name="connsiteY4" fmla="*/ 0 h 7576751"/>
              <a:gd name="connsiteX5" fmla="*/ 19358 w 4934774"/>
              <a:gd name="connsiteY5" fmla="*/ 5373 h 7576751"/>
              <a:gd name="connsiteX0" fmla="*/ 0 w 4915416"/>
              <a:gd name="connsiteY0" fmla="*/ 5373 h 7576751"/>
              <a:gd name="connsiteX1" fmla="*/ 19593 w 4915416"/>
              <a:gd name="connsiteY1" fmla="*/ 3584562 h 7576751"/>
              <a:gd name="connsiteX2" fmla="*/ 761444 w 4915416"/>
              <a:gd name="connsiteY2" fmla="*/ 7576750 h 7576751"/>
              <a:gd name="connsiteX3" fmla="*/ 4915416 w 4915416"/>
              <a:gd name="connsiteY3" fmla="*/ 7576751 h 7576751"/>
              <a:gd name="connsiteX4" fmla="*/ 4915416 w 4915416"/>
              <a:gd name="connsiteY4" fmla="*/ 0 h 7576751"/>
              <a:gd name="connsiteX5" fmla="*/ 0 w 4915416"/>
              <a:gd name="connsiteY5" fmla="*/ 5373 h 7576751"/>
              <a:gd name="connsiteX0" fmla="*/ 0 w 4915416"/>
              <a:gd name="connsiteY0" fmla="*/ 5373 h 7576751"/>
              <a:gd name="connsiteX1" fmla="*/ 19593 w 4915416"/>
              <a:gd name="connsiteY1" fmla="*/ 3584562 h 7576751"/>
              <a:gd name="connsiteX2" fmla="*/ 761444 w 4915416"/>
              <a:gd name="connsiteY2" fmla="*/ 7576750 h 7576751"/>
              <a:gd name="connsiteX3" fmla="*/ 4915416 w 4915416"/>
              <a:gd name="connsiteY3" fmla="*/ 7576751 h 7576751"/>
              <a:gd name="connsiteX4" fmla="*/ 4915416 w 4915416"/>
              <a:gd name="connsiteY4" fmla="*/ 0 h 7576751"/>
              <a:gd name="connsiteX5" fmla="*/ 0 w 4915416"/>
              <a:gd name="connsiteY5" fmla="*/ 5373 h 7576751"/>
              <a:gd name="connsiteX0" fmla="*/ 369366 w 5284782"/>
              <a:gd name="connsiteY0" fmla="*/ 266522 h 7837900"/>
              <a:gd name="connsiteX1" fmla="*/ 362817 w 5284782"/>
              <a:gd name="connsiteY1" fmla="*/ 3845711 h 7837900"/>
              <a:gd name="connsiteX2" fmla="*/ 1130810 w 5284782"/>
              <a:gd name="connsiteY2" fmla="*/ 7837899 h 7837900"/>
              <a:gd name="connsiteX3" fmla="*/ 5284782 w 5284782"/>
              <a:gd name="connsiteY3" fmla="*/ 7837900 h 7837900"/>
              <a:gd name="connsiteX4" fmla="*/ 5284782 w 5284782"/>
              <a:gd name="connsiteY4" fmla="*/ 261149 h 7837900"/>
              <a:gd name="connsiteX5" fmla="*/ 369366 w 5284782"/>
              <a:gd name="connsiteY5" fmla="*/ 266522 h 7837900"/>
              <a:gd name="connsiteX0" fmla="*/ 16535 w 4931951"/>
              <a:gd name="connsiteY0" fmla="*/ 5373 h 7576751"/>
              <a:gd name="connsiteX1" fmla="*/ 9986 w 4931951"/>
              <a:gd name="connsiteY1" fmla="*/ 3584562 h 7576751"/>
              <a:gd name="connsiteX2" fmla="*/ 777979 w 4931951"/>
              <a:gd name="connsiteY2" fmla="*/ 7576750 h 7576751"/>
              <a:gd name="connsiteX3" fmla="*/ 4931951 w 4931951"/>
              <a:gd name="connsiteY3" fmla="*/ 7576751 h 7576751"/>
              <a:gd name="connsiteX4" fmla="*/ 4931951 w 4931951"/>
              <a:gd name="connsiteY4" fmla="*/ 0 h 7576751"/>
              <a:gd name="connsiteX5" fmla="*/ 16535 w 4931951"/>
              <a:gd name="connsiteY5" fmla="*/ 5373 h 7576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1951" h="7576751">
                <a:moveTo>
                  <a:pt x="16535" y="5373"/>
                </a:moveTo>
                <a:cubicBezTo>
                  <a:pt x="-5007" y="4000"/>
                  <a:pt x="-3639" y="2292410"/>
                  <a:pt x="9986" y="3584562"/>
                </a:cubicBezTo>
                <a:cubicBezTo>
                  <a:pt x="23611" y="4876714"/>
                  <a:pt x="882144" y="6160044"/>
                  <a:pt x="777979" y="7576750"/>
                </a:cubicBezTo>
                <a:lnTo>
                  <a:pt x="4931951" y="7576751"/>
                </a:lnTo>
                <a:lnTo>
                  <a:pt x="4931951" y="0"/>
                </a:lnTo>
                <a:lnTo>
                  <a:pt x="16535" y="53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6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1633"/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AECC132E-60E1-9F88-9060-D7C676408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0971" y="423337"/>
            <a:ext cx="833165" cy="27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53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/>
          </p:nvPr>
        </p:nvSpPr>
        <p:spPr>
          <a:xfrm>
            <a:off x="603250" y="5397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4867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92100">
              <a:defRPr sz="9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912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med"/>
  <p:txStyles>
    <p:titleStyle>
      <a:lvl1pPr marL="0" marR="0" indent="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raphic 163">
            <a:extLst>
              <a:ext uri="{FF2B5EF4-FFF2-40B4-BE49-F238E27FC236}">
                <a16:creationId xmlns:a16="http://schemas.microsoft.com/office/drawing/2014/main" id="{1750A6E9-3BE4-B44A-9F8B-5CF8ECD5C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050" y="1192916"/>
            <a:ext cx="4150474" cy="676588"/>
          </a:xfrm>
          <a:prstGeom prst="rect">
            <a:avLst/>
          </a:prstGeom>
        </p:spPr>
      </p:pic>
      <p:pic>
        <p:nvPicPr>
          <p:cNvPr id="222" name="Graphic 221">
            <a:extLst>
              <a:ext uri="{FF2B5EF4-FFF2-40B4-BE49-F238E27FC236}">
                <a16:creationId xmlns:a16="http://schemas.microsoft.com/office/drawing/2014/main" id="{E3B48B84-6844-3044-91DB-E047E30ABB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164" y="143231"/>
            <a:ext cx="4152360" cy="982637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6B507B6B-A05E-F04D-9703-B41A010EE0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5780" y="468173"/>
            <a:ext cx="2020639" cy="901516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2F6B6832-F940-1F4C-886E-A74B98609BD0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8108" y="1231053"/>
            <a:ext cx="493264" cy="171819"/>
          </a:xfrm>
          <a:prstGeom prst="rect">
            <a:avLst/>
          </a:prstGeom>
        </p:spPr>
      </p:pic>
      <p:sp>
        <p:nvSpPr>
          <p:cNvPr id="206" name="Tekstvak 205">
            <a:extLst>
              <a:ext uri="{FF2B5EF4-FFF2-40B4-BE49-F238E27FC236}">
                <a16:creationId xmlns:a16="http://schemas.microsoft.com/office/drawing/2014/main" id="{F443CB7F-1EC4-A645-97D2-2F6E36A0B5CB}"/>
              </a:ext>
            </a:extLst>
          </p:cNvPr>
          <p:cNvSpPr txBox="1"/>
          <p:nvPr/>
        </p:nvSpPr>
        <p:spPr>
          <a:xfrm>
            <a:off x="268108" y="1217010"/>
            <a:ext cx="493264" cy="189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Purpose</a:t>
            </a:r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1CF45E97-6484-C642-87AD-8808B67BD7C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47460" y="267395"/>
            <a:ext cx="1016302" cy="171819"/>
          </a:xfrm>
          <a:prstGeom prst="rect">
            <a:avLst/>
          </a:prstGeom>
        </p:spPr>
      </p:pic>
      <p:sp>
        <p:nvSpPr>
          <p:cNvPr id="208" name="Tekstvak 207">
            <a:extLst>
              <a:ext uri="{FF2B5EF4-FFF2-40B4-BE49-F238E27FC236}">
                <a16:creationId xmlns:a16="http://schemas.microsoft.com/office/drawing/2014/main" id="{779280A5-2F02-6E4D-8BC0-3C326416D139}"/>
              </a:ext>
            </a:extLst>
          </p:cNvPr>
          <p:cNvSpPr txBox="1"/>
          <p:nvPr/>
        </p:nvSpPr>
        <p:spPr>
          <a:xfrm>
            <a:off x="2647460" y="247786"/>
            <a:ext cx="1016302" cy="189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Business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 Principles</a:t>
            </a:r>
          </a:p>
        </p:txBody>
      </p:sp>
      <p:pic>
        <p:nvPicPr>
          <p:cNvPr id="209" name="Graphic 208">
            <a:extLst>
              <a:ext uri="{FF2B5EF4-FFF2-40B4-BE49-F238E27FC236}">
                <a16:creationId xmlns:a16="http://schemas.microsoft.com/office/drawing/2014/main" id="{D15D50D2-7955-AE43-9CDA-8F4F48C7719C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986" y="267395"/>
            <a:ext cx="478301" cy="171819"/>
          </a:xfrm>
          <a:prstGeom prst="rect">
            <a:avLst/>
          </a:prstGeom>
        </p:spPr>
      </p:pic>
      <p:sp>
        <p:nvSpPr>
          <p:cNvPr id="210" name="Tekstvak 209">
            <a:extLst>
              <a:ext uri="{FF2B5EF4-FFF2-40B4-BE49-F238E27FC236}">
                <a16:creationId xmlns:a16="http://schemas.microsoft.com/office/drawing/2014/main" id="{F3BE705C-9C84-EB4B-8643-E989E1324609}"/>
              </a:ext>
            </a:extLst>
          </p:cNvPr>
          <p:cNvSpPr txBox="1"/>
          <p:nvPr/>
        </p:nvSpPr>
        <p:spPr>
          <a:xfrm>
            <a:off x="1154986" y="247786"/>
            <a:ext cx="478300" cy="189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Values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B85B15B0-1B97-3147-B5C1-A3F50466B9AF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642" y="267395"/>
            <a:ext cx="478301" cy="171819"/>
          </a:xfrm>
          <a:prstGeom prst="rect">
            <a:avLst/>
          </a:prstGeom>
        </p:spPr>
      </p:pic>
      <p:sp>
        <p:nvSpPr>
          <p:cNvPr id="212" name="Tekstvak 211">
            <a:extLst>
              <a:ext uri="{FF2B5EF4-FFF2-40B4-BE49-F238E27FC236}">
                <a16:creationId xmlns:a16="http://schemas.microsoft.com/office/drawing/2014/main" id="{0FCA7756-224F-5D40-B7A4-7237FA69B513}"/>
              </a:ext>
            </a:extLst>
          </p:cNvPr>
          <p:cNvSpPr txBox="1"/>
          <p:nvPr/>
        </p:nvSpPr>
        <p:spPr>
          <a:xfrm>
            <a:off x="307642" y="247786"/>
            <a:ext cx="478300" cy="189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Mission</a:t>
            </a:r>
          </a:p>
        </p:txBody>
      </p:sp>
      <p:sp>
        <p:nvSpPr>
          <p:cNvPr id="213" name="Tekstvak 212">
            <a:extLst>
              <a:ext uri="{FF2B5EF4-FFF2-40B4-BE49-F238E27FC236}">
                <a16:creationId xmlns:a16="http://schemas.microsoft.com/office/drawing/2014/main" id="{5B5D0774-E674-6640-883D-AA4E5E8EA4F9}"/>
              </a:ext>
            </a:extLst>
          </p:cNvPr>
          <p:cNvSpPr txBox="1"/>
          <p:nvPr/>
        </p:nvSpPr>
        <p:spPr>
          <a:xfrm>
            <a:off x="307642" y="473923"/>
            <a:ext cx="696556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spAutoFit/>
          </a:bodyPr>
          <a:lstStyle/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Authority</a:t>
            </a:r>
          </a:p>
        </p:txBody>
      </p:sp>
      <p:sp>
        <p:nvSpPr>
          <p:cNvPr id="214" name="Tekstvak 213">
            <a:extLst>
              <a:ext uri="{FF2B5EF4-FFF2-40B4-BE49-F238E27FC236}">
                <a16:creationId xmlns:a16="http://schemas.microsoft.com/office/drawing/2014/main" id="{FE7BC2AD-6965-3A4D-BC4E-56CC879E9B00}"/>
              </a:ext>
            </a:extLst>
          </p:cNvPr>
          <p:cNvSpPr txBox="1"/>
          <p:nvPr/>
        </p:nvSpPr>
        <p:spPr>
          <a:xfrm>
            <a:off x="1154986" y="469586"/>
            <a:ext cx="1431052" cy="5437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spAutoFit/>
          </a:bodyPr>
          <a:lstStyle/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People First</a:t>
            </a:r>
          </a:p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Sharing Knowledge</a:t>
            </a:r>
          </a:p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Quality Without Compromise</a:t>
            </a:r>
          </a:p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Customer Intimacy</a:t>
            </a:r>
          </a:p>
        </p:txBody>
      </p:sp>
      <p:sp>
        <p:nvSpPr>
          <p:cNvPr id="215" name="Tekstvak 214">
            <a:extLst>
              <a:ext uri="{FF2B5EF4-FFF2-40B4-BE49-F238E27FC236}">
                <a16:creationId xmlns:a16="http://schemas.microsoft.com/office/drawing/2014/main" id="{D0DC055A-45FB-9B41-842F-D38F688E9591}"/>
              </a:ext>
            </a:extLst>
          </p:cNvPr>
          <p:cNvSpPr txBox="1"/>
          <p:nvPr/>
        </p:nvSpPr>
        <p:spPr>
          <a:xfrm>
            <a:off x="2624121" y="469586"/>
            <a:ext cx="1404688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spAutoFit/>
          </a:bodyPr>
          <a:lstStyle/>
          <a:p>
            <a:pPr marL="72232" indent="-66675" defTabSz="1219169" hangingPunct="0"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Sense of Urgency </a:t>
            </a:r>
            <a:endParaRPr kumimoji="0" lang="en-NL" sz="800" b="0" i="0" u="none" strike="noStrike" kern="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Proxima Nova" panose="02000506030000020004" pitchFamily="2" charset="0"/>
              <a:sym typeface="Helvetica Neue"/>
            </a:endParaRPr>
          </a:p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Entrepreneurship and Innovation</a:t>
            </a:r>
            <a:endParaRPr kumimoji="0" lang="en-NL" sz="800" b="0" i="0" u="none" strike="noStrike" kern="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Proxima Nova" panose="02000506030000020004" pitchFamily="2" charset="0"/>
              <a:sym typeface="Helvetica Neue"/>
            </a:endParaRPr>
          </a:p>
          <a:p>
            <a:pPr marL="72232" indent="-66675" defTabSz="1219169" hangingPunct="0"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Responsibility</a:t>
            </a:r>
          </a:p>
          <a:p>
            <a:pPr marL="72232" marR="0" lvl="0" indent="-66675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Results</a:t>
            </a:r>
          </a:p>
        </p:txBody>
      </p:sp>
      <p:sp>
        <p:nvSpPr>
          <p:cNvPr id="216" name="Tekstvak 215">
            <a:extLst>
              <a:ext uri="{FF2B5EF4-FFF2-40B4-BE49-F238E27FC236}">
                <a16:creationId xmlns:a16="http://schemas.microsoft.com/office/drawing/2014/main" id="{A16C927D-B36B-B842-BF59-B50962E00F93}"/>
              </a:ext>
            </a:extLst>
          </p:cNvPr>
          <p:cNvSpPr txBox="1"/>
          <p:nvPr/>
        </p:nvSpPr>
        <p:spPr>
          <a:xfrm>
            <a:off x="266867" y="1438810"/>
            <a:ext cx="4037657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spAutoFit/>
          </a:bodyPr>
          <a:lstStyle/>
          <a:p>
            <a:pPr marL="5557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" panose="02000506030000020004" pitchFamily="2" charset="0"/>
                <a:sym typeface="Helvetica Neue"/>
              </a:rPr>
              <a:t>We create digital leaders and build resilient organizations at any scale. Our passion for people, technology and sharing knowledge makes us uniquely qualified to do so.</a:t>
            </a:r>
            <a:endParaRPr kumimoji="0" lang="en-NL" sz="800" b="0" i="0" u="none" strike="noStrike" kern="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Proxima Nova" panose="02000506030000020004" pitchFamily="2" charset="0"/>
              <a:sym typeface="Helvetica Neue"/>
            </a:endParaRPr>
          </a:p>
        </p:txBody>
      </p:sp>
      <p:cxnSp>
        <p:nvCxnSpPr>
          <p:cNvPr id="384" name="Rechte verbindingslijn 379">
            <a:extLst>
              <a:ext uri="{FF2B5EF4-FFF2-40B4-BE49-F238E27FC236}">
                <a16:creationId xmlns:a16="http://schemas.microsoft.com/office/drawing/2014/main" id="{AEF4A207-B56A-4E0A-805B-D89EC8B22F3E}"/>
              </a:ext>
            </a:extLst>
          </p:cNvPr>
          <p:cNvCxnSpPr>
            <a:cxnSpLocks/>
          </p:cNvCxnSpPr>
          <p:nvPr/>
        </p:nvCxnSpPr>
        <p:spPr>
          <a:xfrm flipV="1">
            <a:off x="6016217" y="1878181"/>
            <a:ext cx="0" cy="267756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Tekstvak 492">
            <a:extLst>
              <a:ext uri="{FF2B5EF4-FFF2-40B4-BE49-F238E27FC236}">
                <a16:creationId xmlns:a16="http://schemas.microsoft.com/office/drawing/2014/main" id="{80E0335A-62CB-3776-BD4B-425C1D450788}"/>
              </a:ext>
            </a:extLst>
          </p:cNvPr>
          <p:cNvSpPr txBox="1"/>
          <p:nvPr/>
        </p:nvSpPr>
        <p:spPr>
          <a:xfrm>
            <a:off x="5322544" y="1626554"/>
            <a:ext cx="1341353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>
                <a:ln>
                  <a:noFill/>
                </a:ln>
                <a:solidFill>
                  <a:srgbClr val="760F63"/>
                </a:solidFill>
                <a:effectLst/>
                <a:uLnTx/>
                <a:uFillTx/>
                <a:latin typeface="Proxima Nova Semibold" panose="02000506030000020004" pitchFamily="2" charset="0"/>
                <a:sym typeface="Helvetica Neue"/>
              </a:rPr>
              <a:t>Service Lines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4ABC01B-A537-4087-CEBC-123438E89497}"/>
              </a:ext>
            </a:extLst>
          </p:cNvPr>
          <p:cNvSpPr>
            <a:spLocks/>
          </p:cNvSpPr>
          <p:nvPr/>
        </p:nvSpPr>
        <p:spPr>
          <a:xfrm>
            <a:off x="1030537" y="5527283"/>
            <a:ext cx="9938764" cy="330801"/>
          </a:xfrm>
          <a:prstGeom prst="rect">
            <a:avLst/>
          </a:prstGeom>
          <a:solidFill>
            <a:srgbClr val="DEDED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" normalizeH="0" baseline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Proxima Nova Semibold" panose="02000506030000020004" pitchFamily="2" charset="0"/>
                <a:ea typeface="맑은 고딕" panose="020B0503020000020004" pitchFamily="34" charset="-127"/>
                <a:cs typeface="Arial" pitchFamily="34" charset="0"/>
                <a:sym typeface="Helvetica Neue"/>
              </a:rPr>
              <a:t>Alliances (Technology and Industry)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D8D890C-403B-31B6-7F12-372C99D13DD8}"/>
              </a:ext>
            </a:extLst>
          </p:cNvPr>
          <p:cNvSpPr>
            <a:spLocks/>
          </p:cNvSpPr>
          <p:nvPr/>
        </p:nvSpPr>
        <p:spPr>
          <a:xfrm>
            <a:off x="1030536" y="5942142"/>
            <a:ext cx="9971362" cy="300730"/>
          </a:xfrm>
          <a:prstGeom prst="rect">
            <a:avLst/>
          </a:prstGeom>
          <a:solidFill>
            <a:srgbClr val="D8D3E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" normalizeH="0" baseline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Proxima Nova Semibold" panose="02000506030000020004" pitchFamily="2" charset="0"/>
                <a:ea typeface="맑은 고딕" panose="020B0503020000020004" pitchFamily="34" charset="-127"/>
                <a:cs typeface="Arial" pitchFamily="34" charset="0"/>
                <a:sym typeface="Helvetica Neue"/>
              </a:rPr>
              <a:t>Standard Solutions (Technology and Industry)</a:t>
            </a:r>
            <a:endParaRPr kumimoji="0" lang="en-US" sz="900" b="1" i="0" u="none" strike="noStrike" kern="0" cap="none" spc="0" normalizeH="0" baseline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Proxima Nova Semibold" panose="02000506030000020004" pitchFamily="2" charset="0"/>
              <a:sym typeface="Helvetica Neue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3101D61-32F7-8136-D361-A047C5B6A223}"/>
              </a:ext>
            </a:extLst>
          </p:cNvPr>
          <p:cNvSpPr>
            <a:spLocks/>
          </p:cNvSpPr>
          <p:nvPr/>
        </p:nvSpPr>
        <p:spPr>
          <a:xfrm>
            <a:off x="1032603" y="6327671"/>
            <a:ext cx="9971362" cy="363762"/>
          </a:xfrm>
          <a:prstGeom prst="rect">
            <a:avLst/>
          </a:prstGeom>
          <a:solidFill>
            <a:srgbClr val="9D92B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Semibold" panose="02000506030000020004" pitchFamily="2" charset="0"/>
                <a:ea typeface="맑은 고딕" panose="020B0503020000020004" pitchFamily="34" charset="-127"/>
                <a:cs typeface="Arial" pitchFamily="34" charset="0"/>
                <a:sym typeface="Helvetica Neue"/>
              </a:rPr>
              <a:t>Academy</a:t>
            </a:r>
            <a:endParaRPr kumimoji="0" lang="en-US" sz="900" b="1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oxima Nova Semibold" panose="02000506030000020004" pitchFamily="2" charset="0"/>
              <a:sym typeface="Helvetica Neue"/>
            </a:endParaRPr>
          </a:p>
        </p:txBody>
      </p:sp>
      <p:cxnSp>
        <p:nvCxnSpPr>
          <p:cNvPr id="139" name="Rechte verbindingslijn 378">
            <a:extLst>
              <a:ext uri="{FF2B5EF4-FFF2-40B4-BE49-F238E27FC236}">
                <a16:creationId xmlns:a16="http://schemas.microsoft.com/office/drawing/2014/main" id="{1E913A60-58E0-E010-71A8-00C91218FF99}"/>
              </a:ext>
            </a:extLst>
          </p:cNvPr>
          <p:cNvCxnSpPr>
            <a:cxnSpLocks/>
          </p:cNvCxnSpPr>
          <p:nvPr/>
        </p:nvCxnSpPr>
        <p:spPr>
          <a:xfrm flipV="1">
            <a:off x="5145312" y="2150807"/>
            <a:ext cx="0" cy="2319036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0" name="Rechte verbindingslijn 380">
            <a:extLst>
              <a:ext uri="{FF2B5EF4-FFF2-40B4-BE49-F238E27FC236}">
                <a16:creationId xmlns:a16="http://schemas.microsoft.com/office/drawing/2014/main" id="{64572FCF-F6B8-C19F-08BE-D6484A97C234}"/>
              </a:ext>
            </a:extLst>
          </p:cNvPr>
          <p:cNvCxnSpPr>
            <a:cxnSpLocks/>
          </p:cNvCxnSpPr>
          <p:nvPr/>
        </p:nvCxnSpPr>
        <p:spPr>
          <a:xfrm flipV="1">
            <a:off x="8621535" y="2150806"/>
            <a:ext cx="0" cy="2261933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1" name="Rechte verbindingslijn 381">
            <a:extLst>
              <a:ext uri="{FF2B5EF4-FFF2-40B4-BE49-F238E27FC236}">
                <a16:creationId xmlns:a16="http://schemas.microsoft.com/office/drawing/2014/main" id="{18737C5C-EF73-EA26-B4CA-BFCE56A2C0EB}"/>
              </a:ext>
            </a:extLst>
          </p:cNvPr>
          <p:cNvCxnSpPr>
            <a:cxnSpLocks/>
          </p:cNvCxnSpPr>
          <p:nvPr/>
        </p:nvCxnSpPr>
        <p:spPr>
          <a:xfrm flipV="1">
            <a:off x="10317150" y="2152380"/>
            <a:ext cx="0" cy="2296644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Rechte verbindingslijn 506">
            <a:extLst>
              <a:ext uri="{FF2B5EF4-FFF2-40B4-BE49-F238E27FC236}">
                <a16:creationId xmlns:a16="http://schemas.microsoft.com/office/drawing/2014/main" id="{0D97E302-9532-FF63-9938-9F142F712600}"/>
              </a:ext>
            </a:extLst>
          </p:cNvPr>
          <p:cNvCxnSpPr>
            <a:cxnSpLocks/>
          </p:cNvCxnSpPr>
          <p:nvPr/>
        </p:nvCxnSpPr>
        <p:spPr>
          <a:xfrm flipV="1">
            <a:off x="1739970" y="2145937"/>
            <a:ext cx="8583384" cy="6444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Rechte verbindingslijn 377">
            <a:extLst>
              <a:ext uri="{FF2B5EF4-FFF2-40B4-BE49-F238E27FC236}">
                <a16:creationId xmlns:a16="http://schemas.microsoft.com/office/drawing/2014/main" id="{90C466F6-D5AD-5252-4B28-C858F3383549}"/>
              </a:ext>
            </a:extLst>
          </p:cNvPr>
          <p:cNvCxnSpPr>
            <a:cxnSpLocks/>
          </p:cNvCxnSpPr>
          <p:nvPr/>
        </p:nvCxnSpPr>
        <p:spPr>
          <a:xfrm flipV="1">
            <a:off x="1730106" y="2142525"/>
            <a:ext cx="9864" cy="2186409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5" name="Rechte verbindingslijn 378">
            <a:extLst>
              <a:ext uri="{FF2B5EF4-FFF2-40B4-BE49-F238E27FC236}">
                <a16:creationId xmlns:a16="http://schemas.microsoft.com/office/drawing/2014/main" id="{908E1747-5D91-2E17-670B-82A9FF8BB2C3}"/>
              </a:ext>
            </a:extLst>
          </p:cNvPr>
          <p:cNvCxnSpPr>
            <a:cxnSpLocks/>
          </p:cNvCxnSpPr>
          <p:nvPr/>
        </p:nvCxnSpPr>
        <p:spPr>
          <a:xfrm flipV="1">
            <a:off x="3449015" y="2157496"/>
            <a:ext cx="0" cy="2319036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Rechte verbindingslijn 380">
            <a:extLst>
              <a:ext uri="{FF2B5EF4-FFF2-40B4-BE49-F238E27FC236}">
                <a16:creationId xmlns:a16="http://schemas.microsoft.com/office/drawing/2014/main" id="{E9985FD5-82A3-566D-11EE-B930178173F1}"/>
              </a:ext>
            </a:extLst>
          </p:cNvPr>
          <p:cNvCxnSpPr>
            <a:cxnSpLocks/>
          </p:cNvCxnSpPr>
          <p:nvPr/>
        </p:nvCxnSpPr>
        <p:spPr>
          <a:xfrm flipV="1">
            <a:off x="6889112" y="2145939"/>
            <a:ext cx="0" cy="2261933"/>
          </a:xfrm>
          <a:prstGeom prst="line">
            <a:avLst/>
          </a:prstGeom>
          <a:noFill/>
          <a:ln w="19050" cap="flat">
            <a:solidFill>
              <a:schemeClr val="bg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67" name="Groep 448">
            <a:extLst>
              <a:ext uri="{FF2B5EF4-FFF2-40B4-BE49-F238E27FC236}">
                <a16:creationId xmlns:a16="http://schemas.microsoft.com/office/drawing/2014/main" id="{197D822D-0BE0-5431-8E5B-9FE376FBA205}"/>
              </a:ext>
            </a:extLst>
          </p:cNvPr>
          <p:cNvGrpSpPr/>
          <p:nvPr/>
        </p:nvGrpSpPr>
        <p:grpSpPr>
          <a:xfrm>
            <a:off x="1046543" y="2334091"/>
            <a:ext cx="1347950" cy="414005"/>
            <a:chOff x="410333" y="5261826"/>
            <a:chExt cx="2695899" cy="828009"/>
          </a:xfrm>
        </p:grpSpPr>
        <p:pic>
          <p:nvPicPr>
            <p:cNvPr id="168" name="Graphic 167">
              <a:extLst>
                <a:ext uri="{FF2B5EF4-FFF2-40B4-BE49-F238E27FC236}">
                  <a16:creationId xmlns:a16="http://schemas.microsoft.com/office/drawing/2014/main" id="{B01809F7-27C7-5928-6C7E-9BB930FC6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0333" y="5261826"/>
              <a:ext cx="2695899" cy="828009"/>
            </a:xfrm>
            <a:prstGeom prst="rect">
              <a:avLst/>
            </a:prstGeom>
          </p:spPr>
        </p:pic>
        <p:sp>
          <p:nvSpPr>
            <p:cNvPr id="169" name="Tekstvak 450">
              <a:extLst>
                <a:ext uri="{FF2B5EF4-FFF2-40B4-BE49-F238E27FC236}">
                  <a16:creationId xmlns:a16="http://schemas.microsoft.com/office/drawing/2014/main" id="{1519D181-11B1-56B4-5132-83B2705245B8}"/>
                </a:ext>
              </a:extLst>
            </p:cNvPr>
            <p:cNvSpPr txBox="1"/>
            <p:nvPr/>
          </p:nvSpPr>
          <p:spPr>
            <a:xfrm>
              <a:off x="410333" y="5502332"/>
              <a:ext cx="2682705" cy="379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t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>
                  <a:ln>
                    <a:noFill/>
                  </a:ln>
                  <a:solidFill>
                    <a:srgbClr val="760F63"/>
                  </a:solidFill>
                  <a:effectLst/>
                  <a:uLnTx/>
                  <a:uFillTx/>
                  <a:latin typeface="Proxima Nova Semibold" panose="02000506030000020004" pitchFamily="2" charset="0"/>
                  <a:sym typeface="Helvetica Neue"/>
                </a:rPr>
                <a:t>Transformation</a:t>
              </a:r>
            </a:p>
          </p:txBody>
        </p:sp>
      </p:grpSp>
      <p:grpSp>
        <p:nvGrpSpPr>
          <p:cNvPr id="170" name="Groep 487">
            <a:extLst>
              <a:ext uri="{FF2B5EF4-FFF2-40B4-BE49-F238E27FC236}">
                <a16:creationId xmlns:a16="http://schemas.microsoft.com/office/drawing/2014/main" id="{C40467FD-9EB3-3791-64A4-6BE7DD48AF3A}"/>
              </a:ext>
            </a:extLst>
          </p:cNvPr>
          <p:cNvGrpSpPr/>
          <p:nvPr/>
        </p:nvGrpSpPr>
        <p:grpSpPr>
          <a:xfrm>
            <a:off x="2778255" y="2334091"/>
            <a:ext cx="1347950" cy="414005"/>
            <a:chOff x="410333" y="5261826"/>
            <a:chExt cx="2695899" cy="828009"/>
          </a:xfrm>
        </p:grpSpPr>
        <p:pic>
          <p:nvPicPr>
            <p:cNvPr id="171" name="Graphic 170">
              <a:extLst>
                <a:ext uri="{FF2B5EF4-FFF2-40B4-BE49-F238E27FC236}">
                  <a16:creationId xmlns:a16="http://schemas.microsoft.com/office/drawing/2014/main" id="{393EB7D2-E910-AD68-F5A5-A6D11F28D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0333" y="5261826"/>
              <a:ext cx="2695899" cy="828009"/>
            </a:xfrm>
            <a:prstGeom prst="rect">
              <a:avLst/>
            </a:prstGeom>
          </p:spPr>
        </p:pic>
        <p:sp>
          <p:nvSpPr>
            <p:cNvPr id="172" name="Tekstvak 489">
              <a:extLst>
                <a:ext uri="{FF2B5EF4-FFF2-40B4-BE49-F238E27FC236}">
                  <a16:creationId xmlns:a16="http://schemas.microsoft.com/office/drawing/2014/main" id="{7C7E9938-6A0A-9574-FD7F-357C11E83CB1}"/>
                </a:ext>
              </a:extLst>
            </p:cNvPr>
            <p:cNvSpPr txBox="1"/>
            <p:nvPr/>
          </p:nvSpPr>
          <p:spPr>
            <a:xfrm>
              <a:off x="410333" y="5502332"/>
              <a:ext cx="2682705" cy="379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t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>
                  <a:ln>
                    <a:noFill/>
                  </a:ln>
                  <a:solidFill>
                    <a:srgbClr val="760F63"/>
                  </a:solidFill>
                  <a:effectLst/>
                  <a:uLnTx/>
                  <a:uFillTx/>
                  <a:latin typeface="Proxima Nova Semibold" panose="02000506030000020004" pitchFamily="2" charset="0"/>
                  <a:sym typeface="Helvetica Neue"/>
                </a:rPr>
                <a:t>Data</a:t>
              </a:r>
            </a:p>
          </p:txBody>
        </p:sp>
      </p:grpSp>
      <p:grpSp>
        <p:nvGrpSpPr>
          <p:cNvPr id="173" name="Groep 490">
            <a:extLst>
              <a:ext uri="{FF2B5EF4-FFF2-40B4-BE49-F238E27FC236}">
                <a16:creationId xmlns:a16="http://schemas.microsoft.com/office/drawing/2014/main" id="{E0146AE0-3DAA-ED41-67AD-304C46036309}"/>
              </a:ext>
            </a:extLst>
          </p:cNvPr>
          <p:cNvGrpSpPr/>
          <p:nvPr/>
        </p:nvGrpSpPr>
        <p:grpSpPr>
          <a:xfrm>
            <a:off x="4474576" y="2334091"/>
            <a:ext cx="1347950" cy="414005"/>
            <a:chOff x="410333" y="5261826"/>
            <a:chExt cx="2695899" cy="828009"/>
          </a:xfrm>
        </p:grpSpPr>
        <p:pic>
          <p:nvPicPr>
            <p:cNvPr id="174" name="Graphic 173">
              <a:extLst>
                <a:ext uri="{FF2B5EF4-FFF2-40B4-BE49-F238E27FC236}">
                  <a16:creationId xmlns:a16="http://schemas.microsoft.com/office/drawing/2014/main" id="{667BDC4A-9F95-FD9A-BD01-ED9D4F34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0333" y="5261826"/>
              <a:ext cx="2695899" cy="828009"/>
            </a:xfrm>
            <a:prstGeom prst="rect">
              <a:avLst/>
            </a:prstGeom>
          </p:spPr>
        </p:pic>
        <p:sp>
          <p:nvSpPr>
            <p:cNvPr id="175" name="Tekstvak 492">
              <a:extLst>
                <a:ext uri="{FF2B5EF4-FFF2-40B4-BE49-F238E27FC236}">
                  <a16:creationId xmlns:a16="http://schemas.microsoft.com/office/drawing/2014/main" id="{3AFD2AE2-65D3-9728-F76A-EBD0A31F7542}"/>
                </a:ext>
              </a:extLst>
            </p:cNvPr>
            <p:cNvSpPr txBox="1"/>
            <p:nvPr/>
          </p:nvSpPr>
          <p:spPr>
            <a:xfrm>
              <a:off x="410333" y="5502332"/>
              <a:ext cx="2682705" cy="379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t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>
                  <a:ln>
                    <a:noFill/>
                  </a:ln>
                  <a:solidFill>
                    <a:srgbClr val="760F63"/>
                  </a:solidFill>
                  <a:effectLst/>
                  <a:uLnTx/>
                  <a:uFillTx/>
                  <a:latin typeface="Proxima Nova Semibold" panose="02000506030000020004" pitchFamily="2" charset="0"/>
                  <a:sym typeface="Helvetica Neue"/>
                </a:rPr>
                <a:t>Cloud</a:t>
              </a:r>
            </a:p>
          </p:txBody>
        </p:sp>
      </p:grpSp>
      <p:grpSp>
        <p:nvGrpSpPr>
          <p:cNvPr id="176" name="Groep 493">
            <a:extLst>
              <a:ext uri="{FF2B5EF4-FFF2-40B4-BE49-F238E27FC236}">
                <a16:creationId xmlns:a16="http://schemas.microsoft.com/office/drawing/2014/main" id="{2B6C801F-EBC2-708A-2129-719D788D0D2C}"/>
              </a:ext>
            </a:extLst>
          </p:cNvPr>
          <p:cNvGrpSpPr/>
          <p:nvPr/>
        </p:nvGrpSpPr>
        <p:grpSpPr>
          <a:xfrm>
            <a:off x="6206718" y="2310578"/>
            <a:ext cx="1353378" cy="414005"/>
            <a:chOff x="410333" y="5261826"/>
            <a:chExt cx="2706755" cy="828009"/>
          </a:xfrm>
        </p:grpSpPr>
        <p:pic>
          <p:nvPicPr>
            <p:cNvPr id="177" name="Graphic 176">
              <a:extLst>
                <a:ext uri="{FF2B5EF4-FFF2-40B4-BE49-F238E27FC236}">
                  <a16:creationId xmlns:a16="http://schemas.microsoft.com/office/drawing/2014/main" id="{6335C432-079E-D213-87E3-E77F249C6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0333" y="5261826"/>
              <a:ext cx="2695899" cy="828009"/>
            </a:xfrm>
            <a:prstGeom prst="rect">
              <a:avLst/>
            </a:prstGeom>
          </p:spPr>
        </p:pic>
        <p:sp>
          <p:nvSpPr>
            <p:cNvPr id="178" name="Tekstvak 495">
              <a:extLst>
                <a:ext uri="{FF2B5EF4-FFF2-40B4-BE49-F238E27FC236}">
                  <a16:creationId xmlns:a16="http://schemas.microsoft.com/office/drawing/2014/main" id="{F7C99C86-5649-C63C-67B5-EAD82A486138}"/>
                </a:ext>
              </a:extLst>
            </p:cNvPr>
            <p:cNvSpPr txBox="1"/>
            <p:nvPr/>
          </p:nvSpPr>
          <p:spPr>
            <a:xfrm>
              <a:off x="434383" y="5560690"/>
              <a:ext cx="2682705" cy="379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t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>
                  <a:ln>
                    <a:noFill/>
                  </a:ln>
                  <a:solidFill>
                    <a:srgbClr val="760F63"/>
                  </a:solidFill>
                  <a:effectLst/>
                  <a:uLnTx/>
                  <a:uFillTx/>
                  <a:latin typeface="Proxima Nova Semibold" panose="02000506030000020004" pitchFamily="2" charset="0"/>
                  <a:sym typeface="Helvetica Neue"/>
                </a:rPr>
                <a:t>Software Technology</a:t>
              </a:r>
            </a:p>
          </p:txBody>
        </p:sp>
      </p:grpSp>
      <p:grpSp>
        <p:nvGrpSpPr>
          <p:cNvPr id="179" name="Groep 496">
            <a:extLst>
              <a:ext uri="{FF2B5EF4-FFF2-40B4-BE49-F238E27FC236}">
                <a16:creationId xmlns:a16="http://schemas.microsoft.com/office/drawing/2014/main" id="{245861EE-095F-273E-6B84-AE222A3F1648}"/>
              </a:ext>
            </a:extLst>
          </p:cNvPr>
          <p:cNvGrpSpPr/>
          <p:nvPr/>
        </p:nvGrpSpPr>
        <p:grpSpPr>
          <a:xfrm>
            <a:off x="7927176" y="2305863"/>
            <a:ext cx="1347950" cy="414005"/>
            <a:chOff x="410333" y="5261826"/>
            <a:chExt cx="2695899" cy="828009"/>
          </a:xfrm>
        </p:grpSpPr>
        <p:pic>
          <p:nvPicPr>
            <p:cNvPr id="180" name="Graphic 179">
              <a:extLst>
                <a:ext uri="{FF2B5EF4-FFF2-40B4-BE49-F238E27FC236}">
                  <a16:creationId xmlns:a16="http://schemas.microsoft.com/office/drawing/2014/main" id="{D4923A0F-3114-0FD8-FEDA-D911A2C5E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0333" y="5261826"/>
              <a:ext cx="2695899" cy="828009"/>
            </a:xfrm>
            <a:prstGeom prst="rect">
              <a:avLst/>
            </a:prstGeom>
          </p:spPr>
        </p:pic>
        <p:sp>
          <p:nvSpPr>
            <p:cNvPr id="181" name="Tekstvak 498">
              <a:extLst>
                <a:ext uri="{FF2B5EF4-FFF2-40B4-BE49-F238E27FC236}">
                  <a16:creationId xmlns:a16="http://schemas.microsoft.com/office/drawing/2014/main" id="{C7F31A21-D6BD-389E-1F8B-51C39DB5FB8B}"/>
                </a:ext>
              </a:extLst>
            </p:cNvPr>
            <p:cNvSpPr txBox="1"/>
            <p:nvPr/>
          </p:nvSpPr>
          <p:spPr>
            <a:xfrm>
              <a:off x="410333" y="5502332"/>
              <a:ext cx="2682705" cy="379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t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>
                  <a:ln>
                    <a:noFill/>
                  </a:ln>
                  <a:solidFill>
                    <a:srgbClr val="760F63"/>
                  </a:solidFill>
                  <a:effectLst/>
                  <a:uLnTx/>
                  <a:uFillTx/>
                  <a:latin typeface="Proxima Nova Semibold" panose="02000506030000020004" pitchFamily="2" charset="0"/>
                  <a:sym typeface="Helvetica Neue"/>
                </a:rPr>
                <a:t>Low Code</a:t>
              </a:r>
            </a:p>
          </p:txBody>
        </p:sp>
      </p:grpSp>
      <p:grpSp>
        <p:nvGrpSpPr>
          <p:cNvPr id="182" name="Groep 499">
            <a:extLst>
              <a:ext uri="{FF2B5EF4-FFF2-40B4-BE49-F238E27FC236}">
                <a16:creationId xmlns:a16="http://schemas.microsoft.com/office/drawing/2014/main" id="{4205C106-2C65-E1B8-1688-69CD6FF55EBC}"/>
              </a:ext>
            </a:extLst>
          </p:cNvPr>
          <p:cNvGrpSpPr/>
          <p:nvPr/>
        </p:nvGrpSpPr>
        <p:grpSpPr>
          <a:xfrm>
            <a:off x="9627948" y="2305149"/>
            <a:ext cx="1347950" cy="414005"/>
            <a:chOff x="410333" y="5261826"/>
            <a:chExt cx="2695899" cy="828009"/>
          </a:xfrm>
        </p:grpSpPr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DD6D0241-BA66-D313-6570-A6CB3B4C2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0333" y="5261826"/>
              <a:ext cx="2695899" cy="828009"/>
            </a:xfrm>
            <a:prstGeom prst="rect">
              <a:avLst/>
            </a:prstGeom>
          </p:spPr>
        </p:pic>
        <p:sp>
          <p:nvSpPr>
            <p:cNvPr id="184" name="Tekstvak 501">
              <a:extLst>
                <a:ext uri="{FF2B5EF4-FFF2-40B4-BE49-F238E27FC236}">
                  <a16:creationId xmlns:a16="http://schemas.microsoft.com/office/drawing/2014/main" id="{90BBBC63-18CA-2F25-6743-12C4F0F4ADE4}"/>
                </a:ext>
              </a:extLst>
            </p:cNvPr>
            <p:cNvSpPr txBox="1"/>
            <p:nvPr/>
          </p:nvSpPr>
          <p:spPr>
            <a:xfrm>
              <a:off x="410333" y="5502332"/>
              <a:ext cx="2682705" cy="379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t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>
                  <a:ln>
                    <a:noFill/>
                  </a:ln>
                  <a:solidFill>
                    <a:srgbClr val="760F63"/>
                  </a:solidFill>
                  <a:effectLst/>
                  <a:uLnTx/>
                  <a:uFillTx/>
                  <a:latin typeface="Proxima Nova Semibold" panose="02000506030000020004" pitchFamily="2" charset="0"/>
                  <a:sym typeface="Helvetica Neue"/>
                </a:rPr>
                <a:t>Microsoft Solutions</a:t>
              </a:r>
            </a:p>
          </p:txBody>
        </p:sp>
      </p:grpSp>
      <p:sp>
        <p:nvSpPr>
          <p:cNvPr id="185" name="Graphic 13">
            <a:extLst>
              <a:ext uri="{FF2B5EF4-FFF2-40B4-BE49-F238E27FC236}">
                <a16:creationId xmlns:a16="http://schemas.microsoft.com/office/drawing/2014/main" id="{C1552251-8425-D984-DFE6-A2BE8482AB45}"/>
              </a:ext>
            </a:extLst>
          </p:cNvPr>
          <p:cNvSpPr/>
          <p:nvPr/>
        </p:nvSpPr>
        <p:spPr>
          <a:xfrm>
            <a:off x="9648895" y="2926530"/>
            <a:ext cx="1355071" cy="1903821"/>
          </a:xfrm>
          <a:custGeom>
            <a:avLst/>
            <a:gdLst>
              <a:gd name="connsiteX0" fmla="*/ 0 w 2099340"/>
              <a:gd name="connsiteY0" fmla="*/ 92774 h 3104528"/>
              <a:gd name="connsiteX1" fmla="*/ 88897 w 2099340"/>
              <a:gd name="connsiteY1" fmla="*/ 0 h 3104528"/>
              <a:gd name="connsiteX2" fmla="*/ 2010443 w 2099340"/>
              <a:gd name="connsiteY2" fmla="*/ 0 h 3104528"/>
              <a:gd name="connsiteX3" fmla="*/ 2099341 w 2099340"/>
              <a:gd name="connsiteY3" fmla="*/ 92774 h 3104528"/>
              <a:gd name="connsiteX4" fmla="*/ 2099341 w 2099340"/>
              <a:gd name="connsiteY4" fmla="*/ 3011755 h 3104528"/>
              <a:gd name="connsiteX5" fmla="*/ 2010443 w 2099340"/>
              <a:gd name="connsiteY5" fmla="*/ 3104529 h 3104528"/>
              <a:gd name="connsiteX6" fmla="*/ 88897 w 2099340"/>
              <a:gd name="connsiteY6" fmla="*/ 3104529 h 3104528"/>
              <a:gd name="connsiteX7" fmla="*/ 0 w 2099340"/>
              <a:gd name="connsiteY7" fmla="*/ 3011755 h 3104528"/>
              <a:gd name="connsiteX8" fmla="*/ 0 w 2099340"/>
              <a:gd name="connsiteY8" fmla="*/ 92774 h 310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9340" h="3104528">
                <a:moveTo>
                  <a:pt x="0" y="92774"/>
                </a:moveTo>
                <a:cubicBezTo>
                  <a:pt x="0" y="40730"/>
                  <a:pt x="41029" y="0"/>
                  <a:pt x="88897" y="0"/>
                </a:cubicBezTo>
                <a:lnTo>
                  <a:pt x="2010443" y="0"/>
                </a:lnTo>
                <a:cubicBezTo>
                  <a:pt x="2060590" y="0"/>
                  <a:pt x="2099341" y="40730"/>
                  <a:pt x="2099341" y="92774"/>
                </a:cubicBezTo>
                <a:lnTo>
                  <a:pt x="2099341" y="3011755"/>
                </a:lnTo>
                <a:cubicBezTo>
                  <a:pt x="2099341" y="3063799"/>
                  <a:pt x="2058311" y="3104529"/>
                  <a:pt x="2010443" y="3104529"/>
                </a:cubicBezTo>
                <a:lnTo>
                  <a:pt x="88897" y="3104529"/>
                </a:lnTo>
                <a:cubicBezTo>
                  <a:pt x="38750" y="3104529"/>
                  <a:pt x="0" y="3063799"/>
                  <a:pt x="0" y="3011755"/>
                </a:cubicBezTo>
                <a:lnTo>
                  <a:pt x="0" y="927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186" name="Graphic 13">
            <a:extLst>
              <a:ext uri="{FF2B5EF4-FFF2-40B4-BE49-F238E27FC236}">
                <a16:creationId xmlns:a16="http://schemas.microsoft.com/office/drawing/2014/main" id="{06C313AD-4FDE-9CEF-DEF8-6502FC75BC24}"/>
              </a:ext>
            </a:extLst>
          </p:cNvPr>
          <p:cNvSpPr/>
          <p:nvPr/>
        </p:nvSpPr>
        <p:spPr>
          <a:xfrm>
            <a:off x="7933502" y="2943752"/>
            <a:ext cx="1347026" cy="2355061"/>
          </a:xfrm>
          <a:custGeom>
            <a:avLst/>
            <a:gdLst>
              <a:gd name="connsiteX0" fmla="*/ 0 w 2099340"/>
              <a:gd name="connsiteY0" fmla="*/ 92774 h 3104528"/>
              <a:gd name="connsiteX1" fmla="*/ 88897 w 2099340"/>
              <a:gd name="connsiteY1" fmla="*/ 0 h 3104528"/>
              <a:gd name="connsiteX2" fmla="*/ 2010443 w 2099340"/>
              <a:gd name="connsiteY2" fmla="*/ 0 h 3104528"/>
              <a:gd name="connsiteX3" fmla="*/ 2099341 w 2099340"/>
              <a:gd name="connsiteY3" fmla="*/ 92774 h 3104528"/>
              <a:gd name="connsiteX4" fmla="*/ 2099341 w 2099340"/>
              <a:gd name="connsiteY4" fmla="*/ 3011755 h 3104528"/>
              <a:gd name="connsiteX5" fmla="*/ 2010443 w 2099340"/>
              <a:gd name="connsiteY5" fmla="*/ 3104529 h 3104528"/>
              <a:gd name="connsiteX6" fmla="*/ 88897 w 2099340"/>
              <a:gd name="connsiteY6" fmla="*/ 3104529 h 3104528"/>
              <a:gd name="connsiteX7" fmla="*/ 0 w 2099340"/>
              <a:gd name="connsiteY7" fmla="*/ 3011755 h 3104528"/>
              <a:gd name="connsiteX8" fmla="*/ 0 w 2099340"/>
              <a:gd name="connsiteY8" fmla="*/ 92774 h 310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9340" h="3104528">
                <a:moveTo>
                  <a:pt x="0" y="92774"/>
                </a:moveTo>
                <a:cubicBezTo>
                  <a:pt x="0" y="40730"/>
                  <a:pt x="41029" y="0"/>
                  <a:pt x="88897" y="0"/>
                </a:cubicBezTo>
                <a:lnTo>
                  <a:pt x="2010443" y="0"/>
                </a:lnTo>
                <a:cubicBezTo>
                  <a:pt x="2060590" y="0"/>
                  <a:pt x="2099341" y="40730"/>
                  <a:pt x="2099341" y="92774"/>
                </a:cubicBezTo>
                <a:lnTo>
                  <a:pt x="2099341" y="3011755"/>
                </a:lnTo>
                <a:cubicBezTo>
                  <a:pt x="2099341" y="3063799"/>
                  <a:pt x="2058311" y="3104529"/>
                  <a:pt x="2010443" y="3104529"/>
                </a:cubicBezTo>
                <a:lnTo>
                  <a:pt x="88897" y="3104529"/>
                </a:lnTo>
                <a:cubicBezTo>
                  <a:pt x="38750" y="3104529"/>
                  <a:pt x="0" y="3063799"/>
                  <a:pt x="0" y="3011755"/>
                </a:cubicBezTo>
                <a:lnTo>
                  <a:pt x="0" y="927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187" name="Graphic 13">
            <a:extLst>
              <a:ext uri="{FF2B5EF4-FFF2-40B4-BE49-F238E27FC236}">
                <a16:creationId xmlns:a16="http://schemas.microsoft.com/office/drawing/2014/main" id="{9FBC13F1-6ACF-CCAE-A95E-759CF2DAE9BE}"/>
              </a:ext>
            </a:extLst>
          </p:cNvPr>
          <p:cNvSpPr/>
          <p:nvPr/>
        </p:nvSpPr>
        <p:spPr>
          <a:xfrm>
            <a:off x="4475500" y="2943690"/>
            <a:ext cx="1347026" cy="2352051"/>
          </a:xfrm>
          <a:custGeom>
            <a:avLst/>
            <a:gdLst>
              <a:gd name="connsiteX0" fmla="*/ 0 w 2099340"/>
              <a:gd name="connsiteY0" fmla="*/ 92774 h 3104528"/>
              <a:gd name="connsiteX1" fmla="*/ 88897 w 2099340"/>
              <a:gd name="connsiteY1" fmla="*/ 0 h 3104528"/>
              <a:gd name="connsiteX2" fmla="*/ 2010443 w 2099340"/>
              <a:gd name="connsiteY2" fmla="*/ 0 h 3104528"/>
              <a:gd name="connsiteX3" fmla="*/ 2099341 w 2099340"/>
              <a:gd name="connsiteY3" fmla="*/ 92774 h 3104528"/>
              <a:gd name="connsiteX4" fmla="*/ 2099341 w 2099340"/>
              <a:gd name="connsiteY4" fmla="*/ 3011755 h 3104528"/>
              <a:gd name="connsiteX5" fmla="*/ 2010443 w 2099340"/>
              <a:gd name="connsiteY5" fmla="*/ 3104529 h 3104528"/>
              <a:gd name="connsiteX6" fmla="*/ 88897 w 2099340"/>
              <a:gd name="connsiteY6" fmla="*/ 3104529 h 3104528"/>
              <a:gd name="connsiteX7" fmla="*/ 0 w 2099340"/>
              <a:gd name="connsiteY7" fmla="*/ 3011755 h 3104528"/>
              <a:gd name="connsiteX8" fmla="*/ 0 w 2099340"/>
              <a:gd name="connsiteY8" fmla="*/ 92774 h 310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9340" h="3104528">
                <a:moveTo>
                  <a:pt x="0" y="92774"/>
                </a:moveTo>
                <a:cubicBezTo>
                  <a:pt x="0" y="40730"/>
                  <a:pt x="41029" y="0"/>
                  <a:pt x="88897" y="0"/>
                </a:cubicBezTo>
                <a:lnTo>
                  <a:pt x="2010443" y="0"/>
                </a:lnTo>
                <a:cubicBezTo>
                  <a:pt x="2060590" y="0"/>
                  <a:pt x="2099341" y="40730"/>
                  <a:pt x="2099341" y="92774"/>
                </a:cubicBezTo>
                <a:lnTo>
                  <a:pt x="2099341" y="3011755"/>
                </a:lnTo>
                <a:cubicBezTo>
                  <a:pt x="2099341" y="3063799"/>
                  <a:pt x="2058311" y="3104529"/>
                  <a:pt x="2010443" y="3104529"/>
                </a:cubicBezTo>
                <a:lnTo>
                  <a:pt x="88897" y="3104529"/>
                </a:lnTo>
                <a:cubicBezTo>
                  <a:pt x="38750" y="3104529"/>
                  <a:pt x="0" y="3063799"/>
                  <a:pt x="0" y="3011755"/>
                </a:cubicBezTo>
                <a:lnTo>
                  <a:pt x="0" y="927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grpSp>
        <p:nvGrpSpPr>
          <p:cNvPr id="188" name="Groep 414">
            <a:extLst>
              <a:ext uri="{FF2B5EF4-FFF2-40B4-BE49-F238E27FC236}">
                <a16:creationId xmlns:a16="http://schemas.microsoft.com/office/drawing/2014/main" id="{67F6079D-733F-0E58-84B6-F3AA09098D02}"/>
              </a:ext>
            </a:extLst>
          </p:cNvPr>
          <p:cNvGrpSpPr/>
          <p:nvPr/>
        </p:nvGrpSpPr>
        <p:grpSpPr>
          <a:xfrm>
            <a:off x="8029135" y="3034984"/>
            <a:ext cx="1190540" cy="378000"/>
            <a:chOff x="577000" y="6221731"/>
            <a:chExt cx="2381080" cy="756000"/>
          </a:xfrm>
        </p:grpSpPr>
        <p:pic>
          <p:nvPicPr>
            <p:cNvPr id="189" name="Graphic 188">
              <a:extLst>
                <a:ext uri="{FF2B5EF4-FFF2-40B4-BE49-F238E27FC236}">
                  <a16:creationId xmlns:a16="http://schemas.microsoft.com/office/drawing/2014/main" id="{0CA10579-A6D8-B80D-8423-234FF19A54C1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190" name="Tekstvak 416">
              <a:extLst>
                <a:ext uri="{FF2B5EF4-FFF2-40B4-BE49-F238E27FC236}">
                  <a16:creationId xmlns:a16="http://schemas.microsoft.com/office/drawing/2014/main" id="{AD5A8A0C-02B4-A555-3102-2EE6D165A39A}"/>
                </a:ext>
              </a:extLst>
            </p:cNvPr>
            <p:cNvSpPr txBox="1"/>
            <p:nvPr/>
          </p:nvSpPr>
          <p:spPr>
            <a:xfrm>
              <a:off x="582080" y="6302217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Low Code Platform Consulting</a:t>
              </a:r>
            </a:p>
          </p:txBody>
        </p:sp>
      </p:grpSp>
      <p:grpSp>
        <p:nvGrpSpPr>
          <p:cNvPr id="191" name="Groep 417">
            <a:extLst>
              <a:ext uri="{FF2B5EF4-FFF2-40B4-BE49-F238E27FC236}">
                <a16:creationId xmlns:a16="http://schemas.microsoft.com/office/drawing/2014/main" id="{90B3B33B-3CA5-A1C7-6823-644E5E6A60F3}"/>
              </a:ext>
            </a:extLst>
          </p:cNvPr>
          <p:cNvGrpSpPr/>
          <p:nvPr/>
        </p:nvGrpSpPr>
        <p:grpSpPr>
          <a:xfrm>
            <a:off x="8029135" y="3491903"/>
            <a:ext cx="1190540" cy="378000"/>
            <a:chOff x="577000" y="6221731"/>
            <a:chExt cx="2381080" cy="756000"/>
          </a:xfrm>
        </p:grpSpPr>
        <p:pic>
          <p:nvPicPr>
            <p:cNvPr id="192" name="Graphic 191">
              <a:extLst>
                <a:ext uri="{FF2B5EF4-FFF2-40B4-BE49-F238E27FC236}">
                  <a16:creationId xmlns:a16="http://schemas.microsoft.com/office/drawing/2014/main" id="{96994BE6-6B73-BFD2-0537-DC9CB4E503A8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193" name="Tekstvak 419">
              <a:extLst>
                <a:ext uri="{FF2B5EF4-FFF2-40B4-BE49-F238E27FC236}">
                  <a16:creationId xmlns:a16="http://schemas.microsoft.com/office/drawing/2014/main" id="{E5CB87DF-D1B3-3A78-B7C2-E84B3B91B087}"/>
                </a:ext>
              </a:extLst>
            </p:cNvPr>
            <p:cNvSpPr txBox="1"/>
            <p:nvPr/>
          </p:nvSpPr>
          <p:spPr>
            <a:xfrm>
              <a:off x="582080" y="6425327"/>
              <a:ext cx="2376000" cy="348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endParaRPr>
            </a:p>
          </p:txBody>
        </p:sp>
      </p:grpSp>
      <p:grpSp>
        <p:nvGrpSpPr>
          <p:cNvPr id="194" name="Groep 420">
            <a:extLst>
              <a:ext uri="{FF2B5EF4-FFF2-40B4-BE49-F238E27FC236}">
                <a16:creationId xmlns:a16="http://schemas.microsoft.com/office/drawing/2014/main" id="{8A4212A0-629A-1D8B-1A90-701095C39A3D}"/>
              </a:ext>
            </a:extLst>
          </p:cNvPr>
          <p:cNvGrpSpPr/>
          <p:nvPr/>
        </p:nvGrpSpPr>
        <p:grpSpPr>
          <a:xfrm>
            <a:off x="8029135" y="3932925"/>
            <a:ext cx="1205966" cy="378000"/>
            <a:chOff x="577000" y="6221731"/>
            <a:chExt cx="2411932" cy="756000"/>
          </a:xfrm>
        </p:grpSpPr>
        <p:pic>
          <p:nvPicPr>
            <p:cNvPr id="195" name="Graphic 194">
              <a:extLst>
                <a:ext uri="{FF2B5EF4-FFF2-40B4-BE49-F238E27FC236}">
                  <a16:creationId xmlns:a16="http://schemas.microsoft.com/office/drawing/2014/main" id="{9F27134E-EA7B-F049-BC14-9B2CB50A01CC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196" name="Tekstvak 422">
              <a:extLst>
                <a:ext uri="{FF2B5EF4-FFF2-40B4-BE49-F238E27FC236}">
                  <a16:creationId xmlns:a16="http://schemas.microsoft.com/office/drawing/2014/main" id="{AB5DF71C-34D8-82BA-EC3D-F0E1F809B71E}"/>
                </a:ext>
              </a:extLst>
            </p:cNvPr>
            <p:cNvSpPr txBox="1"/>
            <p:nvPr/>
          </p:nvSpPr>
          <p:spPr>
            <a:xfrm>
              <a:off x="612932" y="6313769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Low Code Accelerators and Solutions</a:t>
              </a:r>
            </a:p>
          </p:txBody>
        </p:sp>
      </p:grpSp>
      <p:sp>
        <p:nvSpPr>
          <p:cNvPr id="197" name="Tekstvak 423">
            <a:extLst>
              <a:ext uri="{FF2B5EF4-FFF2-40B4-BE49-F238E27FC236}">
                <a16:creationId xmlns:a16="http://schemas.microsoft.com/office/drawing/2014/main" id="{F4C7044A-3510-369B-D45B-6CA0A931CB7D}"/>
              </a:ext>
            </a:extLst>
          </p:cNvPr>
          <p:cNvSpPr txBox="1"/>
          <p:nvPr/>
        </p:nvSpPr>
        <p:spPr>
          <a:xfrm>
            <a:off x="8031675" y="3531152"/>
            <a:ext cx="1188000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Low Code Architecture and Development</a:t>
            </a:r>
          </a:p>
        </p:txBody>
      </p:sp>
      <p:grpSp>
        <p:nvGrpSpPr>
          <p:cNvPr id="198" name="Groep 433">
            <a:extLst>
              <a:ext uri="{FF2B5EF4-FFF2-40B4-BE49-F238E27FC236}">
                <a16:creationId xmlns:a16="http://schemas.microsoft.com/office/drawing/2014/main" id="{102632AA-E2EF-47C8-6C9F-C475E4CEA2E1}"/>
              </a:ext>
            </a:extLst>
          </p:cNvPr>
          <p:cNvGrpSpPr/>
          <p:nvPr/>
        </p:nvGrpSpPr>
        <p:grpSpPr>
          <a:xfrm>
            <a:off x="4545761" y="3034984"/>
            <a:ext cx="1190540" cy="378000"/>
            <a:chOff x="577000" y="6221731"/>
            <a:chExt cx="2381080" cy="756000"/>
          </a:xfrm>
        </p:grpSpPr>
        <p:pic>
          <p:nvPicPr>
            <p:cNvPr id="199" name="Graphic 198">
              <a:extLst>
                <a:ext uri="{FF2B5EF4-FFF2-40B4-BE49-F238E27FC236}">
                  <a16:creationId xmlns:a16="http://schemas.microsoft.com/office/drawing/2014/main" id="{0D21469A-8338-F0B5-A43B-9AEC98FB61FC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02" name="Tekstvak 435">
              <a:extLst>
                <a:ext uri="{FF2B5EF4-FFF2-40B4-BE49-F238E27FC236}">
                  <a16:creationId xmlns:a16="http://schemas.microsoft.com/office/drawing/2014/main" id="{9BFF27EF-2D6E-C817-E4A5-E70E74EEB979}"/>
                </a:ext>
              </a:extLst>
            </p:cNvPr>
            <p:cNvSpPr txBox="1"/>
            <p:nvPr/>
          </p:nvSpPr>
          <p:spPr>
            <a:xfrm>
              <a:off x="582080" y="6302215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Strategy</a:t>
              </a:r>
              <a:r>
                <a:rPr lang="en-US" sz="800" kern="0">
                  <a:solidFill>
                    <a:srgbClr val="5E5E5E"/>
                  </a:solidFill>
                  <a:latin typeface="Proxima Nova Medium" panose="02000506030000020004" pitchFamily="2" charset="0"/>
                  <a:sym typeface="Helvetica Neue"/>
                </a:rPr>
                <a:t> and Cloud </a:t>
              </a: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Migration</a:t>
              </a:r>
            </a:p>
          </p:txBody>
        </p:sp>
      </p:grpSp>
      <p:grpSp>
        <p:nvGrpSpPr>
          <p:cNvPr id="203" name="Groep 436">
            <a:extLst>
              <a:ext uri="{FF2B5EF4-FFF2-40B4-BE49-F238E27FC236}">
                <a16:creationId xmlns:a16="http://schemas.microsoft.com/office/drawing/2014/main" id="{11CDDABC-CE9C-8E13-86CA-58124A535C02}"/>
              </a:ext>
            </a:extLst>
          </p:cNvPr>
          <p:cNvGrpSpPr/>
          <p:nvPr/>
        </p:nvGrpSpPr>
        <p:grpSpPr>
          <a:xfrm>
            <a:off x="4545761" y="3491903"/>
            <a:ext cx="1190540" cy="378000"/>
            <a:chOff x="577000" y="6221731"/>
            <a:chExt cx="2381080" cy="756000"/>
          </a:xfrm>
        </p:grpSpPr>
        <p:pic>
          <p:nvPicPr>
            <p:cNvPr id="204" name="Graphic 203">
              <a:extLst>
                <a:ext uri="{FF2B5EF4-FFF2-40B4-BE49-F238E27FC236}">
                  <a16:creationId xmlns:a16="http://schemas.microsoft.com/office/drawing/2014/main" id="{2742775F-F16B-8487-BE60-CCD628D5FF66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17" name="Tekstvak 438">
              <a:extLst>
                <a:ext uri="{FF2B5EF4-FFF2-40B4-BE49-F238E27FC236}">
                  <a16:creationId xmlns:a16="http://schemas.microsoft.com/office/drawing/2014/main" id="{3D74529D-D069-D911-F51F-E1CC8822D42E}"/>
                </a:ext>
              </a:extLst>
            </p:cNvPr>
            <p:cNvSpPr txBox="1"/>
            <p:nvPr/>
          </p:nvSpPr>
          <p:spPr>
            <a:xfrm>
              <a:off x="582080" y="6302217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Cloud Native Infrastructures</a:t>
              </a:r>
            </a:p>
          </p:txBody>
        </p:sp>
      </p:grpSp>
      <p:grpSp>
        <p:nvGrpSpPr>
          <p:cNvPr id="218" name="Groep 439">
            <a:extLst>
              <a:ext uri="{FF2B5EF4-FFF2-40B4-BE49-F238E27FC236}">
                <a16:creationId xmlns:a16="http://schemas.microsoft.com/office/drawing/2014/main" id="{0D5F20A1-C9C6-04F2-2132-2B9ADEBA7081}"/>
              </a:ext>
            </a:extLst>
          </p:cNvPr>
          <p:cNvGrpSpPr/>
          <p:nvPr/>
        </p:nvGrpSpPr>
        <p:grpSpPr>
          <a:xfrm>
            <a:off x="9677380" y="3034984"/>
            <a:ext cx="1306800" cy="378000"/>
            <a:chOff x="471444" y="5337811"/>
            <a:chExt cx="2613600" cy="756000"/>
          </a:xfrm>
        </p:grpSpPr>
        <p:pic>
          <p:nvPicPr>
            <p:cNvPr id="219" name="Graphic 218">
              <a:extLst>
                <a:ext uri="{FF2B5EF4-FFF2-40B4-BE49-F238E27FC236}">
                  <a16:creationId xmlns:a16="http://schemas.microsoft.com/office/drawing/2014/main" id="{EE65FA6D-4F4D-3D4F-6FEE-5D95180424FA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5337811"/>
              <a:ext cx="2376000" cy="756000"/>
            </a:xfrm>
            <a:prstGeom prst="rect">
              <a:avLst/>
            </a:prstGeom>
          </p:spPr>
        </p:pic>
        <p:sp>
          <p:nvSpPr>
            <p:cNvPr id="220" name="Tekstvak 441">
              <a:extLst>
                <a:ext uri="{FF2B5EF4-FFF2-40B4-BE49-F238E27FC236}">
                  <a16:creationId xmlns:a16="http://schemas.microsoft.com/office/drawing/2014/main" id="{536676BA-98EA-6E2B-C69F-8A324B3ED1B3}"/>
                </a:ext>
              </a:extLst>
            </p:cNvPr>
            <p:cNvSpPr txBox="1"/>
            <p:nvPr/>
          </p:nvSpPr>
          <p:spPr>
            <a:xfrm>
              <a:off x="471444" y="5418477"/>
              <a:ext cx="26136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Azure Cloud Transformations</a:t>
              </a:r>
            </a:p>
          </p:txBody>
        </p:sp>
      </p:grpSp>
      <p:grpSp>
        <p:nvGrpSpPr>
          <p:cNvPr id="226" name="Groep 445">
            <a:extLst>
              <a:ext uri="{FF2B5EF4-FFF2-40B4-BE49-F238E27FC236}">
                <a16:creationId xmlns:a16="http://schemas.microsoft.com/office/drawing/2014/main" id="{736172B8-51C5-4C0D-74A6-C77413E01EDD}"/>
              </a:ext>
            </a:extLst>
          </p:cNvPr>
          <p:cNvGrpSpPr/>
          <p:nvPr/>
        </p:nvGrpSpPr>
        <p:grpSpPr>
          <a:xfrm>
            <a:off x="9730158" y="3491903"/>
            <a:ext cx="1190540" cy="378000"/>
            <a:chOff x="577000" y="5419091"/>
            <a:chExt cx="2381080" cy="756000"/>
          </a:xfrm>
        </p:grpSpPr>
        <p:pic>
          <p:nvPicPr>
            <p:cNvPr id="227" name="Graphic 226">
              <a:extLst>
                <a:ext uri="{FF2B5EF4-FFF2-40B4-BE49-F238E27FC236}">
                  <a16:creationId xmlns:a16="http://schemas.microsoft.com/office/drawing/2014/main" id="{B6725E8D-8BAA-15ED-441C-2D2575395F12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5419091"/>
              <a:ext cx="2376000" cy="756000"/>
            </a:xfrm>
            <a:prstGeom prst="rect">
              <a:avLst/>
            </a:prstGeom>
          </p:spPr>
        </p:pic>
        <p:sp>
          <p:nvSpPr>
            <p:cNvPr id="228" name="Tekstvak 447">
              <a:extLst>
                <a:ext uri="{FF2B5EF4-FFF2-40B4-BE49-F238E27FC236}">
                  <a16:creationId xmlns:a16="http://schemas.microsoft.com/office/drawing/2014/main" id="{70F88400-4C54-5867-C9DC-9A66BA5BD175}"/>
                </a:ext>
              </a:extLst>
            </p:cNvPr>
            <p:cNvSpPr txBox="1"/>
            <p:nvPr/>
          </p:nvSpPr>
          <p:spPr>
            <a:xfrm>
              <a:off x="582080" y="5519897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Cloud Native Software Development</a:t>
              </a:r>
            </a:p>
          </p:txBody>
        </p:sp>
      </p:grpSp>
      <p:grpSp>
        <p:nvGrpSpPr>
          <p:cNvPr id="229" name="Groep 457">
            <a:extLst>
              <a:ext uri="{FF2B5EF4-FFF2-40B4-BE49-F238E27FC236}">
                <a16:creationId xmlns:a16="http://schemas.microsoft.com/office/drawing/2014/main" id="{3B325F8E-988F-ED03-9711-1C5632D464B1}"/>
              </a:ext>
            </a:extLst>
          </p:cNvPr>
          <p:cNvGrpSpPr/>
          <p:nvPr/>
        </p:nvGrpSpPr>
        <p:grpSpPr>
          <a:xfrm>
            <a:off x="4554505" y="3928908"/>
            <a:ext cx="1206965" cy="378000"/>
            <a:chOff x="-2846704" y="4462362"/>
            <a:chExt cx="2413930" cy="756000"/>
          </a:xfrm>
        </p:grpSpPr>
        <p:pic>
          <p:nvPicPr>
            <p:cNvPr id="230" name="Graphic 229">
              <a:extLst>
                <a:ext uri="{FF2B5EF4-FFF2-40B4-BE49-F238E27FC236}">
                  <a16:creationId xmlns:a16="http://schemas.microsoft.com/office/drawing/2014/main" id="{BEC72FBE-BB8A-A4F0-5CB1-C7A9AA78449A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2846704" y="4462362"/>
              <a:ext cx="2376000" cy="756000"/>
            </a:xfrm>
            <a:prstGeom prst="rect">
              <a:avLst/>
            </a:prstGeom>
          </p:spPr>
        </p:pic>
        <p:sp>
          <p:nvSpPr>
            <p:cNvPr id="231" name="Tekstvak 459">
              <a:extLst>
                <a:ext uri="{FF2B5EF4-FFF2-40B4-BE49-F238E27FC236}">
                  <a16:creationId xmlns:a16="http://schemas.microsoft.com/office/drawing/2014/main" id="{764A7E03-1288-81C9-A833-4367D8F26D33}"/>
                </a:ext>
              </a:extLst>
            </p:cNvPr>
            <p:cNvSpPr txBox="1"/>
            <p:nvPr/>
          </p:nvSpPr>
          <p:spPr>
            <a:xfrm>
              <a:off x="-2808774" y="4514022"/>
              <a:ext cx="2376000" cy="668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5E5E5E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Cloud Health and</a:t>
              </a:r>
              <a:br>
                <a:rPr lang="en-US" sz="800">
                  <a:solidFill>
                    <a:srgbClr val="5E5E5E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</a:br>
              <a:r>
                <a:rPr lang="en-US" sz="800">
                  <a:solidFill>
                    <a:srgbClr val="5E5E5E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Cost Optimization</a:t>
              </a:r>
              <a:endParaRPr lang="en-US" sz="8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232" name="Graphic 13">
            <a:extLst>
              <a:ext uri="{FF2B5EF4-FFF2-40B4-BE49-F238E27FC236}">
                <a16:creationId xmlns:a16="http://schemas.microsoft.com/office/drawing/2014/main" id="{8A173377-BC49-D8B1-44A9-1490E5914A6B}"/>
              </a:ext>
            </a:extLst>
          </p:cNvPr>
          <p:cNvSpPr/>
          <p:nvPr/>
        </p:nvSpPr>
        <p:spPr>
          <a:xfrm>
            <a:off x="1059224" y="2933126"/>
            <a:ext cx="1347026" cy="1894219"/>
          </a:xfrm>
          <a:custGeom>
            <a:avLst/>
            <a:gdLst>
              <a:gd name="connsiteX0" fmla="*/ 0 w 2099340"/>
              <a:gd name="connsiteY0" fmla="*/ 92774 h 3104528"/>
              <a:gd name="connsiteX1" fmla="*/ 88897 w 2099340"/>
              <a:gd name="connsiteY1" fmla="*/ 0 h 3104528"/>
              <a:gd name="connsiteX2" fmla="*/ 2010443 w 2099340"/>
              <a:gd name="connsiteY2" fmla="*/ 0 h 3104528"/>
              <a:gd name="connsiteX3" fmla="*/ 2099341 w 2099340"/>
              <a:gd name="connsiteY3" fmla="*/ 92774 h 3104528"/>
              <a:gd name="connsiteX4" fmla="*/ 2099341 w 2099340"/>
              <a:gd name="connsiteY4" fmla="*/ 3011755 h 3104528"/>
              <a:gd name="connsiteX5" fmla="*/ 2010443 w 2099340"/>
              <a:gd name="connsiteY5" fmla="*/ 3104529 h 3104528"/>
              <a:gd name="connsiteX6" fmla="*/ 88897 w 2099340"/>
              <a:gd name="connsiteY6" fmla="*/ 3104529 h 3104528"/>
              <a:gd name="connsiteX7" fmla="*/ 0 w 2099340"/>
              <a:gd name="connsiteY7" fmla="*/ 3011755 h 3104528"/>
              <a:gd name="connsiteX8" fmla="*/ 0 w 2099340"/>
              <a:gd name="connsiteY8" fmla="*/ 92774 h 310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9340" h="3104528">
                <a:moveTo>
                  <a:pt x="0" y="92774"/>
                </a:moveTo>
                <a:cubicBezTo>
                  <a:pt x="0" y="40730"/>
                  <a:pt x="41029" y="0"/>
                  <a:pt x="88897" y="0"/>
                </a:cubicBezTo>
                <a:lnTo>
                  <a:pt x="2010443" y="0"/>
                </a:lnTo>
                <a:cubicBezTo>
                  <a:pt x="2060590" y="0"/>
                  <a:pt x="2099341" y="40730"/>
                  <a:pt x="2099341" y="92774"/>
                </a:cubicBezTo>
                <a:lnTo>
                  <a:pt x="2099341" y="3011755"/>
                </a:lnTo>
                <a:cubicBezTo>
                  <a:pt x="2099341" y="3063799"/>
                  <a:pt x="2058311" y="3104529"/>
                  <a:pt x="2010443" y="3104529"/>
                </a:cubicBezTo>
                <a:lnTo>
                  <a:pt x="88897" y="3104529"/>
                </a:lnTo>
                <a:cubicBezTo>
                  <a:pt x="38750" y="3104529"/>
                  <a:pt x="0" y="3063799"/>
                  <a:pt x="0" y="3011755"/>
                </a:cubicBezTo>
                <a:lnTo>
                  <a:pt x="0" y="927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grpSp>
        <p:nvGrpSpPr>
          <p:cNvPr id="233" name="Groep 427">
            <a:extLst>
              <a:ext uri="{FF2B5EF4-FFF2-40B4-BE49-F238E27FC236}">
                <a16:creationId xmlns:a16="http://schemas.microsoft.com/office/drawing/2014/main" id="{C1A8F678-B915-8859-E434-9E8C4AE6AE02}"/>
              </a:ext>
            </a:extLst>
          </p:cNvPr>
          <p:cNvGrpSpPr/>
          <p:nvPr/>
        </p:nvGrpSpPr>
        <p:grpSpPr>
          <a:xfrm>
            <a:off x="1129841" y="3034984"/>
            <a:ext cx="1190540" cy="378000"/>
            <a:chOff x="577000" y="6221731"/>
            <a:chExt cx="2381080" cy="756000"/>
          </a:xfrm>
        </p:grpSpPr>
        <p:pic>
          <p:nvPicPr>
            <p:cNvPr id="234" name="Graphic 233">
              <a:extLst>
                <a:ext uri="{FF2B5EF4-FFF2-40B4-BE49-F238E27FC236}">
                  <a16:creationId xmlns:a16="http://schemas.microsoft.com/office/drawing/2014/main" id="{7E5D0550-ED13-2CC5-52B8-F4D5FC975FBA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35" name="Tekstvak 429">
              <a:extLst>
                <a:ext uri="{FF2B5EF4-FFF2-40B4-BE49-F238E27FC236}">
                  <a16:creationId xmlns:a16="http://schemas.microsoft.com/office/drawing/2014/main" id="{3023DAAB-9BD9-13BC-F7EC-419F40A3B82D}"/>
                </a:ext>
              </a:extLst>
            </p:cNvPr>
            <p:cNvSpPr txBox="1"/>
            <p:nvPr/>
          </p:nvSpPr>
          <p:spPr>
            <a:xfrm>
              <a:off x="582080" y="6425327"/>
              <a:ext cx="2376000" cy="348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Program Management</a:t>
              </a:r>
            </a:p>
          </p:txBody>
        </p:sp>
      </p:grpSp>
      <p:grpSp>
        <p:nvGrpSpPr>
          <p:cNvPr id="236" name="Groep 430">
            <a:extLst>
              <a:ext uri="{FF2B5EF4-FFF2-40B4-BE49-F238E27FC236}">
                <a16:creationId xmlns:a16="http://schemas.microsoft.com/office/drawing/2014/main" id="{0F222976-B7BD-E5A2-C330-9828B0450202}"/>
              </a:ext>
            </a:extLst>
          </p:cNvPr>
          <p:cNvGrpSpPr/>
          <p:nvPr/>
        </p:nvGrpSpPr>
        <p:grpSpPr>
          <a:xfrm>
            <a:off x="1129841" y="3491903"/>
            <a:ext cx="1190540" cy="378000"/>
            <a:chOff x="577000" y="6221731"/>
            <a:chExt cx="2381080" cy="756000"/>
          </a:xfrm>
        </p:grpSpPr>
        <p:pic>
          <p:nvPicPr>
            <p:cNvPr id="237" name="Graphic 236">
              <a:extLst>
                <a:ext uri="{FF2B5EF4-FFF2-40B4-BE49-F238E27FC236}">
                  <a16:creationId xmlns:a16="http://schemas.microsoft.com/office/drawing/2014/main" id="{97714B4E-2B2B-DC17-D7C2-6DCB8AB96170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38" name="Tekstvak 432">
              <a:extLst>
                <a:ext uri="{FF2B5EF4-FFF2-40B4-BE49-F238E27FC236}">
                  <a16:creationId xmlns:a16="http://schemas.microsoft.com/office/drawing/2014/main" id="{707BCC53-ADB4-3EBD-13B2-3BB88A0F54D0}"/>
                </a:ext>
              </a:extLst>
            </p:cNvPr>
            <p:cNvSpPr txBox="1"/>
            <p:nvPr/>
          </p:nvSpPr>
          <p:spPr>
            <a:xfrm>
              <a:off x="582080" y="6302217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lvl="0" algn="ctr" defTabSz="1219169" hangingPunct="0"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Agile </a:t>
              </a:r>
              <a:r>
                <a:rPr lang="en-US" sz="800" kern="0">
                  <a:solidFill>
                    <a:srgbClr val="5E5E5E"/>
                  </a:solidFill>
                  <a:latin typeface="Proxima Nova Medium" panose="02000506030000020004" pitchFamily="2" charset="0"/>
                  <a:sym typeface="Helvetica Neue"/>
                </a:rPr>
                <a:t>Transformation  and Consulting </a:t>
              </a:r>
              <a:endPara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endParaRPr>
            </a:p>
          </p:txBody>
        </p:sp>
      </p:grpSp>
      <p:grpSp>
        <p:nvGrpSpPr>
          <p:cNvPr id="239" name="Groep 454">
            <a:extLst>
              <a:ext uri="{FF2B5EF4-FFF2-40B4-BE49-F238E27FC236}">
                <a16:creationId xmlns:a16="http://schemas.microsoft.com/office/drawing/2014/main" id="{9EEB7FB3-DB43-5FBE-E6E0-3B029312BD56}"/>
              </a:ext>
            </a:extLst>
          </p:cNvPr>
          <p:cNvGrpSpPr/>
          <p:nvPr/>
        </p:nvGrpSpPr>
        <p:grpSpPr>
          <a:xfrm>
            <a:off x="1136106" y="3932925"/>
            <a:ext cx="1190540" cy="378000"/>
            <a:chOff x="577000" y="6221731"/>
            <a:chExt cx="2381080" cy="756000"/>
          </a:xfrm>
        </p:grpSpPr>
        <p:pic>
          <p:nvPicPr>
            <p:cNvPr id="240" name="Graphic 239">
              <a:extLst>
                <a:ext uri="{FF2B5EF4-FFF2-40B4-BE49-F238E27FC236}">
                  <a16:creationId xmlns:a16="http://schemas.microsoft.com/office/drawing/2014/main" id="{4359FB08-F87F-F36A-0C8B-11697322F783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41" name="Tekstvak 456">
              <a:extLst>
                <a:ext uri="{FF2B5EF4-FFF2-40B4-BE49-F238E27FC236}">
                  <a16:creationId xmlns:a16="http://schemas.microsoft.com/office/drawing/2014/main" id="{5627192E-2C1D-F344-7991-E94F6633FF8E}"/>
                </a:ext>
              </a:extLst>
            </p:cNvPr>
            <p:cNvSpPr txBox="1"/>
            <p:nvPr/>
          </p:nvSpPr>
          <p:spPr>
            <a:xfrm>
              <a:off x="582080" y="6302217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Product Management, Architecture and Design</a:t>
              </a:r>
            </a:p>
          </p:txBody>
        </p:sp>
      </p:grpSp>
      <p:sp>
        <p:nvSpPr>
          <p:cNvPr id="242" name="Graphic 13">
            <a:extLst>
              <a:ext uri="{FF2B5EF4-FFF2-40B4-BE49-F238E27FC236}">
                <a16:creationId xmlns:a16="http://schemas.microsoft.com/office/drawing/2014/main" id="{CDCD15B4-2A41-AEC3-D386-97CCB8DC97D3}"/>
              </a:ext>
            </a:extLst>
          </p:cNvPr>
          <p:cNvSpPr/>
          <p:nvPr/>
        </p:nvSpPr>
        <p:spPr>
          <a:xfrm>
            <a:off x="2789486" y="2943690"/>
            <a:ext cx="1347026" cy="2361412"/>
          </a:xfrm>
          <a:custGeom>
            <a:avLst/>
            <a:gdLst>
              <a:gd name="connsiteX0" fmla="*/ 0 w 2099340"/>
              <a:gd name="connsiteY0" fmla="*/ 92774 h 3104528"/>
              <a:gd name="connsiteX1" fmla="*/ 88897 w 2099340"/>
              <a:gd name="connsiteY1" fmla="*/ 0 h 3104528"/>
              <a:gd name="connsiteX2" fmla="*/ 2010443 w 2099340"/>
              <a:gd name="connsiteY2" fmla="*/ 0 h 3104528"/>
              <a:gd name="connsiteX3" fmla="*/ 2099341 w 2099340"/>
              <a:gd name="connsiteY3" fmla="*/ 92774 h 3104528"/>
              <a:gd name="connsiteX4" fmla="*/ 2099341 w 2099340"/>
              <a:gd name="connsiteY4" fmla="*/ 3011755 h 3104528"/>
              <a:gd name="connsiteX5" fmla="*/ 2010443 w 2099340"/>
              <a:gd name="connsiteY5" fmla="*/ 3104529 h 3104528"/>
              <a:gd name="connsiteX6" fmla="*/ 88897 w 2099340"/>
              <a:gd name="connsiteY6" fmla="*/ 3104529 h 3104528"/>
              <a:gd name="connsiteX7" fmla="*/ 0 w 2099340"/>
              <a:gd name="connsiteY7" fmla="*/ 3011755 h 3104528"/>
              <a:gd name="connsiteX8" fmla="*/ 0 w 2099340"/>
              <a:gd name="connsiteY8" fmla="*/ 92774 h 310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9340" h="3104528">
                <a:moveTo>
                  <a:pt x="0" y="92774"/>
                </a:moveTo>
                <a:cubicBezTo>
                  <a:pt x="0" y="40730"/>
                  <a:pt x="41029" y="0"/>
                  <a:pt x="88897" y="0"/>
                </a:cubicBezTo>
                <a:lnTo>
                  <a:pt x="2010443" y="0"/>
                </a:lnTo>
                <a:cubicBezTo>
                  <a:pt x="2060590" y="0"/>
                  <a:pt x="2099341" y="40730"/>
                  <a:pt x="2099341" y="92774"/>
                </a:cubicBezTo>
                <a:lnTo>
                  <a:pt x="2099341" y="3011755"/>
                </a:lnTo>
                <a:cubicBezTo>
                  <a:pt x="2099341" y="3063799"/>
                  <a:pt x="2058311" y="3104529"/>
                  <a:pt x="2010443" y="3104529"/>
                </a:cubicBezTo>
                <a:lnTo>
                  <a:pt x="88897" y="3104529"/>
                </a:lnTo>
                <a:cubicBezTo>
                  <a:pt x="38750" y="3104529"/>
                  <a:pt x="0" y="3063799"/>
                  <a:pt x="0" y="3011755"/>
                </a:cubicBezTo>
                <a:lnTo>
                  <a:pt x="0" y="927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pic>
        <p:nvPicPr>
          <p:cNvPr id="244" name="Graphic 243">
            <a:extLst>
              <a:ext uri="{FF2B5EF4-FFF2-40B4-BE49-F238E27FC236}">
                <a16:creationId xmlns:a16="http://schemas.microsoft.com/office/drawing/2014/main" id="{6E71D74E-B92E-F0DE-116E-FA064FADDF56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67258" y="3491903"/>
            <a:ext cx="1188000" cy="378000"/>
          </a:xfrm>
          <a:prstGeom prst="rect">
            <a:avLst/>
          </a:prstGeom>
        </p:spPr>
      </p:pic>
      <p:sp>
        <p:nvSpPr>
          <p:cNvPr id="245" name="Tekstvak 410">
            <a:extLst>
              <a:ext uri="{FF2B5EF4-FFF2-40B4-BE49-F238E27FC236}">
                <a16:creationId xmlns:a16="http://schemas.microsoft.com/office/drawing/2014/main" id="{0CF09A7F-F843-2D64-FD67-893766BE04B6}"/>
              </a:ext>
            </a:extLst>
          </p:cNvPr>
          <p:cNvSpPr txBox="1"/>
          <p:nvPr/>
        </p:nvSpPr>
        <p:spPr>
          <a:xfrm>
            <a:off x="2852687" y="3470686"/>
            <a:ext cx="1188000" cy="420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Analytics Translation </a:t>
            </a:r>
          </a:p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and</a:t>
            </a:r>
          </a:p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 Business intelligence </a:t>
            </a:r>
          </a:p>
        </p:txBody>
      </p:sp>
      <p:pic>
        <p:nvPicPr>
          <p:cNvPr id="247" name="Graphic 246">
            <a:extLst>
              <a:ext uri="{FF2B5EF4-FFF2-40B4-BE49-F238E27FC236}">
                <a16:creationId xmlns:a16="http://schemas.microsoft.com/office/drawing/2014/main" id="{61B1AC9E-5F87-D245-362A-1A6FECCBE643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67258" y="4375870"/>
            <a:ext cx="1188000" cy="378000"/>
          </a:xfrm>
          <a:prstGeom prst="rect">
            <a:avLst/>
          </a:prstGeom>
        </p:spPr>
      </p:pic>
      <p:sp>
        <p:nvSpPr>
          <p:cNvPr id="248" name="Tekstvak 413">
            <a:extLst>
              <a:ext uri="{FF2B5EF4-FFF2-40B4-BE49-F238E27FC236}">
                <a16:creationId xmlns:a16="http://schemas.microsoft.com/office/drawing/2014/main" id="{2E3F5F43-35B1-884F-1DBF-7F869B1D883E}"/>
              </a:ext>
            </a:extLst>
          </p:cNvPr>
          <p:cNvSpPr txBox="1"/>
          <p:nvPr/>
        </p:nvSpPr>
        <p:spPr>
          <a:xfrm>
            <a:off x="2872585" y="4389329"/>
            <a:ext cx="1188000" cy="37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169" hangingPunct="0"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Data engineering, platforms, and architecture</a:t>
            </a:r>
          </a:p>
        </p:txBody>
      </p:sp>
      <p:pic>
        <p:nvPicPr>
          <p:cNvPr id="250" name="Graphic 249">
            <a:extLst>
              <a:ext uri="{FF2B5EF4-FFF2-40B4-BE49-F238E27FC236}">
                <a16:creationId xmlns:a16="http://schemas.microsoft.com/office/drawing/2014/main" id="{6E73D0DF-2FA3-E8A6-46EE-C6A42D7DBFF3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76002" y="3034984"/>
            <a:ext cx="1188000" cy="378000"/>
          </a:xfrm>
          <a:prstGeom prst="rect">
            <a:avLst/>
          </a:prstGeom>
        </p:spPr>
      </p:pic>
      <p:sp>
        <p:nvSpPr>
          <p:cNvPr id="251" name="Tekstvak 426">
            <a:extLst>
              <a:ext uri="{FF2B5EF4-FFF2-40B4-BE49-F238E27FC236}">
                <a16:creationId xmlns:a16="http://schemas.microsoft.com/office/drawing/2014/main" id="{62392369-DD4C-646C-C873-A4DBB6A1E3C1}"/>
              </a:ext>
            </a:extLst>
          </p:cNvPr>
          <p:cNvSpPr txBox="1"/>
          <p:nvPr/>
        </p:nvSpPr>
        <p:spPr>
          <a:xfrm>
            <a:off x="2876002" y="3091419"/>
            <a:ext cx="1152807" cy="2978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Strategy</a:t>
            </a:r>
            <a:r>
              <a:rPr lang="en-US" sz="800" kern="0">
                <a:solidFill>
                  <a:srgbClr val="5E5E5E"/>
                </a:solidFill>
                <a:latin typeface="Proxima Nova Medium" panose="02000506030000020004" pitchFamily="2" charset="0"/>
                <a:sym typeface="Helvetica Neue"/>
              </a:rPr>
              <a:t> </a:t>
            </a: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and Data Transformation</a:t>
            </a:r>
          </a:p>
        </p:txBody>
      </p:sp>
      <p:sp>
        <p:nvSpPr>
          <p:cNvPr id="252" name="Graphic 13">
            <a:extLst>
              <a:ext uri="{FF2B5EF4-FFF2-40B4-BE49-F238E27FC236}">
                <a16:creationId xmlns:a16="http://schemas.microsoft.com/office/drawing/2014/main" id="{4F94C196-7AFA-31F2-A8D0-804CED0CAF20}"/>
              </a:ext>
            </a:extLst>
          </p:cNvPr>
          <p:cNvSpPr/>
          <p:nvPr/>
        </p:nvSpPr>
        <p:spPr>
          <a:xfrm>
            <a:off x="6201079" y="2946764"/>
            <a:ext cx="1347026" cy="2352050"/>
          </a:xfrm>
          <a:custGeom>
            <a:avLst/>
            <a:gdLst>
              <a:gd name="connsiteX0" fmla="*/ 0 w 2099340"/>
              <a:gd name="connsiteY0" fmla="*/ 92774 h 3104528"/>
              <a:gd name="connsiteX1" fmla="*/ 88897 w 2099340"/>
              <a:gd name="connsiteY1" fmla="*/ 0 h 3104528"/>
              <a:gd name="connsiteX2" fmla="*/ 2010443 w 2099340"/>
              <a:gd name="connsiteY2" fmla="*/ 0 h 3104528"/>
              <a:gd name="connsiteX3" fmla="*/ 2099341 w 2099340"/>
              <a:gd name="connsiteY3" fmla="*/ 92774 h 3104528"/>
              <a:gd name="connsiteX4" fmla="*/ 2099341 w 2099340"/>
              <a:gd name="connsiteY4" fmla="*/ 3011755 h 3104528"/>
              <a:gd name="connsiteX5" fmla="*/ 2010443 w 2099340"/>
              <a:gd name="connsiteY5" fmla="*/ 3104529 h 3104528"/>
              <a:gd name="connsiteX6" fmla="*/ 88897 w 2099340"/>
              <a:gd name="connsiteY6" fmla="*/ 3104529 h 3104528"/>
              <a:gd name="connsiteX7" fmla="*/ 0 w 2099340"/>
              <a:gd name="connsiteY7" fmla="*/ 3011755 h 3104528"/>
              <a:gd name="connsiteX8" fmla="*/ 0 w 2099340"/>
              <a:gd name="connsiteY8" fmla="*/ 92774 h 310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9340" h="3104528">
                <a:moveTo>
                  <a:pt x="0" y="92774"/>
                </a:moveTo>
                <a:cubicBezTo>
                  <a:pt x="0" y="40730"/>
                  <a:pt x="41029" y="0"/>
                  <a:pt x="88897" y="0"/>
                </a:cubicBezTo>
                <a:lnTo>
                  <a:pt x="2010443" y="0"/>
                </a:lnTo>
                <a:cubicBezTo>
                  <a:pt x="2060590" y="0"/>
                  <a:pt x="2099341" y="40730"/>
                  <a:pt x="2099341" y="92774"/>
                </a:cubicBezTo>
                <a:lnTo>
                  <a:pt x="2099341" y="3011755"/>
                </a:lnTo>
                <a:cubicBezTo>
                  <a:pt x="2099341" y="3063799"/>
                  <a:pt x="2058311" y="3104529"/>
                  <a:pt x="2010443" y="3104529"/>
                </a:cubicBezTo>
                <a:lnTo>
                  <a:pt x="88897" y="3104529"/>
                </a:lnTo>
                <a:cubicBezTo>
                  <a:pt x="38750" y="3104529"/>
                  <a:pt x="0" y="3063799"/>
                  <a:pt x="0" y="3011755"/>
                </a:cubicBezTo>
                <a:lnTo>
                  <a:pt x="0" y="927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grpSp>
        <p:nvGrpSpPr>
          <p:cNvPr id="253" name="Groep 414">
            <a:extLst>
              <a:ext uri="{FF2B5EF4-FFF2-40B4-BE49-F238E27FC236}">
                <a16:creationId xmlns:a16="http://schemas.microsoft.com/office/drawing/2014/main" id="{034444FE-DB5C-9B0F-2CFB-D37F478D0C15}"/>
              </a:ext>
            </a:extLst>
          </p:cNvPr>
          <p:cNvGrpSpPr/>
          <p:nvPr/>
        </p:nvGrpSpPr>
        <p:grpSpPr>
          <a:xfrm>
            <a:off x="6296712" y="3034984"/>
            <a:ext cx="1190540" cy="378000"/>
            <a:chOff x="577000" y="6221731"/>
            <a:chExt cx="2381080" cy="756000"/>
          </a:xfrm>
        </p:grpSpPr>
        <p:pic>
          <p:nvPicPr>
            <p:cNvPr id="254" name="Graphic 253">
              <a:extLst>
                <a:ext uri="{FF2B5EF4-FFF2-40B4-BE49-F238E27FC236}">
                  <a16:creationId xmlns:a16="http://schemas.microsoft.com/office/drawing/2014/main" id="{20170724-5A01-7E0E-841E-94FCC462AFFA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55" name="Tekstvak 416">
              <a:extLst>
                <a:ext uri="{FF2B5EF4-FFF2-40B4-BE49-F238E27FC236}">
                  <a16:creationId xmlns:a16="http://schemas.microsoft.com/office/drawing/2014/main" id="{AA2D9E29-A4FF-BD3C-F8D1-B744DD7AE28B}"/>
                </a:ext>
              </a:extLst>
            </p:cNvPr>
            <p:cNvSpPr txBox="1"/>
            <p:nvPr/>
          </p:nvSpPr>
          <p:spPr>
            <a:xfrm>
              <a:off x="582080" y="6302215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0">
                  <a:solidFill>
                    <a:srgbClr val="5E5E5E"/>
                  </a:solidFill>
                  <a:latin typeface="Proxima Nova Medium" panose="02000506030000020004" pitchFamily="2" charset="0"/>
                  <a:sym typeface="Helvetica Neue"/>
                </a:rPr>
                <a:t>Software Architecture and Design</a:t>
              </a:r>
              <a:endPara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endParaRPr>
            </a:p>
          </p:txBody>
        </p:sp>
      </p:grpSp>
      <p:grpSp>
        <p:nvGrpSpPr>
          <p:cNvPr id="256" name="Groep 417">
            <a:extLst>
              <a:ext uri="{FF2B5EF4-FFF2-40B4-BE49-F238E27FC236}">
                <a16:creationId xmlns:a16="http://schemas.microsoft.com/office/drawing/2014/main" id="{E2B2A8E4-40FD-9C2F-1B82-3F21C56A5F89}"/>
              </a:ext>
            </a:extLst>
          </p:cNvPr>
          <p:cNvGrpSpPr/>
          <p:nvPr/>
        </p:nvGrpSpPr>
        <p:grpSpPr>
          <a:xfrm>
            <a:off x="6296712" y="3932925"/>
            <a:ext cx="1190540" cy="378000"/>
            <a:chOff x="577000" y="6221731"/>
            <a:chExt cx="2381080" cy="756000"/>
          </a:xfrm>
        </p:grpSpPr>
        <p:pic>
          <p:nvPicPr>
            <p:cNvPr id="257" name="Graphic 256">
              <a:extLst>
                <a:ext uri="{FF2B5EF4-FFF2-40B4-BE49-F238E27FC236}">
                  <a16:creationId xmlns:a16="http://schemas.microsoft.com/office/drawing/2014/main" id="{4A59893D-52FE-DF92-1459-1C7D39A08978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58" name="Tekstvak 419">
              <a:extLst>
                <a:ext uri="{FF2B5EF4-FFF2-40B4-BE49-F238E27FC236}">
                  <a16:creationId xmlns:a16="http://schemas.microsoft.com/office/drawing/2014/main" id="{94AA4087-6088-616F-9AB1-652E356F4B0F}"/>
                </a:ext>
              </a:extLst>
            </p:cNvPr>
            <p:cNvSpPr txBox="1"/>
            <p:nvPr/>
          </p:nvSpPr>
          <p:spPr>
            <a:xfrm>
              <a:off x="582080" y="6425327"/>
              <a:ext cx="2376000" cy="348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endParaRPr>
            </a:p>
          </p:txBody>
        </p:sp>
      </p:grpSp>
      <p:grpSp>
        <p:nvGrpSpPr>
          <p:cNvPr id="259" name="Groep 420">
            <a:extLst>
              <a:ext uri="{FF2B5EF4-FFF2-40B4-BE49-F238E27FC236}">
                <a16:creationId xmlns:a16="http://schemas.microsoft.com/office/drawing/2014/main" id="{B9F2F9F0-959E-52ED-82FC-FF5426F3CCBA}"/>
              </a:ext>
            </a:extLst>
          </p:cNvPr>
          <p:cNvGrpSpPr/>
          <p:nvPr/>
        </p:nvGrpSpPr>
        <p:grpSpPr>
          <a:xfrm>
            <a:off x="6296712" y="4375870"/>
            <a:ext cx="1190540" cy="378000"/>
            <a:chOff x="577000" y="6221731"/>
            <a:chExt cx="2381080" cy="756000"/>
          </a:xfrm>
        </p:grpSpPr>
        <p:pic>
          <p:nvPicPr>
            <p:cNvPr id="260" name="Graphic 259">
              <a:extLst>
                <a:ext uri="{FF2B5EF4-FFF2-40B4-BE49-F238E27FC236}">
                  <a16:creationId xmlns:a16="http://schemas.microsoft.com/office/drawing/2014/main" id="{6B0D0659-01F4-1006-C399-7449859247ED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61" name="Tekstvak 422">
              <a:extLst>
                <a:ext uri="{FF2B5EF4-FFF2-40B4-BE49-F238E27FC236}">
                  <a16:creationId xmlns:a16="http://schemas.microsoft.com/office/drawing/2014/main" id="{A1443095-90A5-FF34-ECA9-745D0B5A6F3C}"/>
                </a:ext>
              </a:extLst>
            </p:cNvPr>
            <p:cNvSpPr txBox="1"/>
            <p:nvPr/>
          </p:nvSpPr>
          <p:spPr>
            <a:xfrm>
              <a:off x="582080" y="6302215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Quality Assurance, Testing and Security</a:t>
              </a:r>
            </a:p>
          </p:txBody>
        </p:sp>
      </p:grpSp>
      <p:sp>
        <p:nvSpPr>
          <p:cNvPr id="262" name="Tekstvak 423">
            <a:extLst>
              <a:ext uri="{FF2B5EF4-FFF2-40B4-BE49-F238E27FC236}">
                <a16:creationId xmlns:a16="http://schemas.microsoft.com/office/drawing/2014/main" id="{28F0536F-8529-4871-811E-E97D4770B5A5}"/>
              </a:ext>
            </a:extLst>
          </p:cNvPr>
          <p:cNvSpPr txBox="1"/>
          <p:nvPr/>
        </p:nvSpPr>
        <p:spPr>
          <a:xfrm>
            <a:off x="6299252" y="3962382"/>
            <a:ext cx="1188000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ISV Product Co-Design and Engineering</a:t>
            </a:r>
          </a:p>
        </p:txBody>
      </p:sp>
      <p:pic>
        <p:nvPicPr>
          <p:cNvPr id="264" name="Graphic 263">
            <a:extLst>
              <a:ext uri="{FF2B5EF4-FFF2-40B4-BE49-F238E27FC236}">
                <a16:creationId xmlns:a16="http://schemas.microsoft.com/office/drawing/2014/main" id="{C5A50410-A659-0858-A0D9-7C7488F744F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6058" y="4807673"/>
            <a:ext cx="1188000" cy="378000"/>
          </a:xfrm>
          <a:prstGeom prst="rect">
            <a:avLst/>
          </a:prstGeom>
        </p:spPr>
      </p:pic>
      <p:sp>
        <p:nvSpPr>
          <p:cNvPr id="265" name="Tekstvak 422">
            <a:extLst>
              <a:ext uri="{FF2B5EF4-FFF2-40B4-BE49-F238E27FC236}">
                <a16:creationId xmlns:a16="http://schemas.microsoft.com/office/drawing/2014/main" id="{AC7C6C72-802A-542D-CB85-9F07F624D320}"/>
              </a:ext>
            </a:extLst>
          </p:cNvPr>
          <p:cNvSpPr txBox="1"/>
          <p:nvPr/>
        </p:nvSpPr>
        <p:spPr>
          <a:xfrm>
            <a:off x="6278598" y="4932149"/>
            <a:ext cx="118800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Managed Services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688061-DAF6-C623-DC60-31F0698F12F4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64718" y="4830351"/>
            <a:ext cx="1188000" cy="378000"/>
          </a:xfrm>
          <a:prstGeom prst="rect">
            <a:avLst/>
          </a:prstGeom>
        </p:spPr>
      </p:pic>
      <p:sp>
        <p:nvSpPr>
          <p:cNvPr id="16" name="Tekstvak 422">
            <a:extLst>
              <a:ext uri="{FF2B5EF4-FFF2-40B4-BE49-F238E27FC236}">
                <a16:creationId xmlns:a16="http://schemas.microsoft.com/office/drawing/2014/main" id="{8EF1B904-50F3-7481-0BBA-24B8706ADC6E}"/>
              </a:ext>
            </a:extLst>
          </p:cNvPr>
          <p:cNvSpPr txBox="1"/>
          <p:nvPr/>
        </p:nvSpPr>
        <p:spPr>
          <a:xfrm>
            <a:off x="2867258" y="4807673"/>
            <a:ext cx="1188000" cy="420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Data Standard Components and Solutions</a:t>
            </a:r>
          </a:p>
        </p:txBody>
      </p:sp>
      <p:grpSp>
        <p:nvGrpSpPr>
          <p:cNvPr id="266" name="Groep 454">
            <a:extLst>
              <a:ext uri="{FF2B5EF4-FFF2-40B4-BE49-F238E27FC236}">
                <a16:creationId xmlns:a16="http://schemas.microsoft.com/office/drawing/2014/main" id="{1D15AEDF-1591-667D-22DD-B9BEE2CB6284}"/>
              </a:ext>
            </a:extLst>
          </p:cNvPr>
          <p:cNvGrpSpPr/>
          <p:nvPr/>
        </p:nvGrpSpPr>
        <p:grpSpPr>
          <a:xfrm>
            <a:off x="1137376" y="4375870"/>
            <a:ext cx="1190540" cy="378000"/>
            <a:chOff x="577000" y="6221731"/>
            <a:chExt cx="2381080" cy="756000"/>
          </a:xfrm>
        </p:grpSpPr>
        <p:pic>
          <p:nvPicPr>
            <p:cNvPr id="267" name="Graphic 266">
              <a:extLst>
                <a:ext uri="{FF2B5EF4-FFF2-40B4-BE49-F238E27FC236}">
                  <a16:creationId xmlns:a16="http://schemas.microsoft.com/office/drawing/2014/main" id="{B4A10E08-1345-F16B-0F01-2124EE6A9656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68" name="Tekstvak 456">
              <a:extLst>
                <a:ext uri="{FF2B5EF4-FFF2-40B4-BE49-F238E27FC236}">
                  <a16:creationId xmlns:a16="http://schemas.microsoft.com/office/drawing/2014/main" id="{0EF3F2AD-B07F-4F40-DE9E-0DFD741E5ECB}"/>
                </a:ext>
              </a:extLst>
            </p:cNvPr>
            <p:cNvSpPr txBox="1"/>
            <p:nvPr/>
          </p:nvSpPr>
          <p:spPr>
            <a:xfrm>
              <a:off x="582080" y="6425325"/>
              <a:ext cx="2376000" cy="348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DevOps and SRE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B5693F-F7D3-9B91-6C2C-230BCA12802D}"/>
              </a:ext>
            </a:extLst>
          </p:cNvPr>
          <p:cNvGrpSpPr/>
          <p:nvPr/>
        </p:nvGrpSpPr>
        <p:grpSpPr>
          <a:xfrm>
            <a:off x="2879280" y="3932925"/>
            <a:ext cx="1188000" cy="378000"/>
            <a:chOff x="2879280" y="3932925"/>
            <a:chExt cx="1188000" cy="378000"/>
          </a:xfrm>
        </p:grpSpPr>
        <p:pic>
          <p:nvPicPr>
            <p:cNvPr id="270" name="Graphic 269">
              <a:extLst>
                <a:ext uri="{FF2B5EF4-FFF2-40B4-BE49-F238E27FC236}">
                  <a16:creationId xmlns:a16="http://schemas.microsoft.com/office/drawing/2014/main" id="{8A18CC69-B6C7-7F0A-F18C-379A2EE9529F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879280" y="3932925"/>
              <a:ext cx="1188000" cy="378000"/>
            </a:xfrm>
            <a:prstGeom prst="rect">
              <a:avLst/>
            </a:prstGeom>
          </p:spPr>
        </p:pic>
        <p:sp>
          <p:nvSpPr>
            <p:cNvPr id="271" name="Tekstvak 459">
              <a:extLst>
                <a:ext uri="{FF2B5EF4-FFF2-40B4-BE49-F238E27FC236}">
                  <a16:creationId xmlns:a16="http://schemas.microsoft.com/office/drawing/2014/main" id="{50AE8EC0-3F7C-A43F-C470-61372846FADE}"/>
                </a:ext>
              </a:extLst>
            </p:cNvPr>
            <p:cNvSpPr txBox="1"/>
            <p:nvPr/>
          </p:nvSpPr>
          <p:spPr>
            <a:xfrm>
              <a:off x="2879280" y="4034722"/>
              <a:ext cx="1188000" cy="174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algn="ctr" defTabSz="1219169" hangingPunct="0"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Data Science and AI</a:t>
              </a:r>
            </a:p>
          </p:txBody>
        </p:sp>
      </p:grpSp>
      <p:pic>
        <p:nvPicPr>
          <p:cNvPr id="273" name="Graphic 272">
            <a:extLst>
              <a:ext uri="{FF2B5EF4-FFF2-40B4-BE49-F238E27FC236}">
                <a16:creationId xmlns:a16="http://schemas.microsoft.com/office/drawing/2014/main" id="{5FC79281-6911-0C34-AF05-90A617D76F01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54505" y="4375870"/>
            <a:ext cx="1188000" cy="378000"/>
          </a:xfrm>
          <a:prstGeom prst="rect">
            <a:avLst/>
          </a:prstGeom>
        </p:spPr>
      </p:pic>
      <p:grpSp>
        <p:nvGrpSpPr>
          <p:cNvPr id="275" name="Groep 436">
            <a:extLst>
              <a:ext uri="{FF2B5EF4-FFF2-40B4-BE49-F238E27FC236}">
                <a16:creationId xmlns:a16="http://schemas.microsoft.com/office/drawing/2014/main" id="{9E1CEBAC-85B3-A838-2530-5E2C92316D8C}"/>
              </a:ext>
            </a:extLst>
          </p:cNvPr>
          <p:cNvGrpSpPr/>
          <p:nvPr/>
        </p:nvGrpSpPr>
        <p:grpSpPr>
          <a:xfrm>
            <a:off x="6294172" y="3491903"/>
            <a:ext cx="1190540" cy="378000"/>
            <a:chOff x="577000" y="6221731"/>
            <a:chExt cx="2381080" cy="756000"/>
          </a:xfrm>
        </p:grpSpPr>
        <p:pic>
          <p:nvPicPr>
            <p:cNvPr id="276" name="Graphic 275">
              <a:extLst>
                <a:ext uri="{FF2B5EF4-FFF2-40B4-BE49-F238E27FC236}">
                  <a16:creationId xmlns:a16="http://schemas.microsoft.com/office/drawing/2014/main" id="{16F96861-4923-5598-18AB-481E650278B8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277" name="Tekstvak 438">
              <a:extLst>
                <a:ext uri="{FF2B5EF4-FFF2-40B4-BE49-F238E27FC236}">
                  <a16:creationId xmlns:a16="http://schemas.microsoft.com/office/drawing/2014/main" id="{70E4F2D2-6EB5-6863-5174-82A5D7D1BFBB}"/>
                </a:ext>
              </a:extLst>
            </p:cNvPr>
            <p:cNvSpPr txBox="1"/>
            <p:nvPr/>
          </p:nvSpPr>
          <p:spPr>
            <a:xfrm>
              <a:off x="582080" y="6302215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Software Development (incl. Functional)</a:t>
              </a:r>
            </a:p>
          </p:txBody>
        </p:sp>
      </p:grpSp>
      <p:grpSp>
        <p:nvGrpSpPr>
          <p:cNvPr id="278" name="Groep 445">
            <a:extLst>
              <a:ext uri="{FF2B5EF4-FFF2-40B4-BE49-F238E27FC236}">
                <a16:creationId xmlns:a16="http://schemas.microsoft.com/office/drawing/2014/main" id="{A4FB92BB-B76A-F34B-8AD1-E8ACE21557B9}"/>
              </a:ext>
            </a:extLst>
          </p:cNvPr>
          <p:cNvGrpSpPr/>
          <p:nvPr/>
        </p:nvGrpSpPr>
        <p:grpSpPr>
          <a:xfrm>
            <a:off x="9723230" y="3932925"/>
            <a:ext cx="1190540" cy="378000"/>
            <a:chOff x="577000" y="5419091"/>
            <a:chExt cx="2381080" cy="756000"/>
          </a:xfrm>
        </p:grpSpPr>
        <p:pic>
          <p:nvPicPr>
            <p:cNvPr id="279" name="Graphic 278">
              <a:extLst>
                <a:ext uri="{FF2B5EF4-FFF2-40B4-BE49-F238E27FC236}">
                  <a16:creationId xmlns:a16="http://schemas.microsoft.com/office/drawing/2014/main" id="{98C6141B-73C1-AF5E-7428-51A972780C23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5419091"/>
              <a:ext cx="2376000" cy="756000"/>
            </a:xfrm>
            <a:prstGeom prst="rect">
              <a:avLst/>
            </a:prstGeom>
          </p:spPr>
        </p:pic>
        <p:sp>
          <p:nvSpPr>
            <p:cNvPr id="280" name="Tekstvak 447">
              <a:extLst>
                <a:ext uri="{FF2B5EF4-FFF2-40B4-BE49-F238E27FC236}">
                  <a16:creationId xmlns:a16="http://schemas.microsoft.com/office/drawing/2014/main" id="{86C67DC7-6675-63BA-B866-A76CB3DA0D6E}"/>
                </a:ext>
              </a:extLst>
            </p:cNvPr>
            <p:cNvSpPr txBox="1"/>
            <p:nvPr/>
          </p:nvSpPr>
          <p:spPr>
            <a:xfrm>
              <a:off x="582080" y="5519897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 (Cloud) Application Modernization</a:t>
              </a:r>
            </a:p>
          </p:txBody>
        </p:sp>
      </p:grpSp>
      <p:grpSp>
        <p:nvGrpSpPr>
          <p:cNvPr id="281" name="Groep 445">
            <a:extLst>
              <a:ext uri="{FF2B5EF4-FFF2-40B4-BE49-F238E27FC236}">
                <a16:creationId xmlns:a16="http://schemas.microsoft.com/office/drawing/2014/main" id="{ABFCCCE4-93D8-9EF0-1AE0-F9FDE953FF7A}"/>
              </a:ext>
            </a:extLst>
          </p:cNvPr>
          <p:cNvGrpSpPr/>
          <p:nvPr/>
        </p:nvGrpSpPr>
        <p:grpSpPr>
          <a:xfrm>
            <a:off x="9733621" y="4375870"/>
            <a:ext cx="1190540" cy="378000"/>
            <a:chOff x="577000" y="5419091"/>
            <a:chExt cx="2381080" cy="756000"/>
          </a:xfrm>
        </p:grpSpPr>
        <p:pic>
          <p:nvPicPr>
            <p:cNvPr id="282" name="Graphic 281">
              <a:extLst>
                <a:ext uri="{FF2B5EF4-FFF2-40B4-BE49-F238E27FC236}">
                  <a16:creationId xmlns:a16="http://schemas.microsoft.com/office/drawing/2014/main" id="{3CBB1A1A-D89A-5046-609F-02877B0D93F5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5419091"/>
              <a:ext cx="2376000" cy="756000"/>
            </a:xfrm>
            <a:prstGeom prst="rect">
              <a:avLst/>
            </a:prstGeom>
          </p:spPr>
        </p:pic>
        <p:sp>
          <p:nvSpPr>
            <p:cNvPr id="283" name="Tekstvak 447">
              <a:extLst>
                <a:ext uri="{FF2B5EF4-FFF2-40B4-BE49-F238E27FC236}">
                  <a16:creationId xmlns:a16="http://schemas.microsoft.com/office/drawing/2014/main" id="{8AA4CC5A-825A-B12A-7BE2-43A914F596A8}"/>
                </a:ext>
              </a:extLst>
            </p:cNvPr>
            <p:cNvSpPr txBox="1"/>
            <p:nvPr/>
          </p:nvSpPr>
          <p:spPr>
            <a:xfrm>
              <a:off x="582080" y="5643007"/>
              <a:ext cx="2376000" cy="348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Managed Services</a:t>
              </a:r>
            </a:p>
          </p:txBody>
        </p:sp>
      </p:grpSp>
      <p:pic>
        <p:nvPicPr>
          <p:cNvPr id="300" name="Graphic 299">
            <a:extLst>
              <a:ext uri="{FF2B5EF4-FFF2-40B4-BE49-F238E27FC236}">
                <a16:creationId xmlns:a16="http://schemas.microsoft.com/office/drawing/2014/main" id="{C3557432-A85D-E5B0-9C64-D950406E8384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36724" y="4807673"/>
            <a:ext cx="1188000" cy="378000"/>
          </a:xfrm>
          <a:prstGeom prst="rect">
            <a:avLst/>
          </a:prstGeom>
        </p:spPr>
      </p:pic>
      <p:sp>
        <p:nvSpPr>
          <p:cNvPr id="304" name="Tekstvak 422">
            <a:extLst>
              <a:ext uri="{FF2B5EF4-FFF2-40B4-BE49-F238E27FC236}">
                <a16:creationId xmlns:a16="http://schemas.microsoft.com/office/drawing/2014/main" id="{80291CE0-4607-2CFE-891C-BC7CEC677027}"/>
              </a:ext>
            </a:extLst>
          </p:cNvPr>
          <p:cNvSpPr txBox="1"/>
          <p:nvPr/>
        </p:nvSpPr>
        <p:spPr>
          <a:xfrm>
            <a:off x="8081822" y="4942621"/>
            <a:ext cx="118800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Managed Services</a:t>
            </a:r>
          </a:p>
        </p:txBody>
      </p:sp>
      <p:pic>
        <p:nvPicPr>
          <p:cNvPr id="4" name="Google Shape;223;p18">
            <a:extLst>
              <a:ext uri="{FF2B5EF4-FFF2-40B4-BE49-F238E27FC236}">
                <a16:creationId xmlns:a16="http://schemas.microsoft.com/office/drawing/2014/main" id="{7700B8AC-6A3B-75EA-F9C8-54F1DF8B0C36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054017" y="178521"/>
            <a:ext cx="333039" cy="3330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4;p18">
            <a:extLst>
              <a:ext uri="{FF2B5EF4-FFF2-40B4-BE49-F238E27FC236}">
                <a16:creationId xmlns:a16="http://schemas.microsoft.com/office/drawing/2014/main" id="{76EA1A6A-D0C4-2810-CCE8-30EB41772F84}"/>
              </a:ext>
            </a:extLst>
          </p:cNvPr>
          <p:cNvSpPr txBox="1"/>
          <p:nvPr/>
        </p:nvSpPr>
        <p:spPr>
          <a:xfrm>
            <a:off x="8486001" y="170827"/>
            <a:ext cx="749100" cy="18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1959"/>
              </a:buClr>
              <a:buSzPts val="1600"/>
              <a:buFont typeface="Avenir"/>
              <a:buNone/>
              <a:tabLst/>
              <a:defRPr/>
            </a:pPr>
            <a:r>
              <a:rPr kumimoji="0" lang="es" sz="900" b="0" i="0" u="none" strike="noStrike" kern="1200" cap="none" spc="0" normalizeH="0" baseline="0" noProof="0">
                <a:ln>
                  <a:noFill/>
                </a:ln>
                <a:solidFill>
                  <a:srgbClr val="651959"/>
                </a:solidFill>
                <a:effectLst/>
                <a:uLnTx/>
                <a:uFillTx/>
                <a:latin typeface="Proxima Nova Semibold"/>
                <a:ea typeface="Proxima Nova Semibold"/>
                <a:cs typeface="Proxima Nova Semibold"/>
                <a:sym typeface="Proxima Nova Semibold"/>
              </a:rPr>
              <a:t>Revenue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" name="Google Shape;225;p18">
            <a:extLst>
              <a:ext uri="{FF2B5EF4-FFF2-40B4-BE49-F238E27FC236}">
                <a16:creationId xmlns:a16="http://schemas.microsoft.com/office/drawing/2014/main" id="{CF6EB77F-75E6-FA1A-694B-9577A85CA7A4}"/>
              </a:ext>
            </a:extLst>
          </p:cNvPr>
          <p:cNvSpPr txBox="1"/>
          <p:nvPr/>
        </p:nvSpPr>
        <p:spPr>
          <a:xfrm>
            <a:off x="8485798" y="316663"/>
            <a:ext cx="1343100" cy="174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200"/>
              <a:buFont typeface="Proxima Nova"/>
              <a:buNone/>
              <a:tabLst/>
              <a:defRPr/>
            </a:pPr>
            <a:r>
              <a:rPr kumimoji="0" lang="es" sz="7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FY22 </a:t>
            </a:r>
            <a:r>
              <a:rPr kumimoji="0" lang="en-NL" sz="7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Ca. €3</a:t>
            </a: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60M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</a:endParaRPr>
          </a:p>
        </p:txBody>
      </p:sp>
      <p:pic>
        <p:nvPicPr>
          <p:cNvPr id="7" name="Google Shape;226;p18">
            <a:extLst>
              <a:ext uri="{FF2B5EF4-FFF2-40B4-BE49-F238E27FC236}">
                <a16:creationId xmlns:a16="http://schemas.microsoft.com/office/drawing/2014/main" id="{B349A3C6-0D83-71E3-F028-AFF84A467688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54017" y="550809"/>
            <a:ext cx="333039" cy="33303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7;p18">
            <a:extLst>
              <a:ext uri="{FF2B5EF4-FFF2-40B4-BE49-F238E27FC236}">
                <a16:creationId xmlns:a16="http://schemas.microsoft.com/office/drawing/2014/main" id="{3A4657AA-3270-1BDF-E3A1-77B38CBBB947}"/>
              </a:ext>
            </a:extLst>
          </p:cNvPr>
          <p:cNvSpPr txBox="1"/>
          <p:nvPr/>
        </p:nvSpPr>
        <p:spPr>
          <a:xfrm>
            <a:off x="8472444" y="601329"/>
            <a:ext cx="1092300" cy="18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1959"/>
              </a:buClr>
              <a:buSzPts val="1600"/>
              <a:buFont typeface="Avenir"/>
              <a:buNone/>
              <a:tabLst/>
              <a:defRPr/>
            </a:pPr>
            <a:r>
              <a:rPr kumimoji="0" lang="es" sz="900" b="0" i="0" u="none" strike="noStrike" kern="1200" cap="none" spc="0" normalizeH="0" baseline="0" noProof="0">
                <a:ln>
                  <a:noFill/>
                </a:ln>
                <a:solidFill>
                  <a:srgbClr val="651959"/>
                </a:solidFill>
                <a:effectLst/>
                <a:uLnTx/>
                <a:uFillTx/>
                <a:latin typeface="Proxima Nova Semibold"/>
                <a:ea typeface="Proxima Nova Semibold"/>
                <a:cs typeface="Proxima Nova Semibold"/>
                <a:sym typeface="Proxima Nova Semibold"/>
              </a:rPr>
              <a:t>People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" name="Google Shape;228;p18">
            <a:extLst>
              <a:ext uri="{FF2B5EF4-FFF2-40B4-BE49-F238E27FC236}">
                <a16:creationId xmlns:a16="http://schemas.microsoft.com/office/drawing/2014/main" id="{0B0C9BDE-4BDD-2B09-3290-0D38591A5C3B}"/>
              </a:ext>
            </a:extLst>
          </p:cNvPr>
          <p:cNvSpPr txBox="1"/>
          <p:nvPr/>
        </p:nvSpPr>
        <p:spPr>
          <a:xfrm>
            <a:off x="8460832" y="753644"/>
            <a:ext cx="1255200" cy="29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200"/>
              <a:buFont typeface="Proxima Nova"/>
              <a:buNone/>
              <a:tabLst/>
              <a:defRPr/>
            </a:pPr>
            <a:r>
              <a:rPr lang="es" sz="800">
                <a:solidFill>
                  <a:srgbClr val="4D4D4D"/>
                </a:solidFill>
                <a:latin typeface="Proxima Nova"/>
                <a:ea typeface="Proxima Nova"/>
                <a:cs typeface="Proxima Nova"/>
                <a:sym typeface="Proxima Nova"/>
              </a:rPr>
              <a:t>February </a:t>
            </a: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2024  </a:t>
            </a:r>
          </a:p>
          <a:p>
            <a:pPr>
              <a:buClr>
                <a:srgbClr val="4D4D4D"/>
              </a:buClr>
              <a:buSzPts val="1200"/>
              <a:defRPr/>
            </a:pPr>
            <a:r>
              <a:rPr kumimoji="0" lang="nl-NL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a. </a:t>
            </a:r>
            <a:r>
              <a:rPr lang="es" sz="800">
                <a:solidFill>
                  <a:srgbClr val="4D4D4D"/>
                </a:solidFill>
                <a:latin typeface="Proxima Nova"/>
                <a:ea typeface="Proxima Nova"/>
                <a:cs typeface="Proxima Nova"/>
                <a:sym typeface="Proxima Nova"/>
              </a:rPr>
              <a:t>6800+</a:t>
            </a: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800">
                <a:solidFill>
                  <a:srgbClr val="4D4D4D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kumimoji="0" lang="e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Professionals</a:t>
            </a:r>
            <a:endParaRPr kumimoji="0" sz="800" b="0" i="0" u="none" strike="noStrike" kern="1200" cap="none" spc="0" normalizeH="0" baseline="0" noProof="0" err="1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</a:endParaRPr>
          </a:p>
        </p:txBody>
      </p:sp>
      <p:pic>
        <p:nvPicPr>
          <p:cNvPr id="10" name="Google Shape;229;p18">
            <a:extLst>
              <a:ext uri="{FF2B5EF4-FFF2-40B4-BE49-F238E27FC236}">
                <a16:creationId xmlns:a16="http://schemas.microsoft.com/office/drawing/2014/main" id="{77730143-16B4-0C52-12A4-BBFF56FC6B81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603900" y="178521"/>
            <a:ext cx="333039" cy="3330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30;p18">
            <a:extLst>
              <a:ext uri="{FF2B5EF4-FFF2-40B4-BE49-F238E27FC236}">
                <a16:creationId xmlns:a16="http://schemas.microsoft.com/office/drawing/2014/main" id="{1CED749E-6F3B-B7A9-3490-9B8EE8157EFA}"/>
              </a:ext>
            </a:extLst>
          </p:cNvPr>
          <p:cNvSpPr txBox="1"/>
          <p:nvPr/>
        </p:nvSpPr>
        <p:spPr>
          <a:xfrm>
            <a:off x="10035884" y="171357"/>
            <a:ext cx="1019157" cy="18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1959"/>
              </a:buClr>
              <a:buSzPts val="1600"/>
              <a:buFont typeface="Avenir"/>
              <a:buNone/>
              <a:tabLst/>
              <a:defRPr/>
            </a:pPr>
            <a:r>
              <a:rPr kumimoji="0" lang="es" sz="900" b="0" i="0" u="none" strike="noStrike" kern="1200" cap="none" spc="0" normalizeH="0" baseline="0" noProof="0">
                <a:ln>
                  <a:noFill/>
                </a:ln>
                <a:solidFill>
                  <a:srgbClr val="651959"/>
                </a:solidFill>
                <a:effectLst/>
                <a:uLnTx/>
                <a:uFillTx/>
                <a:latin typeface="Proxima Nova Semibold"/>
                <a:ea typeface="Proxima Nova Semibold"/>
                <a:cs typeface="Proxima Nova Semibold"/>
                <a:sym typeface="Proxima Nova Semibold"/>
              </a:rPr>
              <a:t>Worldwide Offices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" name="Google Shape;231;p18">
            <a:extLst>
              <a:ext uri="{FF2B5EF4-FFF2-40B4-BE49-F238E27FC236}">
                <a16:creationId xmlns:a16="http://schemas.microsoft.com/office/drawing/2014/main" id="{39F3BADE-1BE1-9A25-E027-ADD489D6C102}"/>
              </a:ext>
            </a:extLst>
          </p:cNvPr>
          <p:cNvSpPr txBox="1"/>
          <p:nvPr/>
        </p:nvSpPr>
        <p:spPr>
          <a:xfrm>
            <a:off x="10035884" y="342051"/>
            <a:ext cx="2120733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200"/>
              <a:buFontTx/>
              <a:buNone/>
              <a:tabLst/>
              <a:defRPr/>
            </a:pP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The Netherlands, Germany, UK, Belgium, Switzerland, Spain, Poland, </a:t>
            </a:r>
            <a:r>
              <a:rPr lang="es" sz="800">
                <a:solidFill>
                  <a:srgbClr val="4D4D4D"/>
                </a:solidFill>
                <a:latin typeface="Proxima Nova"/>
                <a:ea typeface="Proxima Nova"/>
                <a:cs typeface="Proxima Nova"/>
                <a:sym typeface="Proxima Nova"/>
              </a:rPr>
              <a:t>Atlanta</a:t>
            </a:r>
            <a:endParaRPr kumimoji="0" lang="es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200"/>
              <a:buFontTx/>
              <a:buNone/>
              <a:tabLst/>
              <a:defRPr/>
            </a:pP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India, Dubai, Vietnam, Singapore, Australia,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200"/>
              <a:buFontTx/>
              <a:buNone/>
              <a:tabLst/>
              <a:defRPr/>
            </a:pPr>
            <a:r>
              <a:rPr kumimoji="0" lang="e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US, Canada, Mexico, Colombia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Helvetica Neue"/>
            </a:endParaRPr>
          </a:p>
        </p:txBody>
      </p:sp>
      <p:grpSp>
        <p:nvGrpSpPr>
          <p:cNvPr id="13" name="Groep 420">
            <a:extLst>
              <a:ext uri="{FF2B5EF4-FFF2-40B4-BE49-F238E27FC236}">
                <a16:creationId xmlns:a16="http://schemas.microsoft.com/office/drawing/2014/main" id="{DDD3C46F-5000-7A8F-9CAF-063D17ADA512}"/>
              </a:ext>
            </a:extLst>
          </p:cNvPr>
          <p:cNvGrpSpPr/>
          <p:nvPr/>
        </p:nvGrpSpPr>
        <p:grpSpPr>
          <a:xfrm>
            <a:off x="7998025" y="4375870"/>
            <a:ext cx="1219110" cy="378000"/>
            <a:chOff x="514780" y="6221731"/>
            <a:chExt cx="2438220" cy="7560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7678245-0EFD-4FA6-7556-13DFCB6DAEDC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77000" y="6221731"/>
              <a:ext cx="2376000" cy="756000"/>
            </a:xfrm>
            <a:prstGeom prst="rect">
              <a:avLst/>
            </a:prstGeom>
          </p:spPr>
        </p:pic>
        <p:sp>
          <p:nvSpPr>
            <p:cNvPr id="15" name="Tekstvak 422">
              <a:extLst>
                <a:ext uri="{FF2B5EF4-FFF2-40B4-BE49-F238E27FC236}">
                  <a16:creationId xmlns:a16="http://schemas.microsoft.com/office/drawing/2014/main" id="{C93BAD9E-D854-EEED-5149-FB99389704C0}"/>
                </a:ext>
              </a:extLst>
            </p:cNvPr>
            <p:cNvSpPr txBox="1"/>
            <p:nvPr/>
          </p:nvSpPr>
          <p:spPr>
            <a:xfrm>
              <a:off x="514780" y="6248649"/>
              <a:ext cx="2376000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Appian, </a:t>
              </a:r>
              <a:r>
                <a:rPr kumimoji="0" lang="en-US" sz="800" b="0" i="0" u="none" strike="noStrike" kern="0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OutSystems</a:t>
              </a: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, Salesforce and </a:t>
              </a:r>
              <a:r>
                <a:rPr kumimoji="0" lang="en-US" sz="800" b="0" i="0" u="none" strike="noStrike" kern="0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Mendix</a:t>
              </a:r>
              <a:endPara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endParaRPr>
            </a:p>
          </p:txBody>
        </p:sp>
      </p:grpSp>
      <p:grpSp>
        <p:nvGrpSpPr>
          <p:cNvPr id="17" name="Groep 457">
            <a:extLst>
              <a:ext uri="{FF2B5EF4-FFF2-40B4-BE49-F238E27FC236}">
                <a16:creationId xmlns:a16="http://schemas.microsoft.com/office/drawing/2014/main" id="{3D29778F-E7EC-86AA-8347-DCBA9317CFA8}"/>
              </a:ext>
            </a:extLst>
          </p:cNvPr>
          <p:cNvGrpSpPr/>
          <p:nvPr/>
        </p:nvGrpSpPr>
        <p:grpSpPr>
          <a:xfrm>
            <a:off x="4545761" y="4495733"/>
            <a:ext cx="1196744" cy="689940"/>
            <a:chOff x="-2864192" y="3838482"/>
            <a:chExt cx="2393488" cy="137988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4FFF63B-79DE-388F-93D7-ABB0F1661E5C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2846704" y="4462362"/>
              <a:ext cx="2376000" cy="756000"/>
            </a:xfrm>
            <a:prstGeom prst="rect">
              <a:avLst/>
            </a:prstGeom>
          </p:spPr>
        </p:pic>
        <p:sp>
          <p:nvSpPr>
            <p:cNvPr id="19" name="Tekstvak 459">
              <a:extLst>
                <a:ext uri="{FF2B5EF4-FFF2-40B4-BE49-F238E27FC236}">
                  <a16:creationId xmlns:a16="http://schemas.microsoft.com/office/drawing/2014/main" id="{06489C87-EAF7-BBFE-7788-61801A24876D}"/>
                </a:ext>
              </a:extLst>
            </p:cNvPr>
            <p:cNvSpPr txBox="1"/>
            <p:nvPr/>
          </p:nvSpPr>
          <p:spPr>
            <a:xfrm>
              <a:off x="-2864192" y="3838482"/>
              <a:ext cx="2376000" cy="348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400" tIns="25400" rIns="25400" bIns="25400" numCol="1" spcCol="38100" rtlCol="0" anchor="ctr">
              <a:spAutoFit/>
            </a:bodyPr>
            <a:lstStyle/>
            <a:p>
              <a:pPr marL="0" marR="0" lvl="0" indent="0" algn="ctr" defTabSz="1219169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Standard </a:t>
              </a:r>
              <a:r>
                <a:rPr kumimoji="0" lang="en-NL" sz="800" b="0" i="0" u="none" strike="noStrike" kern="0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C</a:t>
              </a:r>
              <a:r>
                <a:rPr kumimoji="0" lang="en-US" sz="800" b="0" i="0" u="none" strike="noStrike" kern="0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Proxima Nova Medium" panose="02000506030000020004" pitchFamily="2" charset="0"/>
                  <a:sym typeface="Helvetica Neue"/>
                </a:rPr>
                <a:t>omponents</a:t>
              </a:r>
              <a:endPara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endParaRPr>
            </a:p>
          </p:txBody>
        </p:sp>
      </p:grpSp>
      <p:sp>
        <p:nvSpPr>
          <p:cNvPr id="22" name="Tekstvak 459">
            <a:extLst>
              <a:ext uri="{FF2B5EF4-FFF2-40B4-BE49-F238E27FC236}">
                <a16:creationId xmlns:a16="http://schemas.microsoft.com/office/drawing/2014/main" id="{4B7F12B1-0A33-0789-53D5-5EA9588B65C9}"/>
              </a:ext>
            </a:extLst>
          </p:cNvPr>
          <p:cNvSpPr txBox="1"/>
          <p:nvPr/>
        </p:nvSpPr>
        <p:spPr>
          <a:xfrm>
            <a:off x="4554505" y="4898433"/>
            <a:ext cx="1188000" cy="343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Proxima Nova Medium" panose="02000506030000020004" pitchFamily="2" charset="0"/>
                <a:sym typeface="Helvetica Neue"/>
              </a:rPr>
              <a:t>Cloud Based Workplace Solutions</a:t>
            </a:r>
          </a:p>
        </p:txBody>
      </p:sp>
    </p:spTree>
    <p:extLst>
      <p:ext uri="{BB962C8B-B14F-4D97-AF65-F5344CB8AC3E}">
        <p14:creationId xmlns:p14="http://schemas.microsoft.com/office/powerpoint/2010/main" val="2136525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Create a new document." ma:contentTypeScope="" ma:versionID="283da0b2364561ab782b410ff861744e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5f887ffba204074ad768068e39e5f9fe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97C72E-5E9C-4DA5-8F6E-089128FC9D38}">
  <ds:schemaRefs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4f234f3-9d1b-4209-bd0c-f813b0235196"/>
    <ds:schemaRef ds:uri="5db6150d-1301-43e5-a125-de9792315aa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8B94D13-984A-4A01-8B0E-F0EDADE3A1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3A8BE6-17F8-48F5-BA20-9935C7A8479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252</Words>
  <Application>Microsoft Macintosh PowerPoint</Application>
  <PresentationFormat>Widescreen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Avenir</vt:lpstr>
      <vt:lpstr>Calibri</vt:lpstr>
      <vt:lpstr>Helvetica Neue</vt:lpstr>
      <vt:lpstr>Helvetica Neue Light</vt:lpstr>
      <vt:lpstr>Helvetica Neue Medium</vt:lpstr>
      <vt:lpstr>Proxima Nova</vt:lpstr>
      <vt:lpstr>Proxima Nova Light</vt:lpstr>
      <vt:lpstr>Proxima Nova Medium</vt:lpstr>
      <vt:lpstr>Proxima Nova Rg</vt:lpstr>
      <vt:lpstr>Proxima Nova Semibold</vt:lpstr>
      <vt:lpstr>21_BasicWhite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Frédérique Verlinde</dc:creator>
  <cp:lastModifiedBy>Ruben Oostinga</cp:lastModifiedBy>
  <cp:revision>1</cp:revision>
  <dcterms:created xsi:type="dcterms:W3CDTF">2023-03-16T10:18:59Z</dcterms:created>
  <dcterms:modified xsi:type="dcterms:W3CDTF">2026-01-26T13:51:09Z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</Properties>
</file>