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14748364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39E1D2-DFB0-91A2-E8C5-27065697790F}" v="10" dt="2026-01-23T11:07:03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ereda" userId="S::george.sereda@xebia.com::5e824fc6-3a6a-482b-8597-f9374fb4b421" providerId="AD" clId="Web-{0A39E1D2-DFB0-91A2-E8C5-27065697790F}"/>
    <pc:docChg chg="addSld delSld modSld">
      <pc:chgData name="George Sereda" userId="S::george.sereda@xebia.com::5e824fc6-3a6a-482b-8597-f9374fb4b421" providerId="AD" clId="Web-{0A39E1D2-DFB0-91A2-E8C5-27065697790F}" dt="2026-01-23T11:07:03.731" v="8"/>
      <pc:docMkLst>
        <pc:docMk/>
      </pc:docMkLst>
      <pc:sldChg chg="add del">
        <pc:chgData name="George Sereda" userId="S::george.sereda@xebia.com::5e824fc6-3a6a-482b-8597-f9374fb4b421" providerId="AD" clId="Web-{0A39E1D2-DFB0-91A2-E8C5-27065697790F}" dt="2026-01-23T11:07:03.731" v="8"/>
        <pc:sldMkLst>
          <pc:docMk/>
          <pc:sldMk cId="109857222" sldId="256"/>
        </pc:sldMkLst>
      </pc:sldChg>
      <pc:sldChg chg="modSp add">
        <pc:chgData name="George Sereda" userId="S::george.sereda@xebia.com::5e824fc6-3a6a-482b-8597-f9374fb4b421" providerId="AD" clId="Web-{0A39E1D2-DFB0-91A2-E8C5-27065697790F}" dt="2026-01-23T11:07:00.121" v="6"/>
        <pc:sldMkLst>
          <pc:docMk/>
          <pc:sldMk cId="104833771" sldId="2147483647"/>
        </pc:sldMkLst>
        <pc:spChg chg="mod">
          <ac:chgData name="George Sereda" userId="S::george.sereda@xebia.com::5e824fc6-3a6a-482b-8597-f9374fb4b421" providerId="AD" clId="Web-{0A39E1D2-DFB0-91A2-E8C5-27065697790F}" dt="2026-01-23T11:07:00.121" v="6"/>
          <ac:spMkLst>
            <pc:docMk/>
            <pc:sldMk cId="104833771" sldId="2147483647"/>
            <ac:spMk id="4" creationId="{F4109E09-F9EA-2920-01E9-87AD37CFFDBE}"/>
          </ac:spMkLst>
        </pc:spChg>
      </pc:sldChg>
      <pc:sldMasterChg chg="addSldLayout">
        <pc:chgData name="George Sereda" userId="S::george.sereda@xebia.com::5e824fc6-3a6a-482b-8597-f9374fb4b421" providerId="AD" clId="Web-{0A39E1D2-DFB0-91A2-E8C5-27065697790F}" dt="2026-01-23T11:06:40.886" v="0"/>
        <pc:sldMasterMkLst>
          <pc:docMk/>
          <pc:sldMasterMk cId="2460954070" sldId="2147483660"/>
        </pc:sldMasterMkLst>
        <pc:sldLayoutChg chg="add">
          <pc:chgData name="George Sereda" userId="S::george.sereda@xebia.com::5e824fc6-3a6a-482b-8597-f9374fb4b421" providerId="AD" clId="Web-{0A39E1D2-DFB0-91A2-E8C5-27065697790F}" dt="2026-01-23T11:06:40.886" v="0"/>
          <pc:sldLayoutMkLst>
            <pc:docMk/>
            <pc:sldMasterMk cId="2460954070" sldId="2147483660"/>
            <pc:sldLayoutMk cId="1370605683" sldId="214748367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6575E-751F-425D-94AA-D696F2EA7D21}" type="datetimeFigureOut"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59D8D-F7F2-4E4D-A4D8-201E73957C2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47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31D5C-A68B-12ED-B6FE-724516F21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2094F2-242F-D25D-419E-D78E1414B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7E511B-A986-CB89-48CE-0324E5C24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681CC-56F5-A120-7907-115AB83479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8A791-D8E8-4C23-A528-EAEB42DC40E7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03171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/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2BD1E98D-C6A7-1A86-D1DC-18C70ECE6DD7}"/>
              </a:ext>
            </a:extLst>
          </p:cNvPr>
          <p:cNvSpPr>
            <a:spLocks noGrp="1"/>
          </p:cNvSpPr>
          <p:nvPr>
            <p:ph type="body" idx="106" hasCustomPrompt="1"/>
          </p:nvPr>
        </p:nvSpPr>
        <p:spPr>
          <a:xfrm>
            <a:off x="406400" y="408054"/>
            <a:ext cx="7513108" cy="232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indent="0" algn="l">
              <a:lnSpc>
                <a:spcPts val="1400"/>
              </a:lnSpc>
              <a:buNone/>
              <a:defRPr lang="en-US" sz="1000" b="0" i="0" kern="0" spc="0" dirty="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2100"/>
              </a:lnSpc>
              <a:buNone/>
            </a:pPr>
            <a:r>
              <a:rPr lang="en-US" sz="1050"/>
              <a:t>[DD/MM/YYYY] • [Speaker Name] • [Presentation Title]</a:t>
            </a:r>
          </a:p>
        </p:txBody>
      </p:sp>
      <p:pic>
        <p:nvPicPr>
          <p:cNvPr id="3" name="Xebia" descr="preencoded.png">
            <a:extLst>
              <a:ext uri="{FF2B5EF4-FFF2-40B4-BE49-F238E27FC236}">
                <a16:creationId xmlns:a16="http://schemas.microsoft.com/office/drawing/2014/main" id="{7D652B89-16D3-A81D-A924-8E3B84071E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12500" y="292100"/>
            <a:ext cx="673101" cy="215900"/>
          </a:xfrm>
          <a:prstGeom prst="rect">
            <a:avLst/>
          </a:prstGeom>
        </p:spPr>
      </p:pic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A2C4591-EAE8-5F38-8D57-8D069553CBC7}"/>
              </a:ext>
            </a:extLst>
          </p:cNvPr>
          <p:cNvCxnSpPr>
            <a:cxnSpLocks/>
          </p:cNvCxnSpPr>
          <p:nvPr userDrawn="1"/>
        </p:nvCxnSpPr>
        <p:spPr>
          <a:xfrm>
            <a:off x="407459" y="698500"/>
            <a:ext cx="113844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022DD7D2-2E6F-65F9-2D7E-EF0C1A6F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2909" y="6457865"/>
            <a:ext cx="799041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1F56866-D47B-47B9-9D95-BB9706FB23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C7CD3809-B795-A666-BD74-62300D64F0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459" y="919056"/>
            <a:ext cx="7512000" cy="3693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defRPr lang="en-US" sz="2400" dirty="0">
                <a:ea typeface="+mn-ea"/>
                <a:cs typeface="+mn-cs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</a:pPr>
            <a:r>
              <a:rPr lang="en-US" noProof="0"/>
              <a:t>Click to edit master title style</a:t>
            </a:r>
            <a:endParaRPr lang="en-US"/>
          </a:p>
        </p:txBody>
      </p:sp>
      <p:sp>
        <p:nvSpPr>
          <p:cNvPr id="10" name="Symbol zastępczy stopki 1">
            <a:extLst>
              <a:ext uri="{FF2B5EF4-FFF2-40B4-BE49-F238E27FC236}">
                <a16:creationId xmlns:a16="http://schemas.microsoft.com/office/drawing/2014/main" id="{6EFA064F-CFBB-09FE-B82B-164C527D7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1" y="6457865"/>
            <a:ext cx="3673475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GB" sz="800"/>
            </a:lvl1pPr>
          </a:lstStyle>
          <a:p>
            <a:r>
              <a:rPr lang="en-US"/>
              <a:t>Copyright © 2025 Xebia.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370605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81B86-1E86-8F66-6B24-F5850AC0E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350050-18CE-460F-023A-4248D01932D0}"/>
              </a:ext>
            </a:extLst>
          </p:cNvPr>
          <p:cNvSpPr>
            <a:spLocks noGrp="1"/>
          </p:cNvSpPr>
          <p:nvPr>
            <p:ph type="body" idx="106"/>
          </p:nvPr>
        </p:nvSpPr>
        <p:spPr/>
        <p:txBody>
          <a:bodyPr wrap="square" anchor="t">
            <a:normAutofit/>
          </a:bodyPr>
          <a:lstStyle/>
          <a:p>
            <a:r>
              <a:rPr lang="en-US" noProof="1">
                <a:solidFill>
                  <a:srgbClr val="595959"/>
                </a:solidFill>
                <a:latin typeface="Arial"/>
                <a:cs typeface="Arial"/>
              </a:rPr>
              <a:t>Xebia response to Zeppelin Power EMS RFP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657B65-9777-809B-A9E2-B333802F7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fld id="{C1F56866-D47B-47B9-9D95-BB9706FB23C1}" type="slidenum">
              <a:rPr kumimoji="0" lang="en-US" sz="800" b="0" i="0" u="none" strike="noStrike" kern="1200" cap="none" spc="0" normalizeH="0" baseline="0" noProof="1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1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BDC5F-C992-B170-6099-564E0B36B9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wrap="square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Copyright © 2025 Xebia. All rights reserved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7BF1F830-6A44-B3A4-2572-32375973F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59" y="919056"/>
            <a:ext cx="10585450" cy="443198"/>
          </a:xfrm>
        </p:spPr>
        <p:txBody>
          <a:bodyPr/>
          <a:lstStyle/>
          <a:p>
            <a:r>
              <a:rPr lang="en-US" sz="3200" b="0" kern="0" noProof="1">
                <a:solidFill>
                  <a:srgbClr val="000000"/>
                </a:solidFill>
                <a:latin typeface="+mn-lt"/>
                <a:ea typeface="Suisse Int'l Regular" pitchFamily="34" charset="-122"/>
              </a:rPr>
              <a:t>Our 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109E09-F9EA-2920-01E9-87AD37CFFDBE}"/>
              </a:ext>
            </a:extLst>
          </p:cNvPr>
          <p:cNvSpPr txBox="1"/>
          <p:nvPr/>
        </p:nvSpPr>
        <p:spPr>
          <a:xfrm>
            <a:off x="528319" y="1640628"/>
            <a:ext cx="10464589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 noProof="1">
                <a:solidFill>
                  <a:schemeClr val="accent6"/>
                </a:solidFill>
              </a:rPr>
              <a:t>Partnership &amp;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chemeClr val="accent6"/>
                </a:solidFill>
              </a:rPr>
              <a:t>We integrate fully into the ZPS organization, forming teams with internal members.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chemeClr val="accent6"/>
                </a:solidFill>
              </a:rPr>
              <a:t>No difference between internal and external team members - we work as one team.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chemeClr val="accent6"/>
                </a:solidFill>
              </a:rPr>
              <a:t>On-site presence to ensure close collaboration and knowledge sharing.</a:t>
            </a:r>
          </a:p>
          <a:p>
            <a:r>
              <a:rPr lang="en-US" sz="1400" b="1" noProof="1">
                <a:solidFill>
                  <a:schemeClr val="accent6"/>
                </a:solidFill>
              </a:rPr>
              <a:t>Discovery &amp; Planning</a:t>
            </a:r>
            <a:endParaRPr lang="en-US" sz="1400" noProof="1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chemeClr val="accent6"/>
                </a:solidFill>
              </a:rPr>
              <a:t>UX designer does product discovery and UX research with subject matter experts and end users to create wireframes.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chemeClr val="accent6"/>
                </a:solidFill>
              </a:rPr>
              <a:t>Product owner creates and manages a prioritized backlog based on the wireframes, supports stakeholder communication.</a:t>
            </a:r>
          </a:p>
          <a:p>
            <a:r>
              <a:rPr lang="en-US" sz="1400" b="1" noProof="1">
                <a:solidFill>
                  <a:schemeClr val="accent6"/>
                </a:solidFill>
              </a:rPr>
              <a:t>Development</a:t>
            </a:r>
            <a:endParaRPr lang="en-US" sz="1400" noProof="1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chemeClr val="accent6"/>
                </a:solidFill>
              </a:rPr>
              <a:t>Core team develops the backend and frontend. Tech lead facilitates architecture decisions, ensures code quality, and contributes hands-on to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chemeClr val="accent6"/>
                </a:solidFill>
              </a:rPr>
              <a:t>Data team (data engineer, data scientist, and part-time data architect) works with internal energy experts to develop the optimization algorithm. Data engineer ensures data availability for model training and validation. Data architect ensures fit-for-purpose architecture.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chemeClr val="accent6"/>
                </a:solidFill>
              </a:rPr>
              <a:t>All developers have experience with AI-assisted programming, which increases productivity</a:t>
            </a:r>
          </a:p>
          <a:p>
            <a:r>
              <a:rPr lang="en-US" sz="1400" b="1" noProof="1">
                <a:solidFill>
                  <a:schemeClr val="accent6"/>
                </a:solidFill>
              </a:rPr>
              <a:t>Infrastructure</a:t>
            </a:r>
            <a:endParaRPr lang="en-US" sz="1400" noProof="1">
              <a:solidFill>
                <a:schemeClr val="accent6"/>
              </a:solidFill>
            </a:endParaRPr>
          </a:p>
          <a:p>
            <a:r>
              <a:rPr lang="en-US" sz="1400" noProof="1">
                <a:solidFill>
                  <a:schemeClr val="accent6"/>
                </a:solidFill>
              </a:rPr>
              <a:t>Cloud engineer sets up a landing zone across development and production environments. Provisions infrastructure using IaC (Infrastructure as Code) tools.</a:t>
            </a:r>
          </a:p>
          <a:p>
            <a:r>
              <a:rPr lang="en-US" sz="1400" b="1" noProof="1">
                <a:solidFill>
                  <a:schemeClr val="accent6"/>
                </a:solidFill>
              </a:rPr>
              <a:t>Working Method</a:t>
            </a:r>
            <a:endParaRPr lang="en-US" sz="1400" noProof="1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chemeClr val="accent6"/>
                </a:solidFill>
              </a:rPr>
              <a:t>Both teams work in agile scrum with 2-week sprints: sprint planning, daily standups, sprint reviews, and retrospectives.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chemeClr val="accent6"/>
                </a:solidFill>
              </a:rPr>
              <a:t>Teams are responsible for software quality and testing. CI/CD pipelines automate testing and deployment.</a:t>
            </a:r>
          </a:p>
        </p:txBody>
      </p:sp>
    </p:spTree>
    <p:extLst>
      <p:ext uri="{BB962C8B-B14F-4D97-AF65-F5344CB8AC3E}">
        <p14:creationId xmlns:p14="http://schemas.microsoft.com/office/powerpoint/2010/main" val="104833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C28FE4D-78BC-4622-87A5-B9E7B398D2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458434B-F9C7-4915-AD9C-72A3ECCCC36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9e707-c4dc-481c-8f20-1390d9b1763d"/>
    <ds:schemaRef ds:uri="20a0acd5-61c4-4018-b951-c082e5b75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AC9D553-BE57-49AB-A3C0-3160734E13AC}">
  <ds:schemaRefs>
    <ds:schemaRef ds:uri="http://schemas.microsoft.com/office/2006/metadata/properties"/>
    <ds:schemaRef ds:uri="http://schemas.microsoft.com/office/infopath/2007/PartnerControls"/>
    <ds:schemaRef ds:uri="20a0acd5-61c4-4018-b951-c082e5b75858"/>
    <ds:schemaRef ds:uri="c559e707-c4dc-481c-8f20-1390d9b1763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Our approach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created xsi:type="dcterms:W3CDTF">2026-01-23T11:06:07Z</dcterms:created>
  <dcterms:modified xsi:type="dcterms:W3CDTF">2026-01-23T11:07:11Z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  <property fmtid="{D5CDD505-2E9C-101B-9397-08002B2CF9AE}" pid="3" name="MediaServiceImageTags">
    <vt:lpwstr/>
  </property>
</Properties>
</file>