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comments/modernComment_53B_ABF1A642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133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BFDB02F-6C3A-E2B0-B990-E20A059828E3}" name="Ruben Oostinga" initials="RO" userId="S::roostinga@xebia.com::b47da8b3-6910-4561-8b63-58f0576537d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633963-C0C8-D1A2-D76F-0E60A1149455}" v="4" dt="2026-01-23T14:09:07.6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Sereda" userId="S::george.sereda@xebia.com::5e824fc6-3a6a-482b-8597-f9374fb4b421" providerId="AD" clId="Web-{8A633963-C0C8-D1A2-D76F-0E60A1149455}"/>
    <pc:docChg chg="addSld delSld modSld">
      <pc:chgData name="George Sereda" userId="S::george.sereda@xebia.com::5e824fc6-3a6a-482b-8597-f9374fb4b421" providerId="AD" clId="Web-{8A633963-C0C8-D1A2-D76F-0E60A1149455}" dt="2026-01-23T14:09:07.683" v="3"/>
      <pc:docMkLst>
        <pc:docMk/>
      </pc:docMkLst>
      <pc:sldChg chg="addSp modSp del">
        <pc:chgData name="George Sereda" userId="S::george.sereda@xebia.com::5e824fc6-3a6a-482b-8597-f9374fb4b421" providerId="AD" clId="Web-{8A633963-C0C8-D1A2-D76F-0E60A1149455}" dt="2026-01-23T14:09:07.683" v="3"/>
        <pc:sldMkLst>
          <pc:docMk/>
          <pc:sldMk cId="109857222" sldId="256"/>
        </pc:sldMkLst>
        <pc:spChg chg="add mod">
          <ac:chgData name="George Sereda" userId="S::george.sereda@xebia.com::5e824fc6-3a6a-482b-8597-f9374fb4b421" providerId="AD" clId="Web-{8A633963-C0C8-D1A2-D76F-0E60A1149455}" dt="2026-01-23T14:08:40.573" v="1"/>
          <ac:spMkLst>
            <pc:docMk/>
            <pc:sldMk cId="109857222" sldId="256"/>
            <ac:spMk id="4" creationId="{6C28A4C3-92E9-5F7C-D149-5390D541D4C6}"/>
          </ac:spMkLst>
        </pc:spChg>
      </pc:sldChg>
      <pc:sldChg chg="add">
        <pc:chgData name="George Sereda" userId="S::george.sereda@xebia.com::5e824fc6-3a6a-482b-8597-f9374fb4b421" providerId="AD" clId="Web-{8A633963-C0C8-D1A2-D76F-0E60A1149455}" dt="2026-01-23T14:09:02.433" v="2"/>
        <pc:sldMkLst>
          <pc:docMk/>
          <pc:sldMk cId="2884740674" sldId="1339"/>
        </pc:sldMkLst>
      </pc:sldChg>
    </pc:docChg>
  </pc:docChgLst>
</pc:chgInfo>
</file>

<file path=ppt/comments/modernComment_53B_ABF1A64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097B78F-29EC-41DC-A92D-8318F78D26BF}" authorId="{EBFDB02F-6C3A-E2B0-B990-E20A059828E3}" status="resolved" created="2025-10-15T13:11:03.512" complete="100000">
    <pc:sldMkLst xmlns:pc="http://schemas.microsoft.com/office/powerpoint/2013/main/command">
      <pc:docMk/>
      <pc:sldMk cId="2884740674" sldId="1339"/>
    </pc:sldMkLst>
    <p188:txBody>
      <a:bodyPr/>
      <a:lstStyle/>
      <a:p>
        <a:r>
          <a:rPr lang="en-US"/>
          <a:t>do we like this slide?
I worry it promises more than we will achieve
there's also some text overflow issue
[@Matthias Walgers] [@Erwin Staal]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CDFC6A-80A8-4A4D-B2C1-10E79048FA1C}" type="datetimeFigureOut"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AF6EFB-7359-4E0F-85DF-80E512912D3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222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Slide Image Placeholder 1">
            <a:extLst>
              <a:ext uri="{FF2B5EF4-FFF2-40B4-BE49-F238E27FC236}">
                <a16:creationId xmlns:a16="http://schemas.microsoft.com/office/drawing/2014/main" id="{0EF8B539-D68B-9C46-843D-B0528532B68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9027" name="Notes Placeholder 2">
            <a:extLst>
              <a:ext uri="{FF2B5EF4-FFF2-40B4-BE49-F238E27FC236}">
                <a16:creationId xmlns:a16="http://schemas.microsoft.com/office/drawing/2014/main" id="{9B09FFB7-28AA-1C4B-A054-ED15A7E41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03" tIns="44753" rIns="91103" bIns="44753"/>
          <a:lstStyle/>
          <a:p>
            <a:endParaRPr lang="nl-NL" altLang="nl-NL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551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microsoft.com/office/2018/10/relationships/comments" Target="../comments/modernComment_53B_ABF1A6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cnSubjectTitle_ID_8" hidden="1">
            <a:extLst>
              <a:ext uri="{FF2B5EF4-FFF2-40B4-BE49-F238E27FC236}">
                <a16:creationId xmlns:a16="http://schemas.microsoft.com/office/drawing/2014/main" id="{5D4D1123-4374-8D47-A048-BAF39582888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gray">
          <a:xfrm>
            <a:off x="1485900" y="1420813"/>
            <a:ext cx="6985000" cy="2460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Tx/>
              <a:buFontTx/>
              <a:buNone/>
              <a:tabLst/>
              <a:defRPr/>
            </a:pPr>
            <a:r>
              <a:rPr kumimoji="0" lang="nl-NL" sz="1600" b="1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+mn-ea"/>
                <a:cs typeface="+mn-cs"/>
              </a:rPr>
              <a:t>Subject Title</a:t>
            </a:r>
          </a:p>
        </p:txBody>
      </p:sp>
      <p:sp>
        <p:nvSpPr>
          <p:cNvPr id="61444" name="Line 13">
            <a:extLst>
              <a:ext uri="{FF2B5EF4-FFF2-40B4-BE49-F238E27FC236}">
                <a16:creationId xmlns:a16="http://schemas.microsoft.com/office/drawing/2014/main" id="{C21BA26A-84F4-4445-BBDF-A3EA59E31E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23827" y="2215559"/>
            <a:ext cx="9671748" cy="22176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2000" tIns="72000" rIns="72000" bIns="72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32323"/>
              </a:solidFill>
              <a:effectLst/>
              <a:uLnTx/>
              <a:uFillTx/>
              <a:latin typeface="ProximaNova-Light"/>
              <a:ea typeface="+mn-ea"/>
              <a:cs typeface="+mn-cs"/>
            </a:endParaRPr>
          </a:p>
        </p:txBody>
      </p:sp>
      <p:sp>
        <p:nvSpPr>
          <p:cNvPr id="61445" name="Rectangle 19">
            <a:extLst>
              <a:ext uri="{FF2B5EF4-FFF2-40B4-BE49-F238E27FC236}">
                <a16:creationId xmlns:a16="http://schemas.microsoft.com/office/drawing/2014/main" id="{6EA57CEB-9AA8-0F4A-A476-3F16D9151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979" y="2301247"/>
            <a:ext cx="1205125" cy="2159797"/>
          </a:xfrm>
          <a:prstGeom prst="rect">
            <a:avLst/>
          </a:prstGeom>
          <a:solidFill>
            <a:schemeClr val="tx2"/>
          </a:solidFill>
          <a:ln w="9525" algn="ctr">
            <a:noFill/>
            <a:round/>
            <a:headEnd/>
            <a:tailEnd/>
          </a:ln>
        </p:spPr>
        <p:txBody>
          <a:bodyPr lIns="90000" tIns="46800" rIns="90000" bIns="46800" anchor="ctr" anchorCtr="1"/>
          <a:lstStyle>
            <a:lvl1pPr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NL" sz="105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oximaNova-Light"/>
                <a:ea typeface="+mn-ea"/>
                <a:cs typeface="+mn-cs"/>
              </a:rPr>
              <a:t>Activities</a:t>
            </a:r>
          </a:p>
        </p:txBody>
      </p:sp>
      <p:sp>
        <p:nvSpPr>
          <p:cNvPr id="61446" name="Rectangle 20">
            <a:extLst>
              <a:ext uri="{FF2B5EF4-FFF2-40B4-BE49-F238E27FC236}">
                <a16:creationId xmlns:a16="http://schemas.microsoft.com/office/drawing/2014/main" id="{0BE06EF1-57F7-404F-BAF7-3692CBCF4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979" y="4581740"/>
            <a:ext cx="1205125" cy="970253"/>
          </a:xfrm>
          <a:prstGeom prst="rect">
            <a:avLst/>
          </a:prstGeom>
          <a:solidFill>
            <a:schemeClr val="tx2"/>
          </a:solidFill>
          <a:ln w="9525" algn="ctr">
            <a:noFill/>
            <a:round/>
            <a:headEnd/>
            <a:tailEnd/>
          </a:ln>
        </p:spPr>
        <p:txBody>
          <a:bodyPr lIns="90000" tIns="46800" rIns="90000" bIns="46800" anchor="ctr" anchorCtr="1"/>
          <a:lstStyle>
            <a:lvl1pPr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NL" sz="105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oximaNova-Light"/>
                <a:ea typeface="+mn-ea"/>
                <a:cs typeface="+mn-cs"/>
              </a:rPr>
              <a:t>Deliverables</a:t>
            </a:r>
          </a:p>
        </p:txBody>
      </p:sp>
      <p:sp>
        <p:nvSpPr>
          <p:cNvPr id="61447" name="Rectangle 21">
            <a:extLst>
              <a:ext uri="{FF2B5EF4-FFF2-40B4-BE49-F238E27FC236}">
                <a16:creationId xmlns:a16="http://schemas.microsoft.com/office/drawing/2014/main" id="{DDD3FC51-FFAF-334C-9D22-C3E8F3709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979" y="5686712"/>
            <a:ext cx="1205125" cy="553492"/>
          </a:xfrm>
          <a:prstGeom prst="rect">
            <a:avLst/>
          </a:prstGeom>
          <a:solidFill>
            <a:schemeClr val="tx2"/>
          </a:solidFill>
          <a:ln w="9525" algn="ctr">
            <a:noFill/>
            <a:round/>
            <a:headEnd/>
            <a:tailEnd/>
          </a:ln>
        </p:spPr>
        <p:txBody>
          <a:bodyPr lIns="90000" tIns="46800" rIns="90000" bIns="46800" anchor="ctr" anchorCtr="1"/>
          <a:lstStyle>
            <a:lvl1pPr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NL" sz="105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oximaNova-Light"/>
                <a:ea typeface="+mn-ea"/>
                <a:cs typeface="+mn-cs"/>
              </a:rPr>
              <a:t>Participants</a:t>
            </a:r>
          </a:p>
        </p:txBody>
      </p:sp>
      <p:sp>
        <p:nvSpPr>
          <p:cNvPr id="61448" name="Line 13">
            <a:extLst>
              <a:ext uri="{FF2B5EF4-FFF2-40B4-BE49-F238E27FC236}">
                <a16:creationId xmlns:a16="http://schemas.microsoft.com/office/drawing/2014/main" id="{3963BE63-B8BD-C647-A817-1A11F218DD3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23827" y="4557834"/>
            <a:ext cx="9671748" cy="8897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2000" tIns="72000" rIns="72000" bIns="72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32323"/>
              </a:solidFill>
              <a:effectLst/>
              <a:uLnTx/>
              <a:uFillTx/>
              <a:latin typeface="ProximaNova-Light"/>
              <a:ea typeface="+mn-ea"/>
              <a:cs typeface="+mn-cs"/>
            </a:endParaRPr>
          </a:p>
        </p:txBody>
      </p:sp>
      <p:sp>
        <p:nvSpPr>
          <p:cNvPr id="61449" name="Line 13">
            <a:extLst>
              <a:ext uri="{FF2B5EF4-FFF2-40B4-BE49-F238E27FC236}">
                <a16:creationId xmlns:a16="http://schemas.microsoft.com/office/drawing/2014/main" id="{D5013F1D-4A91-8346-8810-E33FB34933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23827" y="5596631"/>
            <a:ext cx="9671748" cy="12623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2000" tIns="72000" rIns="72000" bIns="72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32323"/>
              </a:solidFill>
              <a:effectLst/>
              <a:uLnTx/>
              <a:uFillTx/>
              <a:latin typeface="ProximaNova-Light"/>
              <a:ea typeface="+mn-ea"/>
              <a:cs typeface="+mn-cs"/>
            </a:endParaRPr>
          </a:p>
        </p:txBody>
      </p:sp>
      <p:sp>
        <p:nvSpPr>
          <p:cNvPr id="61450" name="Line 13">
            <a:extLst>
              <a:ext uri="{FF2B5EF4-FFF2-40B4-BE49-F238E27FC236}">
                <a16:creationId xmlns:a16="http://schemas.microsoft.com/office/drawing/2014/main" id="{3ED01F3A-2A95-D84B-B35B-7322542186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23827" y="6314553"/>
            <a:ext cx="9671748" cy="1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2000" tIns="72000" rIns="72000" bIns="72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32323"/>
              </a:solidFill>
              <a:effectLst/>
              <a:uLnTx/>
              <a:uFillTx/>
              <a:latin typeface="ProximaNova-Light"/>
              <a:ea typeface="+mn-ea"/>
              <a:cs typeface="+mn-cs"/>
            </a:endParaRPr>
          </a:p>
        </p:txBody>
      </p:sp>
      <p:sp>
        <p:nvSpPr>
          <p:cNvPr id="61451" name="Text Box 13">
            <a:extLst>
              <a:ext uri="{FF2B5EF4-FFF2-40B4-BE49-F238E27FC236}">
                <a16:creationId xmlns:a16="http://schemas.microsoft.com/office/drawing/2014/main" id="{7424F40C-26D6-A048-8E4B-8231FA16F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2689" y="2294846"/>
            <a:ext cx="3030206" cy="103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177800" indent="-1778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Kick-off meeting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Receive all relevant documentation available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Receive source code and access to tools for the process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Investigate tools in use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Analyze tool usage, incident administration, processes used, etc.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Initial scan on Product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Initial scan on Process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Initial scan on Skills (Optional)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Initial scan on Architecture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Initial scan on Source </a:t>
            </a:r>
            <a:r>
              <a:rPr lang="en-US" altLang="nl-NL" sz="1050" u="none">
                <a:solidFill>
                  <a:srgbClr val="232323"/>
                </a:solidFill>
                <a:latin typeface="ProximaNova-Light"/>
                <a:ea typeface="ヒラギノ角ゴ Pro W3" panose="020B0300000000000000" pitchFamily="34" charset="-128"/>
              </a:rPr>
              <a:t>C</a:t>
            </a: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ode</a:t>
            </a:r>
            <a:endParaRPr kumimoji="0" lang="en-US" altLang="nl-NL" sz="105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ProximaNova-Light"/>
              <a:ea typeface="ヒラギノ角ゴ Pro W3" panose="020B0300000000000000" pitchFamily="34" charset="-128"/>
              <a:cs typeface="+mn-cs"/>
            </a:endParaRPr>
          </a:p>
        </p:txBody>
      </p:sp>
      <p:sp>
        <p:nvSpPr>
          <p:cNvPr id="61452" name="Text Box 14">
            <a:extLst>
              <a:ext uri="{FF2B5EF4-FFF2-40B4-BE49-F238E27FC236}">
                <a16:creationId xmlns:a16="http://schemas.microsoft.com/office/drawing/2014/main" id="{2E0DE0D9-8E6A-1447-96D7-E23FD0ECEB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7329" y="2294846"/>
            <a:ext cx="2025711" cy="2191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177800" indent="-1778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Investigate software delivery process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Investigate software quality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Investigate on software architecture defined and how </a:t>
            </a:r>
            <a:r>
              <a:rPr lang="en-US" altLang="nl-NL" sz="1050" u="none">
                <a:solidFill>
                  <a:srgbClr val="232323"/>
                </a:solidFill>
                <a:latin typeface="ProximaNova-Light"/>
                <a:ea typeface="ヒラギノ角ゴ Pro W3" panose="020B0300000000000000" pitchFamily="34" charset="-128"/>
              </a:rPr>
              <a:t>this applies to the </a:t>
            </a: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Product/Solution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Interviews with engineers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Interviews with management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Interviews with PO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Draw initial conclusions and share with stakeholders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Define additional round of interviews and investigations</a:t>
            </a:r>
          </a:p>
        </p:txBody>
      </p:sp>
      <p:sp>
        <p:nvSpPr>
          <p:cNvPr id="61454" name="Text Box 16">
            <a:extLst>
              <a:ext uri="{FF2B5EF4-FFF2-40B4-BE49-F238E27FC236}">
                <a16:creationId xmlns:a16="http://schemas.microsoft.com/office/drawing/2014/main" id="{D1866E5A-731D-934E-97CA-F98FD0C110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8043" y="2294846"/>
            <a:ext cx="2083250" cy="1927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177800" indent="-1778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Finalize interviews and investigations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Create 1</a:t>
            </a:r>
            <a:r>
              <a:rPr kumimoji="0" lang="en-US" altLang="nl-NL" sz="1050" b="0" i="0" u="none" strike="noStrike" kern="1200" cap="none" spc="0" normalizeH="0" baseline="3000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st</a:t>
            </a: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 version of report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Solicit and process feedback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Create presentation on report-out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Final </a:t>
            </a:r>
            <a:r>
              <a:rPr lang="en-US" altLang="nl-NL" sz="1050" u="none">
                <a:solidFill>
                  <a:srgbClr val="232323"/>
                </a:solidFill>
                <a:latin typeface="ProximaNova-Light"/>
                <a:ea typeface="ヒラギノ角ゴ Pro W3" panose="020B0300000000000000" pitchFamily="34" charset="-128"/>
              </a:rPr>
              <a:t>report deliverable</a:t>
            </a:r>
            <a:endParaRPr kumimoji="0" lang="en-US" altLang="nl-NL" sz="1050" b="0" i="0" u="none" strike="noStrike" kern="1200" cap="none" spc="0" normalizeH="0" baseline="0" noProof="0">
              <a:ln>
                <a:noFill/>
              </a:ln>
              <a:solidFill>
                <a:srgbClr val="232323"/>
              </a:solidFill>
              <a:effectLst/>
              <a:uLnTx/>
              <a:uFillTx/>
              <a:latin typeface="ProximaNova-Light"/>
              <a:ea typeface="ヒラギノ角ゴ Pro W3" panose="020B0300000000000000" pitchFamily="34" charset="-128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Presentation to various stakeholder groups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nl-NL" sz="1050" b="0" i="0" u="none" strike="noStrike" kern="1200" cap="none" spc="0" normalizeH="0" baseline="0" noProof="0">
              <a:ln>
                <a:noFill/>
              </a:ln>
              <a:solidFill>
                <a:srgbClr val="232323"/>
              </a:solidFill>
              <a:effectLst/>
              <a:uLnTx/>
              <a:uFillTx/>
              <a:latin typeface="ProximaNova-Light"/>
              <a:ea typeface="ヒラギノ角ゴ Pro W3" panose="020B0300000000000000" pitchFamily="34" charset="-128"/>
              <a:cs typeface="+mn-cs"/>
            </a:endParaRPr>
          </a:p>
        </p:txBody>
      </p:sp>
      <p:sp>
        <p:nvSpPr>
          <p:cNvPr id="61455" name="AutoShape 17">
            <a:extLst>
              <a:ext uri="{FF2B5EF4-FFF2-40B4-BE49-F238E27FC236}">
                <a16:creationId xmlns:a16="http://schemas.microsoft.com/office/drawing/2014/main" id="{2D94BDA2-A46E-F44A-9060-5CC39D7CB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3826" y="1367652"/>
            <a:ext cx="1669682" cy="553492"/>
          </a:xfrm>
          <a:prstGeom prst="chevron">
            <a:avLst>
              <a:gd name="adj" fmla="val 30192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lIns="0" tIns="0" rIns="0" bIns="0" anchor="ctr" anchorCtr="1"/>
          <a:lstStyle>
            <a:lvl1pPr marL="263525" indent="-173038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63525" marR="0" lvl="0" indent="-173038" algn="l" defTabSz="914400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NL" sz="105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Refine Scope and gather artifacts</a:t>
            </a:r>
          </a:p>
        </p:txBody>
      </p:sp>
      <p:sp>
        <p:nvSpPr>
          <p:cNvPr id="61456" name="AutoShape 18">
            <a:extLst>
              <a:ext uri="{FF2B5EF4-FFF2-40B4-BE49-F238E27FC236}">
                <a16:creationId xmlns:a16="http://schemas.microsoft.com/office/drawing/2014/main" id="{42DC28B2-7306-6941-8553-D045817B1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3536" y="1360568"/>
            <a:ext cx="2249629" cy="553492"/>
          </a:xfrm>
          <a:prstGeom prst="chevron">
            <a:avLst>
              <a:gd name="adj" fmla="val 26429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lIns="0" tIns="0" rIns="0" bIns="0" anchor="ctr" anchorCtr="1"/>
          <a:lstStyle>
            <a:lvl1pPr marL="263525" indent="-173038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63525" marR="0" lvl="0" indent="-173038" algn="l" defTabSz="914400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nl-NL" sz="105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Interviews and in-depth analysis</a:t>
            </a:r>
          </a:p>
        </p:txBody>
      </p:sp>
      <p:sp>
        <p:nvSpPr>
          <p:cNvPr id="61457" name="AutoShape 19">
            <a:extLst>
              <a:ext uri="{FF2B5EF4-FFF2-40B4-BE49-F238E27FC236}">
                <a16:creationId xmlns:a16="http://schemas.microsoft.com/office/drawing/2014/main" id="{8C71DCD6-BDD4-E545-A8C4-3DF93701C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6198" y="1360568"/>
            <a:ext cx="2249629" cy="553492"/>
          </a:xfrm>
          <a:prstGeom prst="chevron">
            <a:avLst>
              <a:gd name="adj" fmla="val 26472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lIns="0" tIns="0" rIns="0" bIns="0" anchor="ctr" anchorCtr="1"/>
          <a:lstStyle>
            <a:lvl1pPr marL="263525" indent="-17145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63525" marR="0" lvl="0" indent="-171450" algn="l" defTabSz="914400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nl-NL" sz="105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Initial insights and further investigation</a:t>
            </a:r>
          </a:p>
        </p:txBody>
      </p:sp>
      <p:sp>
        <p:nvSpPr>
          <p:cNvPr id="61458" name="AutoShape 20">
            <a:extLst>
              <a:ext uri="{FF2B5EF4-FFF2-40B4-BE49-F238E27FC236}">
                <a16:creationId xmlns:a16="http://schemas.microsoft.com/office/drawing/2014/main" id="{C69CF46D-A564-6848-AF6E-A826F744B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0694" y="1360568"/>
            <a:ext cx="2249629" cy="553492"/>
          </a:xfrm>
          <a:prstGeom prst="chevron">
            <a:avLst>
              <a:gd name="adj" fmla="val 2645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lIns="0" tIns="0" rIns="0" bIns="0" anchor="ctr" anchorCtr="1"/>
          <a:lstStyle>
            <a:lvl1pPr marL="174625" indent="-174625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nl-NL" sz="105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Conclusions and Report out</a:t>
            </a:r>
          </a:p>
        </p:txBody>
      </p:sp>
      <p:sp>
        <p:nvSpPr>
          <p:cNvPr id="61459" name="Text Box 22">
            <a:extLst>
              <a:ext uri="{FF2B5EF4-FFF2-40B4-BE49-F238E27FC236}">
                <a16:creationId xmlns:a16="http://schemas.microsoft.com/office/drawing/2014/main" id="{6ED5D423-6009-8D48-9ED1-9B0DECD765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2689" y="4581740"/>
            <a:ext cx="3030207" cy="1127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177800" indent="-1778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Clearly defined research statement and </a:t>
            </a:r>
            <a:b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</a:b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goals of the investigation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Clearly defined expectation of what the </a:t>
            </a:r>
            <a:b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</a:b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research will deliver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Know each other and responsibilities during the investigation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nl-NL" sz="1050" b="0" i="0" u="none" strike="noStrike" kern="1200" cap="none" spc="0" normalizeH="0" baseline="0" noProof="0">
              <a:ln>
                <a:noFill/>
              </a:ln>
              <a:solidFill>
                <a:srgbClr val="232323"/>
              </a:solidFill>
              <a:effectLst/>
              <a:uLnTx/>
              <a:uFillTx/>
              <a:latin typeface="ProximaNova-Light"/>
              <a:ea typeface="ヒラギノ角ゴ Pro W3" panose="020B0300000000000000" pitchFamily="34" charset="-128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nl-NL" sz="1050" b="0" i="0" u="none" strike="noStrike" kern="1200" cap="none" spc="0" normalizeH="0" baseline="0" noProof="0">
              <a:ln>
                <a:noFill/>
              </a:ln>
              <a:solidFill>
                <a:srgbClr val="232323"/>
              </a:solidFill>
              <a:effectLst/>
              <a:uLnTx/>
              <a:uFillTx/>
              <a:latin typeface="ProximaNova-Light"/>
              <a:ea typeface="ヒラギノ角ゴ Pro W3" panose="020B0300000000000000" pitchFamily="34" charset="-128"/>
              <a:cs typeface="+mn-cs"/>
            </a:endParaRPr>
          </a:p>
        </p:txBody>
      </p:sp>
      <p:sp>
        <p:nvSpPr>
          <p:cNvPr id="61460" name="Text Box 23">
            <a:extLst>
              <a:ext uri="{FF2B5EF4-FFF2-40B4-BE49-F238E27FC236}">
                <a16:creationId xmlns:a16="http://schemas.microsoft.com/office/drawing/2014/main" id="{02F5C66E-418D-4442-A6CE-F36440F060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8074" y="4581740"/>
            <a:ext cx="2173266" cy="1303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177800" indent="-1778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No tangible deliverables yet</a:t>
            </a:r>
          </a:p>
        </p:txBody>
      </p:sp>
      <p:sp>
        <p:nvSpPr>
          <p:cNvPr id="61462" name="Text Box 25">
            <a:extLst>
              <a:ext uri="{FF2B5EF4-FFF2-40B4-BE49-F238E27FC236}">
                <a16:creationId xmlns:a16="http://schemas.microsoft.com/office/drawing/2014/main" id="{88A02824-2FAD-774B-A2B2-78B7218C7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8043" y="4581740"/>
            <a:ext cx="2083250" cy="1303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177800" indent="-1778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Presentation on </a:t>
            </a:r>
          </a:p>
          <a:p>
            <a:pPr marL="742950" marR="0" lvl="1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Approach</a:t>
            </a:r>
          </a:p>
          <a:p>
            <a:pPr marL="742950" marR="0" lvl="1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Findings and evidence</a:t>
            </a:r>
          </a:p>
          <a:p>
            <a:pPr marL="742950" marR="0" lvl="1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Insights and tips</a:t>
            </a:r>
          </a:p>
          <a:p>
            <a:pPr marL="742950" marR="0" lvl="1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Conclusions and roadmap</a:t>
            </a:r>
          </a:p>
          <a:p>
            <a:pPr marL="742950" marR="0" lvl="1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nl-NL" sz="1050" b="0" i="0" u="none" strike="noStrike" kern="1200" cap="none" spc="0" normalizeH="0" baseline="0" noProof="0">
              <a:ln>
                <a:noFill/>
              </a:ln>
              <a:solidFill>
                <a:srgbClr val="232323"/>
              </a:solidFill>
              <a:effectLst/>
              <a:uLnTx/>
              <a:uFillTx/>
              <a:latin typeface="ProximaNova-Light"/>
              <a:ea typeface="ヒラギノ角ゴ Pro W3" panose="020B0300000000000000" pitchFamily="34" charset="-128"/>
              <a:cs typeface="+mn-cs"/>
            </a:endParaRPr>
          </a:p>
          <a:p>
            <a:pPr marL="742950" marR="0" lvl="1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nl-NL" sz="1050" b="0" i="0" u="none" strike="noStrike" kern="1200" cap="none" spc="0" normalizeH="0" baseline="0" noProof="0">
              <a:ln>
                <a:noFill/>
              </a:ln>
              <a:solidFill>
                <a:srgbClr val="232323"/>
              </a:solidFill>
              <a:effectLst/>
              <a:uLnTx/>
              <a:uFillTx/>
              <a:latin typeface="ProximaNova-Light"/>
              <a:ea typeface="ヒラギノ角ゴ Pro W3" panose="020B0300000000000000" pitchFamily="34" charset="-128"/>
              <a:cs typeface="+mn-cs"/>
            </a:endParaRPr>
          </a:p>
        </p:txBody>
      </p:sp>
      <p:sp>
        <p:nvSpPr>
          <p:cNvPr id="61463" name="Text Box 26">
            <a:extLst>
              <a:ext uri="{FF2B5EF4-FFF2-40B4-BE49-F238E27FC236}">
                <a16:creationId xmlns:a16="http://schemas.microsoft.com/office/drawing/2014/main" id="{9B1A7256-DACB-5E41-8736-8FFF4FA67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2689" y="5636110"/>
            <a:ext cx="2520801" cy="1092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177800" indent="-1778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Director IT (and MT)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Managers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Key stakeholders</a:t>
            </a:r>
          </a:p>
        </p:txBody>
      </p:sp>
      <p:sp>
        <p:nvSpPr>
          <p:cNvPr id="61464" name="Text Box 28">
            <a:extLst>
              <a:ext uri="{FF2B5EF4-FFF2-40B4-BE49-F238E27FC236}">
                <a16:creationId xmlns:a16="http://schemas.microsoft.com/office/drawing/2014/main" id="{26846C57-6F1A-8345-A303-DF9EBA8E7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7329" y="5636110"/>
            <a:ext cx="2121318" cy="1101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177800" indent="-1778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Director IT (and MT)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Key management stakeholders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Architects, Developers, Testers, Infra structure engineers, etc.</a:t>
            </a: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3258E1F8-4648-F443-B48B-EE10BE782408}"/>
              </a:ext>
            </a:extLst>
          </p:cNvPr>
          <p:cNvSpPr txBox="1"/>
          <p:nvPr/>
        </p:nvSpPr>
        <p:spPr>
          <a:xfrm>
            <a:off x="1923826" y="1924665"/>
            <a:ext cx="3214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+mn-ea"/>
                <a:cs typeface="+mn-cs"/>
              </a:rPr>
              <a:t>1</a:t>
            </a:r>
            <a:r>
              <a:rPr kumimoji="0" lang="en-US" sz="1200" b="1" i="1" u="none" strike="noStrike" kern="1200" cap="none" spc="0" normalizeH="0" baseline="3000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+mn-ea"/>
                <a:cs typeface="+mn-cs"/>
              </a:rPr>
              <a:t>st</a:t>
            </a:r>
            <a:r>
              <a:rPr kumimoji="0" lang="en-US" sz="1200" b="1" i="1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+mn-ea"/>
                <a:cs typeface="+mn-cs"/>
              </a:rPr>
              <a:t>  week</a:t>
            </a:r>
          </a:p>
        </p:txBody>
      </p:sp>
      <p:sp>
        <p:nvSpPr>
          <p:cNvPr id="53" name="Tekstvak 52">
            <a:extLst>
              <a:ext uri="{FF2B5EF4-FFF2-40B4-BE49-F238E27FC236}">
                <a16:creationId xmlns:a16="http://schemas.microsoft.com/office/drawing/2014/main" id="{7CCBC9F5-1EAB-2448-A6D5-1E8C6A04D8DD}"/>
              </a:ext>
            </a:extLst>
          </p:cNvPr>
          <p:cNvSpPr txBox="1"/>
          <p:nvPr/>
        </p:nvSpPr>
        <p:spPr>
          <a:xfrm>
            <a:off x="5123536" y="1922716"/>
            <a:ext cx="22148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+mn-ea"/>
                <a:cs typeface="+mn-cs"/>
              </a:rPr>
              <a:t>2</a:t>
            </a:r>
            <a:r>
              <a:rPr kumimoji="0" lang="en-US" sz="1200" b="1" i="1" u="none" strike="noStrike" kern="1200" cap="none" spc="0" normalizeH="0" baseline="3000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+mn-ea"/>
                <a:cs typeface="+mn-cs"/>
              </a:rPr>
              <a:t>nd</a:t>
            </a:r>
            <a:r>
              <a:rPr kumimoji="0" lang="en-US" sz="1200" b="1" i="1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+mn-ea"/>
                <a:cs typeface="+mn-cs"/>
              </a:rPr>
              <a:t> week</a:t>
            </a:r>
          </a:p>
        </p:txBody>
      </p:sp>
      <p:sp>
        <p:nvSpPr>
          <p:cNvPr id="55" name="Tekstvak 54">
            <a:extLst>
              <a:ext uri="{FF2B5EF4-FFF2-40B4-BE49-F238E27FC236}">
                <a16:creationId xmlns:a16="http://schemas.microsoft.com/office/drawing/2014/main" id="{4B0AB082-D143-D94F-A1D3-7FCCD81D699B}"/>
              </a:ext>
            </a:extLst>
          </p:cNvPr>
          <p:cNvSpPr txBox="1"/>
          <p:nvPr/>
        </p:nvSpPr>
        <p:spPr>
          <a:xfrm>
            <a:off x="9575827" y="1929663"/>
            <a:ext cx="22044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+mn-ea"/>
                <a:cs typeface="+mn-cs"/>
              </a:rPr>
              <a:t>4</a:t>
            </a:r>
            <a:r>
              <a:rPr kumimoji="0" lang="en-US" sz="1200" b="1" i="1" u="none" strike="noStrike" kern="1200" cap="none" spc="0" normalizeH="0" baseline="3000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+mn-ea"/>
                <a:cs typeface="+mn-cs"/>
              </a:rPr>
              <a:t>th</a:t>
            </a:r>
            <a:r>
              <a:rPr kumimoji="0" lang="en-US" sz="1200" b="1" i="1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+mn-ea"/>
                <a:cs typeface="+mn-cs"/>
              </a:rPr>
              <a:t> week</a:t>
            </a:r>
          </a:p>
        </p:txBody>
      </p:sp>
      <p:sp>
        <p:nvSpPr>
          <p:cNvPr id="34" name="AutoShape 17">
            <a:extLst>
              <a:ext uri="{FF2B5EF4-FFF2-40B4-BE49-F238E27FC236}">
                <a16:creationId xmlns:a16="http://schemas.microsoft.com/office/drawing/2014/main" id="{DA946953-57EE-2F43-9CB0-7B7554D8A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434" y="1366095"/>
            <a:ext cx="1669682" cy="553492"/>
          </a:xfrm>
          <a:prstGeom prst="chevron">
            <a:avLst>
              <a:gd name="adj" fmla="val 30192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lIns="0" tIns="0" rIns="0" bIns="0" anchor="ctr" anchorCtr="1"/>
          <a:lstStyle>
            <a:lvl1pPr marL="263525" indent="-173038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63525" marR="0" lvl="0" indent="-173038" algn="ctr" defTabSz="914400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NL" sz="105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Research documentation and code</a:t>
            </a:r>
          </a:p>
        </p:txBody>
      </p:sp>
      <p:sp>
        <p:nvSpPr>
          <p:cNvPr id="35" name="Tijdelijke aanduiding voor dianummer 5">
            <a:extLst>
              <a:ext uri="{FF2B5EF4-FFF2-40B4-BE49-F238E27FC236}">
                <a16:creationId xmlns:a16="http://schemas.microsoft.com/office/drawing/2014/main" id="{5F31C164-F150-5F4B-8B8B-E00949B22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0FE45-509C-4BDF-9EDE-64426F8DF3D2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232323">
                    <a:lumMod val="65000"/>
                    <a:lumOff val="35000"/>
                  </a:srgbClr>
                </a:solidFill>
                <a:effectLst/>
                <a:uLnTx/>
                <a:uFillTx/>
                <a:latin typeface="ProximaNova-Ligh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232323">
                  <a:lumMod val="65000"/>
                  <a:lumOff val="35000"/>
                </a:srgbClr>
              </a:solidFill>
              <a:effectLst/>
              <a:uLnTx/>
              <a:uFillTx/>
              <a:latin typeface="ProximaNova-Ligh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DA99FB-6E0E-A9BD-2A62-65183DC9D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300" y="488609"/>
            <a:ext cx="11090275" cy="1131687"/>
          </a:xfrm>
        </p:spPr>
        <p:txBody>
          <a:bodyPr/>
          <a:lstStyle/>
          <a:p>
            <a:r>
              <a:rPr lang="en-US" err="1"/>
              <a:t>Xebia’s</a:t>
            </a:r>
            <a:r>
              <a:rPr lang="en-US"/>
              <a:t> Software Assessment Approach</a:t>
            </a:r>
            <a:br>
              <a:rPr lang="en-US"/>
            </a:br>
            <a:endParaRPr lang="LID4096"/>
          </a:p>
        </p:txBody>
      </p:sp>
      <p:sp>
        <p:nvSpPr>
          <p:cNvPr id="37" name="Text Box 28">
            <a:extLst>
              <a:ext uri="{FF2B5EF4-FFF2-40B4-BE49-F238E27FC236}">
                <a16:creationId xmlns:a16="http://schemas.microsoft.com/office/drawing/2014/main" id="{67BD6203-1ADB-456F-9EA9-6604681F5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8043" y="5636110"/>
            <a:ext cx="2121318" cy="1101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177800" indent="-1778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Director IT (and MT)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Managers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Key stakeholders</a:t>
            </a:r>
          </a:p>
        </p:txBody>
      </p:sp>
      <p:sp>
        <p:nvSpPr>
          <p:cNvPr id="38" name="Tekstvak 52">
            <a:extLst>
              <a:ext uri="{FF2B5EF4-FFF2-40B4-BE49-F238E27FC236}">
                <a16:creationId xmlns:a16="http://schemas.microsoft.com/office/drawing/2014/main" id="{8BEA4513-4FBB-47DF-9A76-5CA34A6E391F}"/>
              </a:ext>
            </a:extLst>
          </p:cNvPr>
          <p:cNvSpPr txBox="1"/>
          <p:nvPr/>
        </p:nvSpPr>
        <p:spPr>
          <a:xfrm>
            <a:off x="7230367" y="1932143"/>
            <a:ext cx="22148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1">
                <a:solidFill>
                  <a:srgbClr val="232323"/>
                </a:solidFill>
                <a:latin typeface="ProximaNova-Light"/>
              </a:rPr>
              <a:t>3</a:t>
            </a:r>
            <a:r>
              <a:rPr lang="en-US" sz="1200" b="1" i="1" baseline="30000">
                <a:solidFill>
                  <a:srgbClr val="232323"/>
                </a:solidFill>
                <a:latin typeface="ProximaNova-Light"/>
              </a:rPr>
              <a:t>rd</a:t>
            </a:r>
            <a:r>
              <a:rPr kumimoji="0" lang="en-US" sz="1200" b="1" i="1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+mn-ea"/>
                <a:cs typeface="+mn-cs"/>
              </a:rPr>
              <a:t> week</a:t>
            </a:r>
          </a:p>
        </p:txBody>
      </p:sp>
      <p:sp>
        <p:nvSpPr>
          <p:cNvPr id="39" name="Text Box 14">
            <a:extLst>
              <a:ext uri="{FF2B5EF4-FFF2-40B4-BE49-F238E27FC236}">
                <a16:creationId xmlns:a16="http://schemas.microsoft.com/office/drawing/2014/main" id="{9EC8CB5E-EA01-4D70-B56E-617DE16C5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8074" y="2294846"/>
            <a:ext cx="2025711" cy="2338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177800" indent="-1778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Investigate software delivery process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Investigate software quality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Investigate on Solution Architecture defined and how </a:t>
            </a:r>
            <a:r>
              <a:rPr lang="en-US" altLang="nl-NL" sz="1050" u="none">
                <a:solidFill>
                  <a:srgbClr val="232323"/>
                </a:solidFill>
                <a:latin typeface="ProximaNova-Light"/>
                <a:ea typeface="ヒラギノ角ゴ Pro W3" panose="020B0300000000000000" pitchFamily="34" charset="-128"/>
              </a:rPr>
              <a:t>this applies to the </a:t>
            </a: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Product/Solution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Interviews with engineers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Interviews with management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Interviews with PO</a:t>
            </a:r>
          </a:p>
        </p:txBody>
      </p:sp>
      <p:sp>
        <p:nvSpPr>
          <p:cNvPr id="40" name="Text Box 23">
            <a:extLst>
              <a:ext uri="{FF2B5EF4-FFF2-40B4-BE49-F238E27FC236}">
                <a16:creationId xmlns:a16="http://schemas.microsoft.com/office/drawing/2014/main" id="{CF9468A6-01DD-4DDE-9574-C07D13869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7329" y="4581740"/>
            <a:ext cx="2173266" cy="1303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177800" indent="-1778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First list of insights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First insights and potential conclusions and advise</a:t>
            </a:r>
          </a:p>
        </p:txBody>
      </p:sp>
      <p:sp>
        <p:nvSpPr>
          <p:cNvPr id="42" name="Text Box 28">
            <a:extLst>
              <a:ext uri="{FF2B5EF4-FFF2-40B4-BE49-F238E27FC236}">
                <a16:creationId xmlns:a16="http://schemas.microsoft.com/office/drawing/2014/main" id="{74FFF216-3C36-4ED3-9022-43AC3AAF07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8074" y="5636110"/>
            <a:ext cx="2121318" cy="1101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177800" indent="-1778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Director IT (and MT)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Key management stakeholders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nl-NL" sz="1050" b="0" i="0" u="none" strike="noStrike" kern="1200" cap="none" spc="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oximaNova-Light"/>
                <a:ea typeface="ヒラギノ角ゴ Pro W3" panose="020B0300000000000000" pitchFamily="34" charset="-128"/>
                <a:cs typeface="+mn-cs"/>
              </a:rPr>
              <a:t>Architects, Developers, Testers, Infrastructure engineers, etc.</a:t>
            </a:r>
          </a:p>
        </p:txBody>
      </p:sp>
    </p:spTree>
    <p:extLst>
      <p:ext uri="{BB962C8B-B14F-4D97-AF65-F5344CB8AC3E}">
        <p14:creationId xmlns:p14="http://schemas.microsoft.com/office/powerpoint/2010/main" val="288474067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4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TE" val="3-9-2009 14:51:45"/>
  <p:tag name="STYLE" val="AcnSubjectTitl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a0acd5-61c4-4018-b951-c082e5b75858" xsi:nil="true"/>
    <lcf76f155ced4ddcb4097134ff3c332f xmlns="c559e707-c4dc-481c-8f20-1390d9b1763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B178B1C63764FB69DC687AF91F3C3" ma:contentTypeVersion="14" ma:contentTypeDescription="Een nieuw document maken." ma:contentTypeScope="" ma:versionID="34baedd750c5ac2de39e17369f75ff4a">
  <xsd:schema xmlns:xsd="http://www.w3.org/2001/XMLSchema" xmlns:xs="http://www.w3.org/2001/XMLSchema" xmlns:p="http://schemas.microsoft.com/office/2006/metadata/properties" xmlns:ns2="c559e707-c4dc-481c-8f20-1390d9b1763d" xmlns:ns3="20a0acd5-61c4-4018-b951-c082e5b75858" targetNamespace="http://schemas.microsoft.com/office/2006/metadata/properties" ma:root="true" ma:fieldsID="94b6d483c48ce3ecd8a1cc1f7c9283d7" ns2:_="" ns3:_="">
    <xsd:import namespace="c559e707-c4dc-481c-8f20-1390d9b1763d"/>
    <xsd:import namespace="20a0acd5-61c4-4018-b951-c082e5b758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9e707-c4dc-481c-8f20-1390d9b176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28eca5aa-3823-4333-92a0-adf3de86d9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a0acd5-61c4-4018-b951-c082e5b75858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6fe27f-2603-4c92-a102-685a412d01be}" ma:internalName="TaxCatchAll" ma:showField="CatchAllData" ma:web="20a0acd5-61c4-4018-b951-c082e5b758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047A7E2-ADF4-4B67-AAD4-0270C4CEBEEB}">
  <ds:schemaRefs>
    <ds:schemaRef ds:uri="http://schemas.microsoft.com/office/2006/metadata/properties"/>
    <ds:schemaRef ds:uri="http://schemas.microsoft.com/office/infopath/2007/PartnerControls"/>
    <ds:schemaRef ds:uri="20a0acd5-61c4-4018-b951-c082e5b75858"/>
    <ds:schemaRef ds:uri="c559e707-c4dc-481c-8f20-1390d9b1763d"/>
  </ds:schemaRefs>
</ds:datastoreItem>
</file>

<file path=customXml/itemProps2.xml><?xml version="1.0" encoding="utf-8"?>
<ds:datastoreItem xmlns:ds="http://schemas.openxmlformats.org/officeDocument/2006/customXml" ds:itemID="{41A2322E-7A00-4193-9BF5-C1D9E88C9F9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1F568D8-E1D3-46B4-9327-23AD0446E0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59e707-c4dc-481c-8f20-1390d9b1763d"/>
    <ds:schemaRef ds:uri="20a0acd5-61c4-4018-b951-c082e5b758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Xebia’s Software Assessment Approach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</cp:revision>
  <dcterms:created xsi:type="dcterms:W3CDTF">2026-01-23T14:08:37Z</dcterms:created>
  <dcterms:modified xsi:type="dcterms:W3CDTF">2026-01-23T14:09:13Z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0x01010038AB178B1C63764FB69DC687AF91F3C3</vt:lpwstr>
  </property>
  <property fmtid="{D5CDD505-2E9C-101B-9397-08002B2CF9AE}" pid="3" name="MediaServiceImageTags">
    <vt:lpwstr/>
  </property>
</Properties>
</file>