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146847622" r:id="rId5"/>
    <p:sldId id="2146847619" r:id="rId6"/>
    <p:sldId id="214684762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9B6F48-8C41-9EDD-DA66-9BDA9005408B}" v="4" dt="2026-01-23T14:13:28.9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 Sereda" userId="S::george.sereda@xebia.com::5e824fc6-3a6a-482b-8597-f9374fb4b421" providerId="AD" clId="Web-{399B6F48-8C41-9EDD-DA66-9BDA9005408B}"/>
    <pc:docChg chg="addSld delSld">
      <pc:chgData name="George Sereda" userId="S::george.sereda@xebia.com::5e824fc6-3a6a-482b-8597-f9374fb4b421" providerId="AD" clId="Web-{399B6F48-8C41-9EDD-DA66-9BDA9005408B}" dt="2026-01-23T14:13:28.975" v="3"/>
      <pc:docMkLst>
        <pc:docMk/>
      </pc:docMkLst>
      <pc:sldChg chg="del">
        <pc:chgData name="George Sereda" userId="S::george.sereda@xebia.com::5e824fc6-3a6a-482b-8597-f9374fb4b421" providerId="AD" clId="Web-{399B6F48-8C41-9EDD-DA66-9BDA9005408B}" dt="2026-01-23T14:13:28.975" v="3"/>
        <pc:sldMkLst>
          <pc:docMk/>
          <pc:sldMk cId="109857222" sldId="256"/>
        </pc:sldMkLst>
      </pc:sldChg>
      <pc:sldChg chg="add">
        <pc:chgData name="George Sereda" userId="S::george.sereda@xebia.com::5e824fc6-3a6a-482b-8597-f9374fb4b421" providerId="AD" clId="Web-{399B6F48-8C41-9EDD-DA66-9BDA9005408B}" dt="2026-01-23T14:13:13.319" v="1"/>
        <pc:sldMkLst>
          <pc:docMk/>
          <pc:sldMk cId="3907805242" sldId="2146847619"/>
        </pc:sldMkLst>
      </pc:sldChg>
      <pc:sldChg chg="add">
        <pc:chgData name="George Sereda" userId="S::george.sereda@xebia.com::5e824fc6-3a6a-482b-8597-f9374fb4b421" providerId="AD" clId="Web-{399B6F48-8C41-9EDD-DA66-9BDA9005408B}" dt="2026-01-23T14:13:13.506" v="2"/>
        <pc:sldMkLst>
          <pc:docMk/>
          <pc:sldMk cId="2382868121" sldId="2146847620"/>
        </pc:sldMkLst>
      </pc:sldChg>
      <pc:sldChg chg="add">
        <pc:chgData name="George Sereda" userId="S::george.sereda@xebia.com::5e824fc6-3a6a-482b-8597-f9374fb4b421" providerId="AD" clId="Web-{399B6F48-8C41-9EDD-DA66-9BDA9005408B}" dt="2026-01-23T14:13:13.178" v="0"/>
        <pc:sldMkLst>
          <pc:docMk/>
          <pc:sldMk cId="3992483524" sldId="2146847622"/>
        </pc:sldMkLst>
      </pc:sldChg>
      <pc:sldMasterChg chg="addSldLayout">
        <pc:chgData name="George Sereda" userId="S::george.sereda@xebia.com::5e824fc6-3a6a-482b-8597-f9374fb4b421" providerId="AD" clId="Web-{399B6F48-8C41-9EDD-DA66-9BDA9005408B}" dt="2026-01-23T14:13:13.178" v="0"/>
        <pc:sldMasterMkLst>
          <pc:docMk/>
          <pc:sldMasterMk cId="2460954070" sldId="2147483660"/>
        </pc:sldMasterMkLst>
        <pc:sldLayoutChg chg="add">
          <pc:chgData name="George Sereda" userId="S::george.sereda@xebia.com::5e824fc6-3a6a-482b-8597-f9374fb4b421" providerId="AD" clId="Web-{399B6F48-8C41-9EDD-DA66-9BDA9005408B}" dt="2026-01-23T14:13:13.178" v="0"/>
          <pc:sldLayoutMkLst>
            <pc:docMk/>
            <pc:sldMasterMk cId="2460954070" sldId="2147483660"/>
            <pc:sldLayoutMk cId="1692818634" sldId="2147483672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itle+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FF4C1F15-4D7F-A4C2-9E63-6E4C1835AE5D}"/>
              </a:ext>
            </a:extLst>
          </p:cNvPr>
          <p:cNvSpPr/>
          <p:nvPr userDrawn="1"/>
        </p:nvSpPr>
        <p:spPr>
          <a:xfrm>
            <a:off x="0" y="2362961"/>
            <a:ext cx="12192000" cy="4483603"/>
          </a:xfrm>
          <a:custGeom>
            <a:avLst/>
            <a:gdLst>
              <a:gd name="connsiteX0" fmla="*/ 7094336 w 12223102"/>
              <a:gd name="connsiteY0" fmla="*/ 973 h 4495041"/>
              <a:gd name="connsiteX1" fmla="*/ 7658561 w 12223102"/>
              <a:gd name="connsiteY1" fmla="*/ 19161 h 4495041"/>
              <a:gd name="connsiteX2" fmla="*/ 12132909 w 12223102"/>
              <a:gd name="connsiteY2" fmla="*/ 2524033 h 4495041"/>
              <a:gd name="connsiteX3" fmla="*/ 12223102 w 12223102"/>
              <a:gd name="connsiteY3" fmla="*/ 2696368 h 4495041"/>
              <a:gd name="connsiteX4" fmla="*/ 12223102 w 12223102"/>
              <a:gd name="connsiteY4" fmla="*/ 4495041 h 4495041"/>
              <a:gd name="connsiteX5" fmla="*/ 0 w 12223102"/>
              <a:gd name="connsiteY5" fmla="*/ 4495041 h 4495041"/>
              <a:gd name="connsiteX6" fmla="*/ 0 w 12223102"/>
              <a:gd name="connsiteY6" fmla="*/ 1679964 h 4495041"/>
              <a:gd name="connsiteX7" fmla="*/ 203273 w 12223102"/>
              <a:gd name="connsiteY7" fmla="*/ 1557797 h 4495041"/>
              <a:gd name="connsiteX8" fmla="*/ 3532858 w 12223102"/>
              <a:gd name="connsiteY8" fmla="*/ 749399 h 4495041"/>
              <a:gd name="connsiteX9" fmla="*/ 7094336 w 12223102"/>
              <a:gd name="connsiteY9" fmla="*/ 973 h 4495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23102" h="4495041">
                <a:moveTo>
                  <a:pt x="7094336" y="973"/>
                </a:moveTo>
                <a:cubicBezTo>
                  <a:pt x="7276515" y="-2440"/>
                  <a:pt x="7464078" y="3013"/>
                  <a:pt x="7658561" y="19161"/>
                </a:cubicBezTo>
                <a:cubicBezTo>
                  <a:pt x="9210601" y="139180"/>
                  <a:pt x="11209251" y="954376"/>
                  <a:pt x="12132909" y="2524033"/>
                </a:cubicBezTo>
                <a:lnTo>
                  <a:pt x="12223102" y="2696368"/>
                </a:lnTo>
                <a:lnTo>
                  <a:pt x="12223102" y="4495041"/>
                </a:lnTo>
                <a:lnTo>
                  <a:pt x="0" y="4495041"/>
                </a:lnTo>
                <a:lnTo>
                  <a:pt x="0" y="1679964"/>
                </a:lnTo>
                <a:lnTo>
                  <a:pt x="203273" y="1557797"/>
                </a:lnTo>
                <a:cubicBezTo>
                  <a:pt x="1130500" y="1056162"/>
                  <a:pt x="2430761" y="972836"/>
                  <a:pt x="3532858" y="749399"/>
                </a:cubicBezTo>
                <a:cubicBezTo>
                  <a:pt x="4807615" y="483242"/>
                  <a:pt x="5819080" y="24865"/>
                  <a:pt x="7094336" y="97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95D01-D82B-260F-3184-C82FCF65A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GB"/>
              <a:t>Title of contents</a:t>
            </a:r>
            <a:br>
              <a:rPr lang="en-GB"/>
            </a:br>
            <a:r>
              <a:rPr lang="en-GB"/>
              <a:t>max. 2 lines</a:t>
            </a:r>
            <a:endParaRPr lang="en-P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39AA7B67-6693-B256-903C-FCF873DB345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0862" y="1825625"/>
            <a:ext cx="11090276" cy="44733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>
              <a:lnSpc>
                <a:spcPct val="110000"/>
              </a:lnSpc>
              <a:buClr>
                <a:schemeClr val="accent3"/>
              </a:buClr>
              <a:buSzPct val="75000"/>
              <a:buFont typeface="Wingdings" panose="05000000000000000000" pitchFamily="2" charset="2"/>
              <a:buChar char="£"/>
              <a:tabLst>
                <a:tab pos="6456363" algn="l"/>
              </a:tabLst>
              <a:defRPr sz="1800"/>
            </a:lvl1pPr>
            <a:lvl2pPr>
              <a:lnSpc>
                <a:spcPct val="110000"/>
              </a:lnSpc>
              <a:buClr>
                <a:schemeClr val="tx2"/>
              </a:buClr>
              <a:defRPr sz="1800"/>
            </a:lvl2pPr>
            <a:lvl3pPr>
              <a:lnSpc>
                <a:spcPct val="110000"/>
              </a:lnSpc>
              <a:buClr>
                <a:schemeClr val="accent3"/>
              </a:buClr>
              <a:defRPr sz="1800"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526320B-341E-6450-12F2-01073014314F}"/>
              </a:ext>
            </a:extLst>
          </p:cNvPr>
          <p:cNvSpPr/>
          <p:nvPr userDrawn="1"/>
        </p:nvSpPr>
        <p:spPr>
          <a:xfrm>
            <a:off x="10002417" y="0"/>
            <a:ext cx="2189583" cy="774441"/>
          </a:xfrm>
          <a:custGeom>
            <a:avLst/>
            <a:gdLst>
              <a:gd name="connsiteX0" fmla="*/ 0 w 2180253"/>
              <a:gd name="connsiteY0" fmla="*/ 0 h 251927"/>
              <a:gd name="connsiteX1" fmla="*/ 2180253 w 2180253"/>
              <a:gd name="connsiteY1" fmla="*/ 0 h 251927"/>
              <a:gd name="connsiteX2" fmla="*/ 2180253 w 2180253"/>
              <a:gd name="connsiteY2" fmla="*/ 251927 h 251927"/>
              <a:gd name="connsiteX3" fmla="*/ 0 w 2180253"/>
              <a:gd name="connsiteY3" fmla="*/ 251927 h 251927"/>
              <a:gd name="connsiteX4" fmla="*/ 0 w 2180253"/>
              <a:gd name="connsiteY4" fmla="*/ 0 h 251927"/>
              <a:gd name="connsiteX0" fmla="*/ 0 w 2180253"/>
              <a:gd name="connsiteY0" fmla="*/ 0 h 447870"/>
              <a:gd name="connsiteX1" fmla="*/ 2180253 w 2180253"/>
              <a:gd name="connsiteY1" fmla="*/ 0 h 447870"/>
              <a:gd name="connsiteX2" fmla="*/ 2180253 w 2180253"/>
              <a:gd name="connsiteY2" fmla="*/ 251927 h 447870"/>
              <a:gd name="connsiteX3" fmla="*/ 933061 w 2180253"/>
              <a:gd name="connsiteY3" fmla="*/ 447870 h 447870"/>
              <a:gd name="connsiteX4" fmla="*/ 0 w 2180253"/>
              <a:gd name="connsiteY4" fmla="*/ 0 h 447870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89583" h="774441">
                <a:moveTo>
                  <a:pt x="0" y="0"/>
                </a:moveTo>
                <a:lnTo>
                  <a:pt x="2180253" y="0"/>
                </a:lnTo>
                <a:lnTo>
                  <a:pt x="2189583" y="774441"/>
                </a:lnTo>
                <a:cubicBezTo>
                  <a:pt x="1696098" y="581609"/>
                  <a:pt x="1426547" y="547397"/>
                  <a:pt x="933061" y="447870"/>
                </a:cubicBezTo>
                <a:cubicBezTo>
                  <a:pt x="202163" y="214604"/>
                  <a:pt x="311020" y="149290"/>
                  <a:pt x="0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b="1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C8286DF-4E1C-B3A7-F847-34C7B9B81A78}"/>
              </a:ext>
            </a:extLst>
          </p:cNvPr>
          <p:cNvSpPr/>
          <p:nvPr userDrawn="1"/>
        </p:nvSpPr>
        <p:spPr>
          <a:xfrm>
            <a:off x="8406882" y="-9331"/>
            <a:ext cx="3816220" cy="1231641"/>
          </a:xfrm>
          <a:custGeom>
            <a:avLst/>
            <a:gdLst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6220" h="1231641">
                <a:moveTo>
                  <a:pt x="0" y="0"/>
                </a:moveTo>
                <a:cubicBezTo>
                  <a:pt x="866969" y="214604"/>
                  <a:pt x="1174103" y="270590"/>
                  <a:pt x="2090057" y="522515"/>
                </a:cubicBezTo>
                <a:cubicBezTo>
                  <a:pt x="3127309" y="895739"/>
                  <a:pt x="3271156" y="979714"/>
                  <a:pt x="3816220" y="1231641"/>
                </a:cubicBez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b="1"/>
          </a:p>
        </p:txBody>
      </p:sp>
    </p:spTree>
    <p:extLst>
      <p:ext uri="{BB962C8B-B14F-4D97-AF65-F5344CB8AC3E}">
        <p14:creationId xmlns:p14="http://schemas.microsoft.com/office/powerpoint/2010/main" val="1692818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xebia.com/customer-stories/dutch-plant-protection-board-breathes-new-life-into-old-system/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xebia.com/customer-stories/modernizing-core-banking-technology-infrastructure/" TargetMode="Externa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xebia.com/customer-stories/cloud-platformdelivers-innovative-simulations-for-kongsberg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5AAC7-A667-3859-81C1-E069B7D81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08C85-FDC9-AF4C-335D-6097B48EA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9001"/>
            <a:ext cx="9504252" cy="1149407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Customer Story: </a:t>
            </a:r>
            <a:r>
              <a:rPr lang="en-US" b="0"/>
              <a:t>Dutch Plant Protection Board Breathes New Life into Old System</a:t>
            </a:r>
            <a:endParaRPr lang="en-US" b="0">
              <a:cs typeface="Arial"/>
            </a:endParaRPr>
          </a:p>
          <a:p>
            <a:endParaRPr lang="en-US" b="0">
              <a:ea typeface="+mj-lt"/>
              <a:cs typeface="+mj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BD4FD5-07A8-1C7B-4F83-51C5DF834E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1</a:t>
            </a:fld>
            <a:endParaRPr lang="en-P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401053-6816-D840-FC41-167254936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2" y="1825625"/>
            <a:ext cx="5251230" cy="4482234"/>
          </a:xfrm>
        </p:spPr>
        <p:txBody>
          <a:bodyPr vert="horz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400" b="1"/>
              <a:t>The Challenge</a:t>
            </a:r>
            <a:endParaRPr lang="en-US" sz="1400" b="1">
              <a:cs typeface="Arial"/>
            </a:endParaRPr>
          </a:p>
          <a:p>
            <a:r>
              <a:rPr lang="en-US" sz="1100" b="1">
                <a:ea typeface="+mn-lt"/>
                <a:cs typeface="+mn-lt"/>
              </a:rPr>
              <a:t>Outdated legacy system</a:t>
            </a:r>
            <a:r>
              <a:rPr lang="en-US" sz="1100">
                <a:ea typeface="+mn-lt"/>
                <a:cs typeface="+mn-lt"/>
              </a:rPr>
              <a:t> unable to keep pace with business growth</a:t>
            </a:r>
            <a:endParaRPr lang="en-US" sz="1100">
              <a:cs typeface="Arial"/>
            </a:endParaRPr>
          </a:p>
          <a:p>
            <a:r>
              <a:rPr lang="en-US" sz="1100">
                <a:ea typeface="+mn-lt"/>
                <a:cs typeface="+mn-lt"/>
              </a:rPr>
              <a:t>High maintenance costs draining time and budget</a:t>
            </a:r>
            <a:endParaRPr lang="en-US" sz="1100">
              <a:cs typeface="Arial"/>
            </a:endParaRPr>
          </a:p>
          <a:p>
            <a:r>
              <a:rPr lang="en-US" sz="1100">
                <a:ea typeface="+mn-lt"/>
                <a:cs typeface="+mn-lt"/>
              </a:rPr>
              <a:t>System at full capacity with increasing application volumes</a:t>
            </a:r>
            <a:endParaRPr lang="en-US" sz="1100">
              <a:cs typeface="Arial"/>
            </a:endParaRPr>
          </a:p>
          <a:p>
            <a:r>
              <a:rPr lang="en-US" sz="1100">
                <a:ea typeface="+mn-lt"/>
                <a:cs typeface="+mn-lt"/>
              </a:rPr>
              <a:t>No technical staff or modern development practices in place</a:t>
            </a:r>
            <a:endParaRPr lang="en-US" sz="1100">
              <a:cs typeface="Arial"/>
            </a:endParaRPr>
          </a:p>
          <a:p>
            <a:pPr marL="0" indent="0">
              <a:buNone/>
            </a:pPr>
            <a:r>
              <a:rPr lang="en-US" sz="1400" b="1"/>
              <a:t>The Solution: Complete Digital Transformation</a:t>
            </a:r>
            <a:endParaRPr lang="en-US" sz="1100" b="1">
              <a:cs typeface="Arial"/>
            </a:endParaRPr>
          </a:p>
          <a:p>
            <a:pPr marL="0" indent="0">
              <a:buNone/>
            </a:pPr>
            <a:r>
              <a:rPr lang="en-US" sz="1100" b="1">
                <a:ea typeface="+mn-lt"/>
                <a:cs typeface="+mn-lt"/>
              </a:rPr>
              <a:t>Modernized Architecture &amp; Cloud Migration</a:t>
            </a:r>
            <a:endParaRPr lang="en-US" sz="1100">
              <a:cs typeface="Arial"/>
            </a:endParaRPr>
          </a:p>
          <a:p>
            <a:r>
              <a:rPr lang="en-US" sz="1100">
                <a:ea typeface="+mn-lt"/>
                <a:cs typeface="+mn-lt"/>
              </a:rPr>
              <a:t>Migrated from legacy architecture to modern cloud platform</a:t>
            </a:r>
            <a:endParaRPr lang="en-US" sz="1100">
              <a:cs typeface="Arial"/>
            </a:endParaRPr>
          </a:p>
          <a:p>
            <a:r>
              <a:rPr lang="en-US" sz="1100">
                <a:ea typeface="+mn-lt"/>
                <a:cs typeface="+mn-lt"/>
              </a:rPr>
              <a:t>Built modern interface with public API for data display</a:t>
            </a:r>
            <a:endParaRPr lang="en-US" sz="1100">
              <a:cs typeface="Arial"/>
            </a:endParaRPr>
          </a:p>
          <a:p>
            <a:r>
              <a:rPr lang="en-US" sz="1100">
                <a:ea typeface="+mn-lt"/>
                <a:cs typeface="+mn-lt"/>
              </a:rPr>
              <a:t>Seamlessly transferred all legacy data without disruption</a:t>
            </a:r>
            <a:endParaRPr lang="en-US" sz="1100">
              <a:cs typeface="Arial"/>
            </a:endParaRPr>
          </a:p>
          <a:p>
            <a:pPr marL="0" indent="0">
              <a:buNone/>
            </a:pPr>
            <a:r>
              <a:rPr lang="en-US" sz="1100" b="1">
                <a:ea typeface="+mn-lt"/>
                <a:cs typeface="+mn-lt"/>
              </a:rPr>
              <a:t>Agile Transformation</a:t>
            </a:r>
            <a:endParaRPr lang="en-US" sz="1100">
              <a:cs typeface="Arial"/>
            </a:endParaRPr>
          </a:p>
          <a:p>
            <a:r>
              <a:rPr lang="en-US" sz="1100">
                <a:ea typeface="+mn-lt"/>
                <a:cs typeface="+mn-lt"/>
              </a:rPr>
              <a:t>Implemented DevOps and Scrum methodologies organization-wide</a:t>
            </a:r>
            <a:endParaRPr lang="en-US" sz="1100">
              <a:cs typeface="Arial"/>
            </a:endParaRPr>
          </a:p>
          <a:p>
            <a:r>
              <a:rPr lang="en-US" sz="1100">
                <a:ea typeface="+mn-lt"/>
                <a:cs typeface="+mn-lt"/>
              </a:rPr>
              <a:t>Trained autonomous, self-organizing teams</a:t>
            </a:r>
            <a:endParaRPr lang="en-US" sz="1100">
              <a:cs typeface="Arial"/>
            </a:endParaRPr>
          </a:p>
          <a:p>
            <a:r>
              <a:rPr lang="en-US" sz="1100">
                <a:ea typeface="+mn-lt"/>
                <a:cs typeface="+mn-lt"/>
              </a:rPr>
              <a:t>Established sprint-based workflow for faster delivery</a:t>
            </a:r>
            <a:endParaRPr lang="en-US" sz="1100">
              <a:cs typeface="Arial"/>
            </a:endParaRPr>
          </a:p>
          <a:p>
            <a:pPr marL="0" indent="0">
              <a:buNone/>
            </a:pPr>
            <a:endParaRPr lang="en-US" sz="1100">
              <a:cs typeface="Arial"/>
            </a:endParaRPr>
          </a:p>
          <a:p>
            <a:endParaRPr lang="en-US" sz="1100">
              <a:cs typeface="Arial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6A4B90B-0A97-F0AE-0E09-6FCA8ABA9455}"/>
              </a:ext>
            </a:extLst>
          </p:cNvPr>
          <p:cNvSpPr txBox="1">
            <a:spLocks/>
          </p:cNvSpPr>
          <p:nvPr/>
        </p:nvSpPr>
        <p:spPr>
          <a:xfrm>
            <a:off x="6099285" y="1827397"/>
            <a:ext cx="5251230" cy="448223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3"/>
              </a:buClr>
              <a:buSzPct val="75000"/>
              <a:buFont typeface="Wingdings" panose="05000000000000000000" pitchFamily="2" charset="2"/>
              <a:buChar char="£"/>
              <a:tabLst>
                <a:tab pos="6456363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>
                <a:ea typeface="+mn-lt"/>
                <a:cs typeface="+mn-lt"/>
              </a:rPr>
              <a:t>Business Impact</a:t>
            </a:r>
            <a:endParaRPr lang="en-US" sz="1400">
              <a:cs typeface="Arial"/>
            </a:endParaRPr>
          </a:p>
          <a:p>
            <a:r>
              <a:rPr lang="en-US" sz="1100" b="1">
                <a:ea typeface="+mn-lt"/>
                <a:cs typeface="+mn-lt"/>
              </a:rPr>
              <a:t>Cost savings</a:t>
            </a:r>
            <a:r>
              <a:rPr lang="en-US" sz="1100">
                <a:ea typeface="+mn-lt"/>
                <a:cs typeface="+mn-lt"/>
              </a:rPr>
              <a:t> through elimination of expensive legacy maintenance</a:t>
            </a:r>
            <a:endParaRPr lang="en-US" sz="1100">
              <a:cs typeface="Arial"/>
            </a:endParaRPr>
          </a:p>
          <a:p>
            <a:r>
              <a:rPr lang="en-US" sz="1100" b="1">
                <a:ea typeface="+mn-lt"/>
                <a:cs typeface="+mn-lt"/>
              </a:rPr>
              <a:t>Increased efficiency</a:t>
            </a:r>
            <a:r>
              <a:rPr lang="en-US" sz="1100">
                <a:ea typeface="+mn-lt"/>
                <a:cs typeface="+mn-lt"/>
              </a:rPr>
              <a:t> enabling teams to handle growing application volumes</a:t>
            </a:r>
            <a:endParaRPr lang="en-US" sz="1100">
              <a:cs typeface="Arial"/>
            </a:endParaRPr>
          </a:p>
          <a:p>
            <a:r>
              <a:rPr lang="en-US" sz="1100" b="1">
                <a:ea typeface="+mn-lt"/>
                <a:cs typeface="+mn-lt"/>
              </a:rPr>
              <a:t>Future-ready platform</a:t>
            </a:r>
            <a:r>
              <a:rPr lang="en-US" sz="1100">
                <a:ea typeface="+mn-lt"/>
                <a:cs typeface="+mn-lt"/>
              </a:rPr>
              <a:t> capable of scaling with business needs</a:t>
            </a:r>
            <a:endParaRPr lang="en-US" sz="1100">
              <a:cs typeface="Arial"/>
            </a:endParaRPr>
          </a:p>
          <a:p>
            <a:r>
              <a:rPr lang="en-US" sz="1100" b="1">
                <a:ea typeface="+mn-lt"/>
                <a:cs typeface="+mn-lt"/>
              </a:rPr>
              <a:t>Empowered teams</a:t>
            </a:r>
            <a:r>
              <a:rPr lang="en-US" sz="1100">
                <a:ea typeface="+mn-lt"/>
                <a:cs typeface="+mn-lt"/>
              </a:rPr>
              <a:t> working autonomously with modern development practices</a:t>
            </a:r>
            <a:endParaRPr lang="en-US" sz="1100">
              <a:cs typeface="Arial"/>
            </a:endParaRPr>
          </a:p>
          <a:p>
            <a:endParaRPr lang="en-US" sz="1100">
              <a:cs typeface="Arial"/>
            </a:endParaRPr>
          </a:p>
          <a:p>
            <a:endParaRPr lang="en-US" sz="1100">
              <a:cs typeface="Arial"/>
            </a:endParaRPr>
          </a:p>
          <a:p>
            <a:pPr marL="0" indent="0">
              <a:buNone/>
            </a:pPr>
            <a:r>
              <a:rPr lang="en-US" sz="1100" b="1">
                <a:ea typeface="+mn-lt"/>
                <a:cs typeface="+mn-lt"/>
              </a:rPr>
              <a:t>Client:</a:t>
            </a:r>
            <a:r>
              <a:rPr lang="en-US" sz="1100">
                <a:ea typeface="+mn-lt"/>
                <a:cs typeface="+mn-lt"/>
              </a:rPr>
              <a:t> Dutch Board for the Authorization of Plant Protection Projects and Biocides (CTGB)</a:t>
            </a:r>
            <a:endParaRPr lang="en-US" sz="1100">
              <a:cs typeface="Arial"/>
            </a:endParaRPr>
          </a:p>
          <a:p>
            <a:pPr marL="0" indent="0">
              <a:buNone/>
            </a:pPr>
            <a:r>
              <a:rPr lang="en-US" sz="1100" b="1">
                <a:ea typeface="+mn-lt"/>
                <a:cs typeface="+mn-lt"/>
              </a:rPr>
              <a:t>Scope:</a:t>
            </a:r>
            <a:r>
              <a:rPr lang="en-US" sz="1100">
                <a:ea typeface="+mn-lt"/>
                <a:cs typeface="+mn-lt"/>
              </a:rPr>
              <a:t> End-to-end modernization including infrastructure, process, and organizational training</a:t>
            </a:r>
            <a:endParaRPr lang="en-US" sz="1100">
              <a:cs typeface="Arial"/>
            </a:endParaRPr>
          </a:p>
          <a:p>
            <a:pPr marL="0" indent="0">
              <a:buNone/>
            </a:pPr>
            <a:r>
              <a:rPr lang="en-US" sz="1100">
                <a:ea typeface="+mn-lt"/>
                <a:cs typeface="+mn-lt"/>
                <a:hlinkClick r:id="rId2"/>
              </a:rPr>
              <a:t>Read Full Case Study →</a:t>
            </a:r>
            <a:endParaRPr lang="en-US" sz="1100">
              <a:cs typeface="Arial"/>
            </a:endParaRPr>
          </a:p>
          <a:p>
            <a:endParaRPr lang="en-US" sz="1100">
              <a:cs typeface="Arial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F82047F-7E9A-B0CE-1358-B04FB160A8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6443" y="5752546"/>
            <a:ext cx="1447800" cy="82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483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D3A57-F839-3351-34B6-5AACDAF8C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90C80-B7CE-E8A5-D7CC-31101687A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9001"/>
            <a:ext cx="9504252" cy="1149407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Customer Story: Modernizing Core Banking Technology Infrastructure</a:t>
            </a:r>
            <a:endParaRPr lang="en-US" b="0">
              <a:cs typeface="Arial"/>
            </a:endParaRPr>
          </a:p>
          <a:p>
            <a:endParaRPr lang="en-US" b="0">
              <a:ea typeface="+mj-lt"/>
              <a:cs typeface="+mj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5E0894-7C69-F222-61CB-B39262EF58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2</a:t>
            </a:fld>
            <a:endParaRPr lang="en-P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2101F9-3F25-75F3-7A61-F0E406E0C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2" y="1635125"/>
            <a:ext cx="5251230" cy="4482234"/>
          </a:xfrm>
        </p:spPr>
        <p:txBody>
          <a:bodyPr vert="horz" lIns="0" tIns="0" rIns="0" bIns="0" rtlCol="0" anchor="t">
            <a:noAutofit/>
          </a:bodyPr>
          <a:lstStyle/>
          <a:p>
            <a:pPr>
              <a:buNone/>
            </a:pPr>
            <a:r>
              <a:rPr lang="en-US" sz="1400" b="1"/>
              <a:t>The Challenge</a:t>
            </a:r>
            <a:endParaRPr lang="en-US" sz="1400" b="1">
              <a:cs typeface="Arial"/>
            </a:endParaRPr>
          </a:p>
          <a:p>
            <a:pPr>
              <a:buFont typeface="Wingdings"/>
            </a:pPr>
            <a:r>
              <a:rPr lang="en-US" sz="1100" b="1">
                <a:ea typeface="+mn-lt"/>
                <a:cs typeface="+mn-lt"/>
              </a:rPr>
              <a:t>Monolithic systems struggling</a:t>
            </a:r>
            <a:r>
              <a:rPr lang="en-US" sz="1100">
                <a:ea typeface="+mn-lt"/>
                <a:cs typeface="+mn-lt"/>
              </a:rPr>
              <a:t> under millions of transactions</a:t>
            </a:r>
            <a:endParaRPr lang="en-US" sz="1100">
              <a:cs typeface="Arial"/>
            </a:endParaRPr>
          </a:p>
          <a:p>
            <a:pPr>
              <a:buFont typeface="Wingdings"/>
            </a:pPr>
            <a:r>
              <a:rPr lang="en-US" sz="1100">
                <a:ea typeface="+mn-lt"/>
                <a:cs typeface="+mn-lt"/>
              </a:rPr>
              <a:t>Performance compromised by slow downstream services</a:t>
            </a:r>
            <a:endParaRPr lang="en-US" sz="1100">
              <a:cs typeface="Arial"/>
            </a:endParaRPr>
          </a:p>
          <a:p>
            <a:pPr>
              <a:buFont typeface="Wingdings"/>
            </a:pPr>
            <a:r>
              <a:rPr lang="en-US" sz="1100">
                <a:ea typeface="+mn-lt"/>
                <a:cs typeface="+mn-lt"/>
              </a:rPr>
              <a:t>HTTP-only communication creating asynchronous processing burden</a:t>
            </a:r>
            <a:endParaRPr lang="en-US" sz="1100">
              <a:cs typeface="Arial"/>
            </a:endParaRPr>
          </a:p>
          <a:p>
            <a:pPr>
              <a:buFont typeface="Wingdings"/>
            </a:pPr>
            <a:r>
              <a:rPr lang="en-US" sz="1100">
                <a:ea typeface="+mn-lt"/>
                <a:cs typeface="+mn-lt"/>
              </a:rPr>
              <a:t>Rapid growth straining existing infrastructure</a:t>
            </a:r>
            <a:endParaRPr lang="en-US" sz="1100">
              <a:cs typeface="Arial"/>
            </a:endParaRPr>
          </a:p>
          <a:p>
            <a:pPr>
              <a:buFont typeface="Wingdings"/>
            </a:pPr>
            <a:r>
              <a:rPr lang="en-US" sz="1100">
                <a:ea typeface="+mn-lt"/>
                <a:cs typeface="+mn-lt"/>
              </a:rPr>
              <a:t>Event-driven interactions with banks/credit unions proving difficult</a:t>
            </a:r>
            <a:endParaRPr lang="en-US" sz="1400" b="1">
              <a:cs typeface="Arial"/>
            </a:endParaRPr>
          </a:p>
          <a:p>
            <a:pPr marL="0" indent="0">
              <a:buNone/>
            </a:pPr>
            <a:r>
              <a:rPr lang="en-US" sz="1400" b="1"/>
              <a:t>The Solution: Microservices Architecture Transformation</a:t>
            </a:r>
            <a:endParaRPr lang="en-US" sz="1400" b="1">
              <a:cs typeface="Arial"/>
            </a:endParaRPr>
          </a:p>
          <a:p>
            <a:pPr>
              <a:buNone/>
            </a:pPr>
            <a:r>
              <a:rPr lang="en-US" sz="1100" b="1">
                <a:ea typeface="+mn-lt"/>
                <a:cs typeface="+mn-lt"/>
              </a:rPr>
              <a:t>Strategic Decommissioning of Monolith</a:t>
            </a:r>
            <a:endParaRPr lang="en-US" sz="1100">
              <a:cs typeface="Arial"/>
            </a:endParaRPr>
          </a:p>
          <a:p>
            <a:pPr>
              <a:buFont typeface="Wingdings"/>
            </a:pPr>
            <a:r>
              <a:rPr lang="en-US" sz="1100">
                <a:ea typeface="+mn-lt"/>
                <a:cs typeface="+mn-lt"/>
              </a:rPr>
              <a:t>Transitioned to purely microservices-oriented architecture</a:t>
            </a:r>
            <a:endParaRPr lang="en-US" sz="1100">
              <a:cs typeface="Arial"/>
            </a:endParaRPr>
          </a:p>
          <a:p>
            <a:pPr>
              <a:buFont typeface="Wingdings"/>
            </a:pPr>
            <a:r>
              <a:rPr lang="en-US" sz="1100">
                <a:ea typeface="+mn-lt"/>
                <a:cs typeface="+mn-lt"/>
              </a:rPr>
              <a:t>Implemented proper isolation, scaling capabilities, and resilience</a:t>
            </a:r>
            <a:endParaRPr lang="en-US" sz="1100">
              <a:cs typeface="Arial"/>
            </a:endParaRPr>
          </a:p>
          <a:p>
            <a:pPr>
              <a:buFont typeface="Wingdings"/>
            </a:pPr>
            <a:r>
              <a:rPr lang="en-US" sz="1100">
                <a:ea typeface="+mn-lt"/>
                <a:cs typeface="+mn-lt"/>
              </a:rPr>
              <a:t>Deployed multiple communication protocols (sync HTTP, RPC, async AMQP) optimized for specific use cases</a:t>
            </a:r>
          </a:p>
          <a:p>
            <a:pPr marL="0" indent="0">
              <a:buNone/>
            </a:pPr>
            <a:r>
              <a:rPr lang="en-US" sz="1100" b="1">
                <a:ea typeface="+mn-lt"/>
                <a:cs typeface="+mn-lt"/>
              </a:rPr>
              <a:t>Performance Engineering</a:t>
            </a:r>
            <a:endParaRPr lang="en-US" sz="1100">
              <a:cs typeface="Arial"/>
            </a:endParaRPr>
          </a:p>
          <a:p>
            <a:pPr>
              <a:buFont typeface="Wingdings"/>
              <a:buChar char="£"/>
            </a:pPr>
            <a:r>
              <a:rPr lang="en-US" sz="1100">
                <a:ea typeface="+mn-lt"/>
                <a:cs typeface="+mn-lt"/>
              </a:rPr>
              <a:t>Created back-pressure mechanisms to prevent service exhaustion</a:t>
            </a:r>
            <a:endParaRPr lang="en-US" sz="1100">
              <a:cs typeface="Arial"/>
            </a:endParaRPr>
          </a:p>
          <a:p>
            <a:pPr>
              <a:buFont typeface="Wingdings"/>
            </a:pPr>
            <a:r>
              <a:rPr lang="en-US" sz="1100">
                <a:ea typeface="+mn-lt"/>
                <a:cs typeface="+mn-lt"/>
              </a:rPr>
              <a:t>Implemented isolation bulkheads and timeout mechanisms</a:t>
            </a:r>
            <a:endParaRPr lang="en-US" sz="1100">
              <a:cs typeface="Arial"/>
            </a:endParaRPr>
          </a:p>
          <a:p>
            <a:pPr>
              <a:buFont typeface="Wingdings"/>
            </a:pPr>
            <a:r>
              <a:rPr lang="en-US" sz="1100">
                <a:ea typeface="+mn-lt"/>
                <a:cs typeface="+mn-lt"/>
              </a:rPr>
              <a:t>Engineered solutions to handle slow downstream services and prevent system degradation</a:t>
            </a:r>
            <a:endParaRPr lang="en-US" sz="1100">
              <a:cs typeface="Arial"/>
            </a:endParaRPr>
          </a:p>
          <a:p>
            <a:pPr indent="0">
              <a:buNone/>
            </a:pPr>
            <a:endParaRPr lang="en-US" sz="1100" b="1">
              <a:cs typeface="Arial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2D9D150-C224-6352-2D48-934C1E616B61}"/>
              </a:ext>
            </a:extLst>
          </p:cNvPr>
          <p:cNvSpPr txBox="1">
            <a:spLocks/>
          </p:cNvSpPr>
          <p:nvPr/>
        </p:nvSpPr>
        <p:spPr>
          <a:xfrm>
            <a:off x="6099285" y="1636897"/>
            <a:ext cx="5251230" cy="4482234"/>
          </a:xfrm>
          <a:prstGeom prst="rect">
            <a:avLst/>
          </a:prstGeom>
          <a:effectLst/>
        </p:spPr>
        <p:txBody>
          <a:bodyPr vert="horz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3"/>
              </a:buClr>
              <a:buSzPct val="75000"/>
              <a:buFont typeface="Wingdings" panose="05000000000000000000" pitchFamily="2" charset="2"/>
              <a:buChar char="£"/>
              <a:tabLst>
                <a:tab pos="6456363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400" b="1"/>
              <a:t>Business Impact</a:t>
            </a:r>
            <a:endParaRPr lang="en-US">
              <a:cs typeface="Arial" panose="020B0604020202020204"/>
            </a:endParaRPr>
          </a:p>
          <a:p>
            <a:pPr>
              <a:buFont typeface="Wingdings"/>
            </a:pPr>
            <a:r>
              <a:rPr lang="en-US" sz="1100" b="1">
                <a:ea typeface="+mn-lt"/>
                <a:cs typeface="+mn-lt"/>
              </a:rPr>
              <a:t>Enhanced performance</a:t>
            </a:r>
            <a:r>
              <a:rPr lang="en-US" sz="1100">
                <a:ea typeface="+mn-lt"/>
                <a:cs typeface="+mn-lt"/>
              </a:rPr>
              <a:t> capable of handling millions of daily transactions</a:t>
            </a:r>
          </a:p>
          <a:p>
            <a:pPr>
              <a:buFont typeface="Wingdings"/>
            </a:pPr>
            <a:r>
              <a:rPr lang="en-US" sz="1100" b="1">
                <a:ea typeface="+mn-lt"/>
                <a:cs typeface="+mn-lt"/>
              </a:rPr>
              <a:t>Improved scalability</a:t>
            </a:r>
            <a:r>
              <a:rPr lang="en-US" sz="1100">
                <a:ea typeface="+mn-lt"/>
                <a:cs typeface="+mn-lt"/>
              </a:rPr>
              <a:t> supporting continued client base growth</a:t>
            </a:r>
            <a:endParaRPr lang="en-US" sz="1100">
              <a:cs typeface="Arial"/>
            </a:endParaRPr>
          </a:p>
          <a:p>
            <a:pPr>
              <a:buFont typeface="Wingdings"/>
            </a:pPr>
            <a:r>
              <a:rPr lang="en-US" sz="1100" b="1">
                <a:ea typeface="+mn-lt"/>
                <a:cs typeface="+mn-lt"/>
              </a:rPr>
              <a:t>Increased resilience</a:t>
            </a:r>
            <a:r>
              <a:rPr lang="en-US" sz="1100">
                <a:ea typeface="+mn-lt"/>
                <a:cs typeface="+mn-lt"/>
              </a:rPr>
              <a:t> with fault-tolerant architecture</a:t>
            </a:r>
            <a:endParaRPr lang="en-US" sz="1100">
              <a:cs typeface="Arial"/>
            </a:endParaRPr>
          </a:p>
          <a:p>
            <a:pPr>
              <a:buFont typeface="Wingdings"/>
            </a:pPr>
            <a:r>
              <a:rPr lang="en-US" sz="1100" b="1">
                <a:ea typeface="+mn-lt"/>
                <a:cs typeface="+mn-lt"/>
              </a:rPr>
              <a:t>Organization-wide standards</a:t>
            </a:r>
            <a:r>
              <a:rPr lang="en-US" sz="1100">
                <a:ea typeface="+mn-lt"/>
                <a:cs typeface="+mn-lt"/>
              </a:rPr>
              <a:t> with exportable solutions, documentation, and best practices for microservices development</a:t>
            </a:r>
            <a:endParaRPr lang="en-US" sz="1100">
              <a:cs typeface="Arial"/>
            </a:endParaRPr>
          </a:p>
          <a:p>
            <a:pPr>
              <a:buFont typeface="Wingdings"/>
            </a:pPr>
            <a:r>
              <a:rPr lang="en-US" sz="1100" b="1">
                <a:cs typeface="Arial"/>
              </a:rPr>
              <a:t>Future-ready platform</a:t>
            </a:r>
            <a:r>
              <a:rPr lang="en-US" sz="1100">
                <a:cs typeface="Arial"/>
              </a:rPr>
              <a:t> enabling seamless digital banking </a:t>
            </a:r>
            <a:r>
              <a:rPr lang="en-US" sz="1100">
                <a:ea typeface="+mn-lt"/>
                <a:cs typeface="+mn-lt"/>
              </a:rPr>
              <a:t>experiences</a:t>
            </a:r>
          </a:p>
          <a:p>
            <a:pPr>
              <a:buFont typeface="Wingdings"/>
              <a:buChar char="£"/>
            </a:pPr>
            <a:endParaRPr lang="en-US" sz="11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100" b="1">
                <a:ea typeface="+mn-lt"/>
                <a:cs typeface="+mn-lt"/>
              </a:rPr>
              <a:t>Client:</a:t>
            </a:r>
            <a:r>
              <a:rPr lang="en-US" sz="1100">
                <a:ea typeface="+mn-lt"/>
                <a:cs typeface="+mn-lt"/>
              </a:rPr>
              <a:t> Leading provider of digital transaction and marketing tools for financial institutions</a:t>
            </a:r>
            <a:endParaRPr lang="en-US" sz="1100">
              <a:cs typeface="Arial"/>
            </a:endParaRPr>
          </a:p>
          <a:p>
            <a:pPr marL="0" indent="0">
              <a:buNone/>
            </a:pPr>
            <a:r>
              <a:rPr lang="en-US" sz="1100" b="1">
                <a:ea typeface="+mn-lt"/>
                <a:cs typeface="+mn-lt"/>
              </a:rPr>
              <a:t>Scope:</a:t>
            </a:r>
            <a:r>
              <a:rPr lang="en-US" sz="1100">
                <a:ea typeface="+mn-lt"/>
                <a:cs typeface="+mn-lt"/>
              </a:rPr>
              <a:t> Architectural redesign, tech stack modernization, and microservices migration</a:t>
            </a:r>
            <a:endParaRPr lang="en-US" sz="1100">
              <a:cs typeface="Arial"/>
            </a:endParaRPr>
          </a:p>
          <a:p>
            <a:pPr>
              <a:buNone/>
            </a:pPr>
            <a:r>
              <a:rPr lang="en-US" sz="1100">
                <a:ea typeface="+mn-lt"/>
                <a:cs typeface="+mn-lt"/>
                <a:hlinkClick r:id="rId2"/>
              </a:rPr>
              <a:t>Read Full Case Study →</a:t>
            </a:r>
            <a:endParaRPr lang="en-US" sz="1100">
              <a:cs typeface="Arial"/>
              <a:hlinkClick r:id="" action="ppaction://noaction"/>
            </a:endParaRPr>
          </a:p>
          <a:p>
            <a:pPr marL="0" indent="0">
              <a:buNone/>
            </a:pPr>
            <a:endParaRPr lang="en-US" sz="1100" b="1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07805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41BE7-E465-22E3-FDD1-59E301C36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3402A-07DF-F895-454A-EF2620825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9001"/>
            <a:ext cx="9504252" cy="1149407"/>
          </a:xfrm>
        </p:spPr>
        <p:txBody>
          <a:bodyPr/>
          <a:lstStyle/>
          <a:p>
            <a:r>
              <a:rPr lang="en-US" b="0"/>
              <a:t>Customer Story: Cloud Platform Delivers Innovative Simulations for Kongsberg</a:t>
            </a:r>
            <a:endParaRPr lang="en-US" b="0">
              <a:cs typeface="Arial"/>
            </a:endParaRPr>
          </a:p>
          <a:p>
            <a:endParaRPr lang="en-US" b="0">
              <a:cs typeface="Arial"/>
            </a:endParaRPr>
          </a:p>
          <a:p>
            <a:endParaRPr lang="en-US" b="0">
              <a:ea typeface="+mj-lt"/>
              <a:cs typeface="+mj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801446-1C36-EED2-7E20-E56A157DBA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3</a:t>
            </a:fld>
            <a:endParaRPr lang="en-P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04D099-0DDE-7FA3-24AE-E6552BD6B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2" y="1635125"/>
            <a:ext cx="5251230" cy="4482234"/>
          </a:xfrm>
        </p:spPr>
        <p:txBody>
          <a:bodyPr vert="horz" lIns="0" tIns="0" rIns="0" bIns="0" rtlCol="0" anchor="t">
            <a:noAutofit/>
          </a:bodyPr>
          <a:lstStyle/>
          <a:p>
            <a:pPr>
              <a:buNone/>
            </a:pPr>
            <a:r>
              <a:rPr lang="en-US" sz="1400" b="1"/>
              <a:t>The Challenge</a:t>
            </a:r>
            <a:endParaRPr lang="en-US" sz="1400" b="1">
              <a:cs typeface="Arial"/>
            </a:endParaRPr>
          </a:p>
          <a:p>
            <a:pPr>
              <a:buFont typeface="Wingdings"/>
            </a:pPr>
            <a:r>
              <a:rPr lang="en-US" sz="1100" b="1">
                <a:ea typeface="+mn-lt"/>
                <a:cs typeface="+mn-lt"/>
              </a:rPr>
              <a:t>30-year-old simulator software</a:t>
            </a:r>
            <a:r>
              <a:rPr lang="en-US" sz="1100">
                <a:ea typeface="+mn-lt"/>
                <a:cs typeface="+mn-lt"/>
              </a:rPr>
              <a:t> not designed for cloud environments</a:t>
            </a:r>
          </a:p>
          <a:p>
            <a:pPr>
              <a:buFont typeface="Wingdings"/>
            </a:pPr>
            <a:r>
              <a:rPr lang="en-US" sz="1100">
                <a:ea typeface="+mn-lt"/>
                <a:cs typeface="+mn-lt"/>
              </a:rPr>
              <a:t>Need to enable </a:t>
            </a:r>
            <a:r>
              <a:rPr lang="en-US" sz="1100" b="1">
                <a:ea typeface="+mn-lt"/>
                <a:cs typeface="+mn-lt"/>
              </a:rPr>
              <a:t>on-demand, online simulations</a:t>
            </a:r>
            <a:r>
              <a:rPr lang="en-US" sz="1100">
                <a:ea typeface="+mn-lt"/>
                <a:cs typeface="+mn-lt"/>
              </a:rPr>
              <a:t> for global training institutes</a:t>
            </a:r>
          </a:p>
          <a:p>
            <a:pPr>
              <a:buFont typeface="Wingdings"/>
            </a:pPr>
            <a:r>
              <a:rPr lang="en-US" sz="1100">
                <a:ea typeface="+mn-lt"/>
                <a:cs typeface="+mn-lt"/>
              </a:rPr>
              <a:t>Required </a:t>
            </a:r>
            <a:r>
              <a:rPr lang="en-US" sz="1100" b="1">
                <a:ea typeface="+mn-lt"/>
                <a:cs typeface="+mn-lt"/>
              </a:rPr>
              <a:t>cloud-native architecture</a:t>
            </a:r>
            <a:r>
              <a:rPr lang="en-US" sz="1100">
                <a:ea typeface="+mn-lt"/>
                <a:cs typeface="+mn-lt"/>
              </a:rPr>
              <a:t> to unlock new innovation opportunities</a:t>
            </a:r>
          </a:p>
          <a:p>
            <a:pPr>
              <a:buFont typeface="Wingdings"/>
            </a:pPr>
            <a:r>
              <a:rPr lang="en-US" sz="1100">
                <a:ea typeface="+mn-lt"/>
                <a:cs typeface="+mn-lt"/>
              </a:rPr>
              <a:t>Need to support </a:t>
            </a:r>
            <a:r>
              <a:rPr lang="en-US" sz="1100" b="1">
                <a:ea typeface="+mn-lt"/>
                <a:cs typeface="+mn-lt"/>
              </a:rPr>
              <a:t>remote engineering teams</a:t>
            </a:r>
            <a:r>
              <a:rPr lang="en-US" sz="1100">
                <a:ea typeface="+mn-lt"/>
                <a:cs typeface="+mn-lt"/>
              </a:rPr>
              <a:t> across multiple global locations</a:t>
            </a:r>
          </a:p>
          <a:p>
            <a:pPr marL="0" indent="0">
              <a:buNone/>
            </a:pPr>
            <a:r>
              <a:rPr lang="en-US" sz="1400" b="1"/>
              <a:t>The Solution: Azure Cloud Migration &amp; Modernization</a:t>
            </a:r>
            <a:endParaRPr lang="en-US" sz="1400" b="1">
              <a:cs typeface="Arial"/>
            </a:endParaRPr>
          </a:p>
          <a:p>
            <a:pPr>
              <a:buNone/>
            </a:pPr>
            <a:r>
              <a:rPr lang="en-US" sz="1100" b="1">
                <a:ea typeface="+mn-lt"/>
                <a:cs typeface="+mn-lt"/>
              </a:rPr>
              <a:t>Cloud-Ready Transformation</a:t>
            </a:r>
            <a:endParaRPr lang="en-US" sz="1100">
              <a:ea typeface="+mn-lt"/>
              <a:cs typeface="+mn-lt"/>
            </a:endParaRPr>
          </a:p>
          <a:p>
            <a:pPr>
              <a:buFont typeface="Wingdings"/>
              <a:buChar char="£"/>
            </a:pPr>
            <a:r>
              <a:rPr lang="en-US" sz="1100">
                <a:ea typeface="+mn-lt"/>
                <a:cs typeface="+mn-lt"/>
              </a:rPr>
              <a:t>Migrated legacy simulator platform to </a:t>
            </a:r>
            <a:r>
              <a:rPr lang="en-US" sz="1100" b="1">
                <a:ea typeface="+mn-lt"/>
                <a:cs typeface="+mn-lt"/>
              </a:rPr>
              <a:t>Microsoft Azure</a:t>
            </a:r>
            <a:endParaRPr lang="en-US" sz="1100">
              <a:ea typeface="+mn-lt"/>
              <a:cs typeface="+mn-lt"/>
            </a:endParaRPr>
          </a:p>
          <a:p>
            <a:pPr>
              <a:buFont typeface="Wingdings"/>
            </a:pPr>
            <a:r>
              <a:rPr lang="en-US" sz="1100">
                <a:ea typeface="+mn-lt"/>
                <a:cs typeface="+mn-lt"/>
              </a:rPr>
              <a:t>Redesigned application architecture for </a:t>
            </a:r>
            <a:r>
              <a:rPr lang="en-US" sz="1100" b="1">
                <a:ea typeface="+mn-lt"/>
                <a:cs typeface="+mn-lt"/>
              </a:rPr>
              <a:t>cloud-native operations</a:t>
            </a:r>
            <a:endParaRPr lang="en-US" sz="1100">
              <a:ea typeface="+mn-lt"/>
              <a:cs typeface="+mn-lt"/>
            </a:endParaRPr>
          </a:p>
          <a:p>
            <a:pPr>
              <a:buFont typeface="Wingdings"/>
            </a:pPr>
            <a:r>
              <a:rPr lang="en-US" sz="1100">
                <a:ea typeface="+mn-lt"/>
                <a:cs typeface="+mn-lt"/>
              </a:rPr>
              <a:t>Built custom software solutions to address compatibility challenges</a:t>
            </a:r>
          </a:p>
          <a:p>
            <a:pPr>
              <a:buFont typeface="Wingdings"/>
            </a:pPr>
            <a:r>
              <a:rPr lang="en-US" sz="1100">
                <a:ea typeface="+mn-lt"/>
                <a:cs typeface="+mn-lt"/>
              </a:rPr>
              <a:t>Ensured seamless functionality in cloud environment</a:t>
            </a:r>
          </a:p>
          <a:p>
            <a:pPr marL="0" indent="0">
              <a:buNone/>
            </a:pPr>
            <a:r>
              <a:rPr lang="en-US" sz="1100" b="1">
                <a:ea typeface="+mn-lt"/>
                <a:cs typeface="+mn-lt"/>
              </a:rPr>
              <a:t>DevOps &amp; Remote Engineering Excellence</a:t>
            </a:r>
            <a:endParaRPr lang="en-US" sz="1100">
              <a:ea typeface="+mn-lt"/>
              <a:cs typeface="+mn-lt"/>
            </a:endParaRPr>
          </a:p>
          <a:p>
            <a:pPr>
              <a:buFont typeface="Wingdings"/>
            </a:pPr>
            <a:r>
              <a:rPr lang="en-US" sz="1100">
                <a:ea typeface="+mn-lt"/>
                <a:cs typeface="+mn-lt"/>
              </a:rPr>
              <a:t>Implemented DevOps practices for global team collaboration</a:t>
            </a:r>
          </a:p>
          <a:p>
            <a:pPr>
              <a:buFont typeface="Wingdings"/>
            </a:pPr>
            <a:r>
              <a:rPr lang="en-US" sz="1100">
                <a:ea typeface="+mn-lt"/>
                <a:cs typeface="+mn-lt"/>
              </a:rPr>
              <a:t>Established Agile workflows with daily Scrum stand-ups</a:t>
            </a:r>
          </a:p>
          <a:p>
            <a:pPr>
              <a:buFont typeface="Wingdings"/>
            </a:pPr>
            <a:r>
              <a:rPr lang="en-US" sz="1100">
                <a:ea typeface="+mn-lt"/>
                <a:cs typeface="+mn-lt"/>
              </a:rPr>
              <a:t>Enabled smooth operations across distributed teams worldwide</a:t>
            </a:r>
          </a:p>
          <a:p>
            <a:pPr indent="0">
              <a:buNone/>
            </a:pPr>
            <a:endParaRPr lang="en-US" sz="1100">
              <a:ea typeface="+mn-lt"/>
              <a:cs typeface="+mn-lt"/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67DBEBC9-48DF-4DD5-0B6A-5FDC9C1DC699}"/>
              </a:ext>
            </a:extLst>
          </p:cNvPr>
          <p:cNvSpPr txBox="1">
            <a:spLocks/>
          </p:cNvSpPr>
          <p:nvPr/>
        </p:nvSpPr>
        <p:spPr>
          <a:xfrm>
            <a:off x="6099285" y="1636897"/>
            <a:ext cx="5251230" cy="4482234"/>
          </a:xfrm>
          <a:prstGeom prst="rect">
            <a:avLst/>
          </a:prstGeom>
          <a:effectLst/>
        </p:spPr>
        <p:txBody>
          <a:bodyPr vert="horz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3"/>
              </a:buClr>
              <a:buSzPct val="75000"/>
              <a:buFont typeface="Wingdings" panose="05000000000000000000" pitchFamily="2" charset="2"/>
              <a:buChar char="£"/>
              <a:tabLst>
                <a:tab pos="6456363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>
                <a:cs typeface="Arial"/>
              </a:rPr>
              <a:t>Business Impact</a:t>
            </a:r>
            <a:endParaRPr lang="en-US" b="1">
              <a:cs typeface="Arial" panose="020B0604020202020204"/>
            </a:endParaRPr>
          </a:p>
          <a:p>
            <a:pPr>
              <a:buFont typeface="Wingdings,Sans-Serif"/>
              <a:buChar char="£"/>
            </a:pPr>
            <a:r>
              <a:rPr lang="en-US" sz="1100" b="1">
                <a:cs typeface="Arial"/>
              </a:rPr>
              <a:t>New revenue streams</a:t>
            </a:r>
            <a:r>
              <a:rPr lang="en-US" sz="1100">
                <a:cs typeface="Arial"/>
              </a:rPr>
              <a:t> through on-demand, cloud-based simulations</a:t>
            </a:r>
          </a:p>
          <a:p>
            <a:pPr>
              <a:buFont typeface="Wingdings,Sans-Serif"/>
              <a:buChar char="£"/>
            </a:pPr>
            <a:r>
              <a:rPr lang="en-US" sz="1100" b="1">
                <a:cs typeface="Arial"/>
              </a:rPr>
              <a:t>Enhanced remote engineering capabilities</a:t>
            </a:r>
            <a:r>
              <a:rPr lang="en-US" sz="1100">
                <a:cs typeface="Arial"/>
              </a:rPr>
              <a:t> enabling better talent acquisition</a:t>
            </a:r>
          </a:p>
          <a:p>
            <a:pPr>
              <a:buFont typeface="Wingdings,Sans-Serif"/>
              <a:buChar char="£"/>
            </a:pPr>
            <a:r>
              <a:rPr lang="en-US" sz="1100" b="1">
                <a:cs typeface="Arial"/>
              </a:rPr>
              <a:t>Global teamwork</a:t>
            </a:r>
            <a:r>
              <a:rPr lang="en-US" sz="1100">
                <a:cs typeface="Arial"/>
              </a:rPr>
              <a:t> with seamless collaboration across locations</a:t>
            </a:r>
          </a:p>
          <a:p>
            <a:pPr>
              <a:buFont typeface="Wingdings,Sans-Serif"/>
              <a:buChar char="£"/>
            </a:pPr>
            <a:r>
              <a:rPr lang="en-US" sz="1100" b="1">
                <a:cs typeface="Arial"/>
              </a:rPr>
              <a:t>Future-ready platform</a:t>
            </a:r>
            <a:r>
              <a:rPr lang="en-US" sz="1100">
                <a:cs typeface="Arial"/>
              </a:rPr>
              <a:t> positioned for ongoing innovation and new simulation types</a:t>
            </a:r>
          </a:p>
          <a:p>
            <a:pPr>
              <a:buFont typeface="Wingdings,Sans-Serif"/>
              <a:buChar char="£"/>
            </a:pPr>
            <a:r>
              <a:rPr lang="en-US" sz="1100" b="1">
                <a:cs typeface="Arial"/>
              </a:rPr>
              <a:t>Scalable solution</a:t>
            </a:r>
            <a:r>
              <a:rPr lang="en-US" sz="1100">
                <a:cs typeface="Arial"/>
              </a:rPr>
              <a:t> serving naval academies and training institutes worldwide</a:t>
            </a:r>
          </a:p>
          <a:p>
            <a:pPr indent="0">
              <a:buNone/>
            </a:pPr>
            <a:endParaRPr lang="en-US" sz="1400">
              <a:cs typeface="Arial"/>
            </a:endParaRPr>
          </a:p>
          <a:p>
            <a:pPr>
              <a:buNone/>
            </a:pPr>
            <a:endParaRPr lang="en-US" sz="1400">
              <a:cs typeface="Arial"/>
            </a:endParaRPr>
          </a:p>
          <a:p>
            <a:pPr>
              <a:buNone/>
            </a:pPr>
            <a:r>
              <a:rPr lang="en-US" sz="1100" b="1">
                <a:cs typeface="Arial"/>
              </a:rPr>
              <a:t>Client:</a:t>
            </a:r>
            <a:r>
              <a:rPr lang="en-US" sz="1100">
                <a:cs typeface="Arial"/>
              </a:rPr>
              <a:t> Kongsberg Digital (part of Kongsberg Group - 11,000+ employees)</a:t>
            </a:r>
          </a:p>
          <a:p>
            <a:pPr>
              <a:buNone/>
            </a:pPr>
            <a:r>
              <a:rPr lang="en-US" sz="1100" b="1">
                <a:cs typeface="Arial"/>
              </a:rPr>
              <a:t>Industry:</a:t>
            </a:r>
            <a:r>
              <a:rPr lang="en-US" sz="1100">
                <a:cs typeface="Arial"/>
              </a:rPr>
              <a:t> Maritime technology, defense, aerospace, energy</a:t>
            </a:r>
          </a:p>
          <a:p>
            <a:pPr>
              <a:buNone/>
            </a:pPr>
            <a:r>
              <a:rPr lang="en-US" sz="1100" b="1">
                <a:cs typeface="Arial"/>
              </a:rPr>
              <a:t>Platform:</a:t>
            </a:r>
            <a:r>
              <a:rPr lang="en-US" sz="1100">
                <a:cs typeface="Arial"/>
              </a:rPr>
              <a:t> Microsoft Azure</a:t>
            </a:r>
          </a:p>
          <a:p>
            <a:pPr>
              <a:buNone/>
            </a:pPr>
            <a:r>
              <a:rPr lang="en-US" sz="1100">
                <a:cs typeface="Arial"/>
                <a:hlinkClick r:id="rId2"/>
              </a:rPr>
              <a:t>Read Full Case Study →</a:t>
            </a:r>
            <a:endParaRPr lang="en-US" sz="1100">
              <a:cs typeface="Arial"/>
            </a:endParaRPr>
          </a:p>
          <a:p>
            <a:pPr>
              <a:buNone/>
            </a:pPr>
            <a:endParaRPr lang="en-US" sz="1100">
              <a:cs typeface="Arial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400" b="1">
              <a:cs typeface="Arial"/>
            </a:endParaRPr>
          </a:p>
        </p:txBody>
      </p:sp>
      <p:pic>
        <p:nvPicPr>
          <p:cNvPr id="13" name="Picture 1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C9A24532-555D-1A0F-0FDC-05D75C53F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525" y="5957305"/>
            <a:ext cx="3343275" cy="620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868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AB178B1C63764FB69DC687AF91F3C3" ma:contentTypeVersion="14" ma:contentTypeDescription="Een nieuw document maken." ma:contentTypeScope="" ma:versionID="34baedd750c5ac2de39e17369f75ff4a">
  <xsd:schema xmlns:xsd="http://www.w3.org/2001/XMLSchema" xmlns:xs="http://www.w3.org/2001/XMLSchema" xmlns:p="http://schemas.microsoft.com/office/2006/metadata/properties" xmlns:ns2="c559e707-c4dc-481c-8f20-1390d9b1763d" xmlns:ns3="20a0acd5-61c4-4018-b951-c082e5b75858" targetNamespace="http://schemas.microsoft.com/office/2006/metadata/properties" ma:root="true" ma:fieldsID="94b6d483c48ce3ecd8a1cc1f7c9283d7" ns2:_="" ns3:_="">
    <xsd:import namespace="c559e707-c4dc-481c-8f20-1390d9b1763d"/>
    <xsd:import namespace="20a0acd5-61c4-4018-b951-c082e5b758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9e707-c4dc-481c-8f20-1390d9b176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Afbeeldingtags" ma:readOnly="false" ma:fieldId="{5cf76f15-5ced-4ddc-b409-7134ff3c332f}" ma:taxonomyMulti="true" ma:sspId="28eca5aa-3823-4333-92a0-adf3de86d96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a0acd5-61c4-4018-b951-c082e5b75858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426fe27f-2603-4c92-a102-685a412d01be}" ma:internalName="TaxCatchAll" ma:showField="CatchAllData" ma:web="20a0acd5-61c4-4018-b951-c082e5b758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0a0acd5-61c4-4018-b951-c082e5b75858" xsi:nil="true"/>
    <lcf76f155ced4ddcb4097134ff3c332f xmlns="c559e707-c4dc-481c-8f20-1390d9b1763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B844F17-B231-4B4C-8ED9-8D707BE94D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59e707-c4dc-481c-8f20-1390d9b1763d"/>
    <ds:schemaRef ds:uri="20a0acd5-61c4-4018-b951-c082e5b758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BEFC016-5D85-4646-9EAF-B18469F2D3C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22B0333-065A-47C7-B3CD-D45EC2BD0A32}">
  <ds:schemaRefs>
    <ds:schemaRef ds:uri="http://schemas.microsoft.com/office/2006/metadata/properties"/>
    <ds:schemaRef ds:uri="http://schemas.microsoft.com/office/infopath/2007/PartnerControls"/>
    <ds:schemaRef ds:uri="20a0acd5-61c4-4018-b951-c082e5b75858"/>
    <ds:schemaRef ds:uri="c559e707-c4dc-481c-8f20-1390d9b1763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Customer Story: Dutch Plant Protection Board Breathes New Life into Old System </vt:lpstr>
      <vt:lpstr>Customer Story: Modernizing Core Banking Technology Infrastructure </vt:lpstr>
      <vt:lpstr>Customer Story: Cloud Platform Delivers Innovative Simulations for Kongsberg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2026-01-23T14:12:28Z</dcterms:created>
  <dcterms:modified xsi:type="dcterms:W3CDTF">2026-01-23T14:13:29Z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0x01010038AB178B1C63764FB69DC687AF91F3C3</vt:lpwstr>
  </property>
  <property fmtid="{D5CDD505-2E9C-101B-9397-08002B2CF9AE}" pid="3" name="MediaServiceImageTags">
    <vt:lpwstr/>
  </property>
</Properties>
</file>