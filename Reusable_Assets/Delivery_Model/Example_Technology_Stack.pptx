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64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8F0101-25D2-95D2-A13A-73DFD21C501B}" v="2" dt="2026-01-23T11:28:09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F78F0101-25D2-95D2-A13A-73DFD21C501B}"/>
    <pc:docChg chg="addSld delSld">
      <pc:chgData name="George Sereda" userId="S::george.sereda@xebia.com::5e824fc6-3a6a-482b-8597-f9374fb4b421" providerId="AD" clId="Web-{F78F0101-25D2-95D2-A13A-73DFD21C501B}" dt="2026-01-23T11:28:09.350" v="1"/>
      <pc:docMkLst>
        <pc:docMk/>
      </pc:docMkLst>
      <pc:sldChg chg="del">
        <pc:chgData name="George Sereda" userId="S::george.sereda@xebia.com::5e824fc6-3a6a-482b-8597-f9374fb4b421" providerId="AD" clId="Web-{F78F0101-25D2-95D2-A13A-73DFD21C501B}" dt="2026-01-23T11:28:09.350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F78F0101-25D2-95D2-A13A-73DFD21C501B}" dt="2026-01-23T11:28:06.178" v="0"/>
        <pc:sldMkLst>
          <pc:docMk/>
          <pc:sldMk cId="196296473" sldId="2147483643"/>
        </pc:sldMkLst>
      </pc:sldChg>
      <pc:sldMasterChg chg="addSldLayout">
        <pc:chgData name="George Sereda" userId="S::george.sereda@xebia.com::5e824fc6-3a6a-482b-8597-f9374fb4b421" providerId="AD" clId="Web-{F78F0101-25D2-95D2-A13A-73DFD21C501B}" dt="2026-01-23T11:28:06.178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F78F0101-25D2-95D2-A13A-73DFD21C501B}" dt="2026-01-23T11:28:06.178" v="0"/>
          <pc:sldLayoutMkLst>
            <pc:docMk/>
            <pc:sldMasterMk cId="2460954070" sldId="2147483660"/>
            <pc:sldLayoutMk cId="149418275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4941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2BD80-15B5-72DB-5F15-6CA7282F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5A2067-4277-0504-5801-4613CF11404A}"/>
              </a:ext>
            </a:extLst>
          </p:cNvPr>
          <p:cNvSpPr>
            <a:spLocks noGrp="1"/>
          </p:cNvSpPr>
          <p:nvPr>
            <p:ph type="body" idx="106"/>
          </p:nvPr>
        </p:nvSpPr>
        <p:spPr>
          <a:xfrm>
            <a:off x="418400" y="408054"/>
            <a:ext cx="7513108" cy="232628"/>
          </a:xfrm>
        </p:spPr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05EDCD-C6DD-4A31-9CB2-5A035082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8BDB6-8DC3-B54D-6B05-D98C921DC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E7CE9CEB-B9DE-C170-BDD0-29B554FEB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Technology suggestions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59A7C-9A9F-641D-EC36-F0F79812C008}"/>
              </a:ext>
            </a:extLst>
          </p:cNvPr>
          <p:cNvSpPr txBox="1"/>
          <p:nvPr/>
        </p:nvSpPr>
        <p:spPr>
          <a:xfrm>
            <a:off x="528320" y="1805453"/>
            <a:ext cx="58724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1">
                <a:solidFill>
                  <a:schemeClr val="accent6"/>
                </a:solidFill>
              </a:rPr>
              <a:t>Development Languages:</a:t>
            </a:r>
            <a:endParaRPr lang="en-US" sz="1400" noProof="1">
              <a:solidFill>
                <a:schemeClr val="accent6"/>
              </a:solidFill>
            </a:endParaRPr>
          </a:p>
          <a:p>
            <a:r>
              <a:rPr lang="en-US" sz="1400" noProof="1">
                <a:solidFill>
                  <a:schemeClr val="accent6"/>
                </a:solidFill>
              </a:rPr>
              <a:t>Python and/or Kotlin for core development</a:t>
            </a:r>
          </a:p>
          <a:p>
            <a:endParaRPr lang="en-US" sz="1400" noProof="1">
              <a:solidFill>
                <a:schemeClr val="accent6"/>
              </a:solidFill>
            </a:endParaRPr>
          </a:p>
          <a:p>
            <a:r>
              <a:rPr lang="en-US" sz="1400" b="1" noProof="1">
                <a:solidFill>
                  <a:schemeClr val="accent6"/>
                </a:solidFill>
              </a:rPr>
              <a:t>Frameworks:</a:t>
            </a:r>
            <a:endParaRPr lang="en-US" sz="1400" noProof="1">
              <a:solidFill>
                <a:schemeClr val="accent6"/>
              </a:solidFill>
            </a:endParaRPr>
          </a:p>
          <a:p>
            <a:r>
              <a:rPr lang="en-US" sz="1400" b="1" noProof="1">
                <a:solidFill>
                  <a:schemeClr val="accent6"/>
                </a:solidFill>
              </a:rPr>
              <a:t>Frontend</a:t>
            </a:r>
            <a:r>
              <a:rPr lang="en-US" sz="1400" noProof="1">
                <a:solidFill>
                  <a:schemeClr val="accent6"/>
                </a:solidFill>
              </a:rPr>
              <a:t>: React static web app</a:t>
            </a:r>
          </a:p>
          <a:p>
            <a:r>
              <a:rPr lang="en-US" sz="1400" b="1" noProof="1">
                <a:solidFill>
                  <a:schemeClr val="accent6"/>
                </a:solidFill>
              </a:rPr>
              <a:t>Backend</a:t>
            </a:r>
            <a:r>
              <a:rPr lang="en-US" sz="1400" noProof="1">
                <a:solidFill>
                  <a:schemeClr val="accent6"/>
                </a:solidFill>
              </a:rPr>
              <a:t>: Spring Boot</a:t>
            </a:r>
          </a:p>
          <a:p>
            <a:endParaRPr lang="en-US" sz="1400" noProof="1">
              <a:solidFill>
                <a:schemeClr val="accent6"/>
              </a:solidFill>
            </a:endParaRPr>
          </a:p>
          <a:p>
            <a:r>
              <a:rPr lang="en-US" sz="1400" b="1" noProof="1">
                <a:solidFill>
                  <a:schemeClr val="accent6"/>
                </a:solidFill>
              </a:rPr>
              <a:t>Database:</a:t>
            </a:r>
            <a:endParaRPr lang="en-US" sz="1400" noProof="1">
              <a:solidFill>
                <a:schemeClr val="accent6"/>
              </a:solidFill>
            </a:endParaRPr>
          </a:p>
          <a:p>
            <a:r>
              <a:rPr lang="en-US" sz="1400" noProof="1">
                <a:solidFill>
                  <a:schemeClr val="accent6"/>
                </a:solidFill>
              </a:rPr>
              <a:t>TimescaleDB (time-series optimized, PostgreSQL-based)</a:t>
            </a:r>
          </a:p>
          <a:p>
            <a:pPr lvl="1"/>
            <a:r>
              <a:rPr lang="en-US" sz="1400" noProof="1">
                <a:solidFill>
                  <a:schemeClr val="accent6"/>
                </a:solidFill>
              </a:rPr>
              <a:t>Handles 100,000+ writes per second</a:t>
            </a:r>
          </a:p>
          <a:p>
            <a:pPr lvl="1"/>
            <a:r>
              <a:rPr lang="en-US" sz="1400" noProof="1">
                <a:solidFill>
                  <a:schemeClr val="accent6"/>
                </a:solidFill>
              </a:rPr>
              <a:t>Features: hypertables, automatic partitioning, time-series indexes</a:t>
            </a:r>
          </a:p>
          <a:p>
            <a:pPr lvl="1"/>
            <a:endParaRPr lang="en-US" sz="1400" noProof="1">
              <a:solidFill>
                <a:schemeClr val="accent6"/>
              </a:solidFill>
            </a:endParaRPr>
          </a:p>
          <a:p>
            <a:r>
              <a:rPr lang="en-US" sz="1400" b="1" noProof="1">
                <a:solidFill>
                  <a:schemeClr val="accent6"/>
                </a:solidFill>
              </a:rPr>
              <a:t>Architecture Components:</a:t>
            </a:r>
            <a:endParaRPr lang="en-US" sz="1400" noProof="1">
              <a:solidFill>
                <a:schemeClr val="accent6"/>
              </a:solidFill>
            </a:endParaRPr>
          </a:p>
          <a:p>
            <a:r>
              <a:rPr lang="en-US" sz="1400" noProof="1">
                <a:solidFill>
                  <a:schemeClr val="accent6"/>
                </a:solidFill>
              </a:rPr>
              <a:t>Event bus for decoupling data consumers</a:t>
            </a:r>
          </a:p>
          <a:p>
            <a:r>
              <a:rPr lang="en-US" sz="1400" noProof="1">
                <a:solidFill>
                  <a:schemeClr val="accent6"/>
                </a:solidFill>
              </a:rPr>
              <a:t>Multi-tenancy approach for client data isolation</a:t>
            </a:r>
          </a:p>
          <a:p>
            <a:r>
              <a:rPr lang="en-US" sz="1400" noProof="1">
                <a:solidFill>
                  <a:schemeClr val="accent6"/>
                </a:solidFill>
              </a:rPr>
              <a:t>Infrastructure as Code (IaC) for deployment</a:t>
            </a:r>
          </a:p>
          <a:p>
            <a:r>
              <a:rPr lang="en-US" sz="1400" noProof="1">
                <a:solidFill>
                  <a:schemeClr val="accent6"/>
                </a:solidFill>
              </a:rPr>
              <a:t>Stateless containerized services with auto-scaling</a:t>
            </a:r>
          </a:p>
          <a:p>
            <a:endParaRPr lang="en-US" sz="1400" noProof="1">
              <a:solidFill>
                <a:schemeClr val="accent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E33B75-D04C-73F0-71E8-7DDDE7004728}"/>
              </a:ext>
            </a:extLst>
          </p:cNvPr>
          <p:cNvSpPr txBox="1"/>
          <p:nvPr/>
        </p:nvSpPr>
        <p:spPr>
          <a:xfrm>
            <a:off x="6624319" y="1805452"/>
            <a:ext cx="436858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noProof="1">
                <a:solidFill>
                  <a:schemeClr val="accent6"/>
                </a:solidFill>
              </a:rPr>
              <a:t>Decision Process</a:t>
            </a:r>
          </a:p>
          <a:p>
            <a:r>
              <a:rPr lang="en-US" sz="1400" b="1" noProof="1">
                <a:solidFill>
                  <a:schemeClr val="accent6"/>
                </a:solidFill>
              </a:rPr>
              <a:t>Important Note:</a:t>
            </a:r>
            <a:r>
              <a:rPr lang="en-US" sz="1400" noProof="1">
                <a:solidFill>
                  <a:schemeClr val="accent6"/>
                </a:solidFill>
              </a:rPr>
              <a:t> These recommendations are not final decisions. The final technology choices will be made during the </a:t>
            </a:r>
            <a:r>
              <a:rPr lang="en-US" sz="1400" b="1" noProof="1">
                <a:solidFill>
                  <a:schemeClr val="accent6"/>
                </a:solidFill>
              </a:rPr>
              <a:t>discovery phase</a:t>
            </a:r>
            <a:r>
              <a:rPr lang="en-US" sz="1400" noProof="1">
                <a:solidFill>
                  <a:schemeClr val="accent6"/>
                </a:solidFill>
              </a:rPr>
              <a:t> in collaboration with Zeppelin Power, taking into account: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Your team's existing skills and 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Specific technical environment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1">
                <a:solidFill>
                  <a:schemeClr val="accent6"/>
                </a:solidFill>
              </a:rPr>
              <a:t>Strategic business needs</a:t>
            </a:r>
          </a:p>
          <a:p>
            <a:r>
              <a:rPr lang="en-US" sz="1400" noProof="1">
                <a:solidFill>
                  <a:schemeClr val="accent6"/>
                </a:solidFill>
              </a:rPr>
              <a:t>Our architects are ready to discuss and provide clear reasoning for these selections through a collaborative approach.</a:t>
            </a:r>
          </a:p>
        </p:txBody>
      </p:sp>
    </p:spTree>
    <p:extLst>
      <p:ext uri="{BB962C8B-B14F-4D97-AF65-F5344CB8AC3E}">
        <p14:creationId xmlns:p14="http://schemas.microsoft.com/office/powerpoint/2010/main" val="196296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1480D4-7AC8-41F4-B17F-2AAA611053C7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2.xml><?xml version="1.0" encoding="utf-8"?>
<ds:datastoreItem xmlns:ds="http://schemas.openxmlformats.org/officeDocument/2006/customXml" ds:itemID="{651CE607-415B-4DBF-98E4-60B8B16753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D0C4B3-6498-4407-82F2-233AA8A0BA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Technology suggestions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2026-01-23T11:27:34Z</dcterms:created>
  <dcterms:modified xsi:type="dcterms:W3CDTF">2026-01-23T11:28:17Z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