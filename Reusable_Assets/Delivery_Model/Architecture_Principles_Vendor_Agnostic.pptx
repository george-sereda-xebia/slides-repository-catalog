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355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5CB4F0-45DD-F035-38C7-EB742FA7B12F}" v="2" dt="2026-01-23T11:14:35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4B5CB4F0-45DD-F035-38C7-EB742FA7B12F}"/>
    <pc:docChg chg="addSld delSld">
      <pc:chgData name="George Sereda" userId="S::george.sereda@xebia.com::5e824fc6-3a6a-482b-8597-f9374fb4b421" providerId="AD" clId="Web-{4B5CB4F0-45DD-F035-38C7-EB742FA7B12F}" dt="2026-01-23T11:14:35.702" v="1"/>
      <pc:docMkLst>
        <pc:docMk/>
      </pc:docMkLst>
      <pc:sldChg chg="del">
        <pc:chgData name="George Sereda" userId="S::george.sereda@xebia.com::5e824fc6-3a6a-482b-8597-f9374fb4b421" providerId="AD" clId="Web-{4B5CB4F0-45DD-F035-38C7-EB742FA7B12F}" dt="2026-01-23T11:14:35.702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4B5CB4F0-45DD-F035-38C7-EB742FA7B12F}" dt="2026-01-23T11:14:32.155" v="0"/>
        <pc:sldMkLst>
          <pc:docMk/>
          <pc:sldMk cId="1226369518" sldId="2147483551"/>
        </pc:sldMkLst>
      </pc:sldChg>
      <pc:sldMasterChg chg="addSldLayout">
        <pc:chgData name="George Sereda" userId="S::george.sereda@xebia.com::5e824fc6-3a6a-482b-8597-f9374fb4b421" providerId="AD" clId="Web-{4B5CB4F0-45DD-F035-38C7-EB742FA7B12F}" dt="2026-01-23T11:14:32.155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4B5CB4F0-45DD-F035-38C7-EB742FA7B12F}" dt="2026-01-23T11:14:32.155" v="0"/>
          <pc:sldLayoutMkLst>
            <pc:docMk/>
            <pc:sldMasterMk cId="2460954070" sldId="2147483660"/>
            <pc:sldLayoutMk cId="4188243654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/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BD1E98D-C6A7-1A86-D1DC-18C70ECE6DD7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4"/>
            <a:ext cx="7513108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pic>
        <p:nvPicPr>
          <p:cNvPr id="3" name="Xebia" descr="preencoded.png">
            <a:extLst>
              <a:ext uri="{FF2B5EF4-FFF2-40B4-BE49-F238E27FC236}">
                <a16:creationId xmlns:a16="http://schemas.microsoft.com/office/drawing/2014/main" id="{7D652B89-16D3-A81D-A924-8E3B84071E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2C4591-EAE8-5F38-8D57-8D069553CBC7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22DD7D2-2E6F-65F9-2D7E-EF0C1A6F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C7CD3809-B795-A666-BD74-62300D64F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59" y="919056"/>
            <a:ext cx="7512000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lang="en-US" sz="2400" dirty="0">
                <a:ea typeface="+mn-ea"/>
                <a:cs typeface="+mn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</a:pPr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10" name="Symbol zastępczy stopki 1">
            <a:extLst>
              <a:ext uri="{FF2B5EF4-FFF2-40B4-BE49-F238E27FC236}">
                <a16:creationId xmlns:a16="http://schemas.microsoft.com/office/drawing/2014/main" id="{6EFA064F-CFBB-09FE-B82B-164C527D7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/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188243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E7D5E-E91C-117B-61F4-F603A847A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970A63-D515-4B00-EEB9-5251500098BD}"/>
              </a:ext>
            </a:extLst>
          </p:cNvPr>
          <p:cNvSpPr>
            <a:spLocks noGrp="1"/>
          </p:cNvSpPr>
          <p:nvPr>
            <p:ph type="body" idx="106"/>
          </p:nvPr>
        </p:nvSpPr>
        <p:spPr>
          <a:xfrm>
            <a:off x="418400" y="408054"/>
            <a:ext cx="7513108" cy="232628"/>
          </a:xfrm>
        </p:spPr>
        <p:txBody>
          <a:bodyPr wrap="square" anchor="t">
            <a:normAutofit/>
          </a:bodyPr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D416F-AE35-4C87-9691-DF122CFE0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fld id="{C1F56866-D47B-47B9-9D95-BB9706FB23C1}" type="slidenum">
              <a:rPr kumimoji="0" lang="en-US" sz="800" b="0" i="0" u="none" strike="noStrike" kern="1200" cap="none" spc="0" normalizeH="0" baseline="0" noProof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A1EB3-A92D-7223-47FB-5A1AE9DE9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2025 Xebia. All rights reserved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0B6E7F66-1ED2-AF29-F5E7-18DEDF53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59" y="919056"/>
            <a:ext cx="7512000" cy="443198"/>
          </a:xfrm>
        </p:spPr>
        <p:txBody>
          <a:bodyPr/>
          <a:lstStyle/>
          <a:p>
            <a: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Architecture Principles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40A35-1614-C046-15A9-8B9829EFB7DA}"/>
              </a:ext>
            </a:extLst>
          </p:cNvPr>
          <p:cNvSpPr txBox="1"/>
          <p:nvPr/>
        </p:nvSpPr>
        <p:spPr>
          <a:xfrm>
            <a:off x="450937" y="1691015"/>
            <a:ext cx="9891943" cy="4361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1">
                <a:solidFill>
                  <a:schemeClr val="accent6"/>
                </a:solidFill>
              </a:rPr>
              <a:t>Cloud-Managed Infrastructure with Vendor Agnostic Design</a:t>
            </a:r>
          </a:p>
          <a:p>
            <a:endParaRPr lang="en-US" noProof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chemeClr val="accent6"/>
                </a:solidFill>
              </a:rPr>
              <a:t>Cloud-Managed Services</a:t>
            </a:r>
            <a:r>
              <a:rPr lang="en-US" noProof="1">
                <a:solidFill>
                  <a:schemeClr val="accent6"/>
                </a:solidFill>
              </a:rPr>
              <a:t>: Leverage fully managed cloud components for rapid deployment and minimal maintenance overhead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chemeClr val="accent6"/>
                </a:solidFill>
              </a:rPr>
              <a:t>Open Source APIs</a:t>
            </a:r>
            <a:r>
              <a:rPr lang="en-US" noProof="1">
                <a:solidFill>
                  <a:schemeClr val="accent6"/>
                </a:solidFill>
              </a:rPr>
              <a:t>: Select infrastructure components using standardized APIs with potential self-hosted open source implementations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chemeClr val="accent6"/>
                </a:solidFill>
              </a:rPr>
              <a:t>Multi-Cloud Portability</a:t>
            </a:r>
            <a:r>
              <a:rPr lang="en-US" noProof="1">
                <a:solidFill>
                  <a:schemeClr val="accent6"/>
                </a:solidFill>
              </a:rPr>
              <a:t>: Components available across multiple cloud providers, enabling easy migration when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chemeClr val="accent6"/>
                </a:solidFill>
              </a:rPr>
              <a:t>Speed to Market</a:t>
            </a:r>
            <a:r>
              <a:rPr lang="en-US" noProof="1">
                <a:solidFill>
                  <a:schemeClr val="accent6"/>
                </a:solidFill>
              </a:rPr>
              <a:t>: Pre-built managed services accelerate development while maintaining production-grade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chemeClr val="accent6"/>
                </a:solidFill>
              </a:rPr>
              <a:t>Cost Optimization</a:t>
            </a:r>
            <a:r>
              <a:rPr lang="en-US" noProof="1">
                <a:solidFill>
                  <a:schemeClr val="accent6"/>
                </a:solidFill>
              </a:rPr>
              <a:t>: Pay-per-use model keeps initial costs low with excellent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noProof="1">
                <a:solidFill>
                  <a:schemeClr val="accent6"/>
                </a:solidFill>
              </a:rPr>
              <a:t>Best of Both Worlds</a:t>
            </a:r>
            <a:r>
              <a:rPr lang="en-US" noProof="1">
                <a:solidFill>
                  <a:schemeClr val="accent6"/>
                </a:solidFill>
              </a:rPr>
              <a:t>: Optimal balance between managed convenience and architectural freedom</a:t>
            </a:r>
          </a:p>
          <a:p>
            <a:r>
              <a:rPr lang="en-US" b="1" noProof="1">
                <a:solidFill>
                  <a:schemeClr val="accent6"/>
                </a:solidFill>
              </a:rPr>
              <a:t>Result</a:t>
            </a:r>
            <a:r>
              <a:rPr lang="en-US" noProof="1">
                <a:solidFill>
                  <a:schemeClr val="accent6"/>
                </a:solidFill>
              </a:rPr>
              <a:t>: Fast, scalable, cost-effective infrastructure that doesn't compromise future flexibility or create technical debt.</a:t>
            </a:r>
          </a:p>
        </p:txBody>
      </p:sp>
    </p:spTree>
    <p:extLst>
      <p:ext uri="{BB962C8B-B14F-4D97-AF65-F5344CB8AC3E}">
        <p14:creationId xmlns:p14="http://schemas.microsoft.com/office/powerpoint/2010/main" val="1226369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1239A3-45D1-424C-9F1A-3ADACD3567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464830-E4D2-427E-88E2-68BA94281EB4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3.xml><?xml version="1.0" encoding="utf-8"?>
<ds:datastoreItem xmlns:ds="http://schemas.openxmlformats.org/officeDocument/2006/customXml" ds:itemID="{759AC634-F8E8-4FAC-AD6A-5A20796269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Architecture Principles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2026-01-23T11:13:53Z</dcterms:created>
  <dcterms:modified xsi:type="dcterms:W3CDTF">2026-01-23T11:14:42Z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