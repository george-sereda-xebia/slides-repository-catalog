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sldIdLst>
    <p:sldId id="214748363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57B2E7A-C3F0-D6A8-F9A8-AE92D91403EE}" v="2" dt="2026-01-23T11:37:15.63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presProps" Target="presProps.xml"/><Relationship Id="rId11" Type="http://schemas.microsoft.com/office/2015/10/relationships/revisionInfo" Target="revisionInfo.xml"/><Relationship Id="rId5" Type="http://schemas.openxmlformats.org/officeDocument/2006/relationships/slide" Target="slides/slide1.xml"/><Relationship Id="rId10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eorge Sereda" userId="S::george.sereda@xebia.com::5e824fc6-3a6a-482b-8597-f9374fb4b421" providerId="AD" clId="Web-{F57B2E7A-C3F0-D6A8-F9A8-AE92D91403EE}"/>
    <pc:docChg chg="addSld delSld">
      <pc:chgData name="George Sereda" userId="S::george.sereda@xebia.com::5e824fc6-3a6a-482b-8597-f9374fb4b421" providerId="AD" clId="Web-{F57B2E7A-C3F0-D6A8-F9A8-AE92D91403EE}" dt="2026-01-23T11:37:15.639" v="1"/>
      <pc:docMkLst>
        <pc:docMk/>
      </pc:docMkLst>
      <pc:sldChg chg="del">
        <pc:chgData name="George Sereda" userId="S::george.sereda@xebia.com::5e824fc6-3a6a-482b-8597-f9374fb4b421" providerId="AD" clId="Web-{F57B2E7A-C3F0-D6A8-F9A8-AE92D91403EE}" dt="2026-01-23T11:37:15.639" v="1"/>
        <pc:sldMkLst>
          <pc:docMk/>
          <pc:sldMk cId="109857222" sldId="256"/>
        </pc:sldMkLst>
      </pc:sldChg>
      <pc:sldChg chg="add">
        <pc:chgData name="George Sereda" userId="S::george.sereda@xebia.com::5e824fc6-3a6a-482b-8597-f9374fb4b421" providerId="AD" clId="Web-{F57B2E7A-C3F0-D6A8-F9A8-AE92D91403EE}" dt="2026-01-23T11:37:11.139" v="0"/>
        <pc:sldMkLst>
          <pc:docMk/>
          <pc:sldMk cId="3525084650" sldId="2147483639"/>
        </pc:sldMkLst>
      </pc:sldChg>
      <pc:sldMasterChg chg="addSldLayout">
        <pc:chgData name="George Sereda" userId="S::george.sereda@xebia.com::5e824fc6-3a6a-482b-8597-f9374fb4b421" providerId="AD" clId="Web-{F57B2E7A-C3F0-D6A8-F9A8-AE92D91403EE}" dt="2026-01-23T11:37:11.139" v="0"/>
        <pc:sldMasterMkLst>
          <pc:docMk/>
          <pc:sldMasterMk cId="2460954070" sldId="2147483660"/>
        </pc:sldMasterMkLst>
        <pc:sldLayoutChg chg="add">
          <pc:chgData name="George Sereda" userId="S::george.sereda@xebia.com::5e824fc6-3a6a-482b-8597-f9374fb4b421" providerId="AD" clId="Web-{F57B2E7A-C3F0-D6A8-F9A8-AE92D91403EE}" dt="2026-01-23T11:37:11.139" v="0"/>
          <pc:sldLayoutMkLst>
            <pc:docMk/>
            <pc:sldMasterMk cId="2460954070" sldId="2147483660"/>
            <pc:sldLayoutMk cId="2623710475" sldId="2147483672"/>
          </pc:sldLayoutMkLst>
        </pc:sldLayoutChg>
      </pc:sldMaster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lank / Ligh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0">
            <a:extLst>
              <a:ext uri="{FF2B5EF4-FFF2-40B4-BE49-F238E27FC236}">
                <a16:creationId xmlns:a16="http://schemas.microsoft.com/office/drawing/2014/main" id="{2BD1E98D-C6A7-1A86-D1DC-18C70ECE6DD7}"/>
              </a:ext>
            </a:extLst>
          </p:cNvPr>
          <p:cNvSpPr>
            <a:spLocks noGrp="1"/>
          </p:cNvSpPr>
          <p:nvPr>
            <p:ph type="body" idx="106" hasCustomPrompt="1"/>
          </p:nvPr>
        </p:nvSpPr>
        <p:spPr>
          <a:xfrm>
            <a:off x="406400" y="408054"/>
            <a:ext cx="7513108" cy="232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>
            <a:lvl1pPr marL="0" indent="0" algn="l">
              <a:lnSpc>
                <a:spcPts val="1400"/>
              </a:lnSpc>
              <a:buNone/>
              <a:defRPr lang="en-US" sz="1000" b="0" i="0" kern="0" spc="0" dirty="0">
                <a:solidFill>
                  <a:schemeClr val="tx1"/>
                </a:solidFill>
                <a:latin typeface="+mn-lt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indent="0" algn="l">
              <a:lnSpc>
                <a:spcPts val="2100"/>
              </a:lnSpc>
              <a:buNone/>
            </a:pPr>
            <a:r>
              <a:rPr lang="en-US" sz="1050"/>
              <a:t>[DD/MM/YYYY] • [Speaker Name] • [Presentation Title]</a:t>
            </a:r>
          </a:p>
        </p:txBody>
      </p:sp>
      <p:pic>
        <p:nvPicPr>
          <p:cNvPr id="3" name="Xebia" descr="preencoded.png">
            <a:extLst>
              <a:ext uri="{FF2B5EF4-FFF2-40B4-BE49-F238E27FC236}">
                <a16:creationId xmlns:a16="http://schemas.microsoft.com/office/drawing/2014/main" id="{7D652B89-16D3-A81D-A924-8E3B84071E3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1112500" y="292100"/>
            <a:ext cx="673101" cy="215900"/>
          </a:xfrm>
          <a:prstGeom prst="rect">
            <a:avLst/>
          </a:prstGeom>
        </p:spPr>
      </p:pic>
      <p:cxnSp>
        <p:nvCxnSpPr>
          <p:cNvPr id="141" name="Straight Connector 140">
            <a:extLst>
              <a:ext uri="{FF2B5EF4-FFF2-40B4-BE49-F238E27FC236}">
                <a16:creationId xmlns:a16="http://schemas.microsoft.com/office/drawing/2014/main" id="{BA2C4591-EAE8-5F38-8D57-8D069553CBC7}"/>
              </a:ext>
            </a:extLst>
          </p:cNvPr>
          <p:cNvCxnSpPr>
            <a:cxnSpLocks/>
          </p:cNvCxnSpPr>
          <p:nvPr userDrawn="1"/>
        </p:nvCxnSpPr>
        <p:spPr>
          <a:xfrm>
            <a:off x="407459" y="698500"/>
            <a:ext cx="1138449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4">
            <a:extLst>
              <a:ext uri="{FF2B5EF4-FFF2-40B4-BE49-F238E27FC236}">
                <a16:creationId xmlns:a16="http://schemas.microsoft.com/office/drawing/2014/main" id="{022DD7D2-2E6F-65F9-2D7E-EF0C1A6F1E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92909" y="6457865"/>
            <a:ext cx="799041" cy="12311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C1F56866-D47B-47B9-9D95-BB9706FB23C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Title 9">
            <a:extLst>
              <a:ext uri="{FF2B5EF4-FFF2-40B4-BE49-F238E27FC236}">
                <a16:creationId xmlns:a16="http://schemas.microsoft.com/office/drawing/2014/main" id="{C7CD3809-B795-A666-BD74-62300D64F04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459" y="919056"/>
            <a:ext cx="7512000" cy="369332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lvl1pPr algn="l">
              <a:defRPr lang="en-US" sz="2400" dirty="0">
                <a:ea typeface="+mn-ea"/>
                <a:cs typeface="+mn-cs"/>
              </a:defRPr>
            </a:lvl1pPr>
          </a:lstStyle>
          <a:p>
            <a:pPr marL="0" marR="0" lvl="0" indent="0" fontAlgn="auto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</a:pPr>
            <a:r>
              <a:rPr lang="en-US" noProof="0"/>
              <a:t>Click to edit master title style</a:t>
            </a:r>
            <a:endParaRPr lang="en-US"/>
          </a:p>
        </p:txBody>
      </p:sp>
      <p:sp>
        <p:nvSpPr>
          <p:cNvPr id="10" name="Symbol zastępczy stopki 1">
            <a:extLst>
              <a:ext uri="{FF2B5EF4-FFF2-40B4-BE49-F238E27FC236}">
                <a16:creationId xmlns:a16="http://schemas.microsoft.com/office/drawing/2014/main" id="{6EFA064F-CFBB-09FE-B82B-164C527D772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6401" y="6457865"/>
            <a:ext cx="3673475" cy="12311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lang="en-GB" sz="800"/>
            </a:lvl1pPr>
          </a:lstStyle>
          <a:p>
            <a:r>
              <a:rPr lang="en-US"/>
              <a:t>Copyright © 2025 Xebia. All rights reserved</a:t>
            </a:r>
          </a:p>
        </p:txBody>
      </p:sp>
    </p:spTree>
    <p:extLst>
      <p:ext uri="{BB962C8B-B14F-4D97-AF65-F5344CB8AC3E}">
        <p14:creationId xmlns:p14="http://schemas.microsoft.com/office/powerpoint/2010/main" val="26237104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14.svg"/><Relationship Id="rId3" Type="http://schemas.openxmlformats.org/officeDocument/2006/relationships/image" Target="../media/image4.svg"/><Relationship Id="rId7" Type="http://schemas.openxmlformats.org/officeDocument/2006/relationships/image" Target="../media/image8.svg"/><Relationship Id="rId12" Type="http://schemas.openxmlformats.org/officeDocument/2006/relationships/image" Target="../media/image13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7.png"/><Relationship Id="rId11" Type="http://schemas.openxmlformats.org/officeDocument/2006/relationships/image" Target="../media/image12.svg"/><Relationship Id="rId5" Type="http://schemas.openxmlformats.org/officeDocument/2006/relationships/image" Target="../media/image6.svg"/><Relationship Id="rId15" Type="http://schemas.openxmlformats.org/officeDocument/2006/relationships/image" Target="../media/image16.svg"/><Relationship Id="rId10" Type="http://schemas.openxmlformats.org/officeDocument/2006/relationships/image" Target="../media/image11.png"/><Relationship Id="rId4" Type="http://schemas.openxmlformats.org/officeDocument/2006/relationships/image" Target="../media/image5.png"/><Relationship Id="rId9" Type="http://schemas.openxmlformats.org/officeDocument/2006/relationships/image" Target="../media/image10.svg"/><Relationship Id="rId14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32E2DE-DA56-3CBA-5097-87CC76F300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8DC57ABA-212A-3117-06D3-BB3AB4EF4C5C}"/>
              </a:ext>
            </a:extLst>
          </p:cNvPr>
          <p:cNvSpPr>
            <a:spLocks noGrp="1"/>
          </p:cNvSpPr>
          <p:nvPr>
            <p:ph type="body" idx="106"/>
          </p:nvPr>
        </p:nvSpPr>
        <p:spPr/>
        <p:txBody>
          <a:bodyPr wrap="square" anchor="t">
            <a:normAutofit/>
          </a:bodyPr>
          <a:lstStyle/>
          <a:p>
            <a:r>
              <a:rPr lang="en-US" noProof="1">
                <a:solidFill>
                  <a:srgbClr val="595959"/>
                </a:solidFill>
                <a:latin typeface="Arial"/>
                <a:cs typeface="Arial"/>
              </a:rPr>
              <a:t>Xebia response to Zeppelin Power EMS RFP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598B871-4F8A-AAE4-E623-A39DE3BD86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36156" y="6457864"/>
            <a:ext cx="799041" cy="123111"/>
          </a:xfrm>
        </p:spPr>
        <p:txBody>
          <a:bodyPr wrap="square">
            <a:norm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fld id="{C1F56866-D47B-47B9-9D95-BB9706FB23C1}" type="slidenum">
              <a:rPr kumimoji="0" lang="en-US" sz="800" b="0" i="0" u="none" strike="noStrike" kern="1200" cap="none" spc="0" normalizeH="0" baseline="0" noProof="1" smtClean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40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800" b="0" i="0" u="none" strike="noStrike" kern="1200" cap="none" spc="0" normalizeH="0" baseline="0" noProof="1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6EC5B2-9615-6D7F-800D-B186946D804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 wrap="square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1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Copyright © 2025 Xebia. All rights reserved</a:t>
            </a:r>
          </a:p>
        </p:txBody>
      </p:sp>
      <p:sp>
        <p:nvSpPr>
          <p:cNvPr id="17" name="Title 16">
            <a:extLst>
              <a:ext uri="{FF2B5EF4-FFF2-40B4-BE49-F238E27FC236}">
                <a16:creationId xmlns:a16="http://schemas.microsoft.com/office/drawing/2014/main" id="{56846153-0652-329C-ACDD-EDA01F3818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7459" y="919056"/>
            <a:ext cx="7512000" cy="443198"/>
          </a:xfrm>
        </p:spPr>
        <p:txBody>
          <a:bodyPr/>
          <a:lstStyle/>
          <a:p>
            <a:r>
              <a:rPr lang="en-US" sz="3200" b="0" kern="0" noProof="1">
                <a:solidFill>
                  <a:srgbClr val="000000"/>
                </a:solidFill>
                <a:latin typeface="+mn-lt"/>
                <a:ea typeface="Suisse Int'l Regular" pitchFamily="34" charset="-122"/>
              </a:rPr>
              <a:t>Agile development and delivery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883A1DD-BA0F-EA6C-71D3-D342739722B4}"/>
              </a:ext>
            </a:extLst>
          </p:cNvPr>
          <p:cNvSpPr txBox="1"/>
          <p:nvPr/>
        </p:nvSpPr>
        <p:spPr>
          <a:xfrm>
            <a:off x="278969" y="1456404"/>
            <a:ext cx="1164742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1">
                <a:ln>
                  <a:noFill/>
                </a:ln>
                <a:solidFill>
                  <a:srgbClr val="595959">
                    <a:lumMod val="7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With our product DNA and extensive expertise in using Scrum, we are an ideal partner for any business that aims to adopt, implement, and scale up agile development</a:t>
            </a:r>
          </a:p>
        </p:txBody>
      </p:sp>
      <p:sp>
        <p:nvSpPr>
          <p:cNvPr id="6" name="pole tekstowe 3">
            <a:extLst>
              <a:ext uri="{FF2B5EF4-FFF2-40B4-BE49-F238E27FC236}">
                <a16:creationId xmlns:a16="http://schemas.microsoft.com/office/drawing/2014/main" id="{20A9B292-21E2-2E9F-56E0-3E98DA27D06D}"/>
              </a:ext>
            </a:extLst>
          </p:cNvPr>
          <p:cNvSpPr txBox="1"/>
          <p:nvPr/>
        </p:nvSpPr>
        <p:spPr>
          <a:xfrm>
            <a:off x="9314224" y="2365115"/>
            <a:ext cx="1705257" cy="762655"/>
          </a:xfrm>
          <a:prstGeom prst="roundRect">
            <a:avLst>
              <a:gd name="adj" fmla="val 13039"/>
            </a:avLst>
          </a:prstGeom>
          <a:solidFill>
            <a:srgbClr val="FFFFFF"/>
          </a:solidFill>
          <a:ln w="12700">
            <a:solidFill>
              <a:srgbClr val="ABA7C1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0" cap="none" spc="0" normalizeH="0" baseline="0" noProof="1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0" cap="none" spc="0" normalizeH="0" baseline="0" noProof="1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Tailoring our approach to each project’s unique demands </a:t>
            </a:r>
          </a:p>
        </p:txBody>
      </p:sp>
      <p:sp>
        <p:nvSpPr>
          <p:cNvPr id="7" name="pole tekstowe 4">
            <a:extLst>
              <a:ext uri="{FF2B5EF4-FFF2-40B4-BE49-F238E27FC236}">
                <a16:creationId xmlns:a16="http://schemas.microsoft.com/office/drawing/2014/main" id="{D619B7D9-5F16-840A-57B9-4705323E0C4E}"/>
              </a:ext>
            </a:extLst>
          </p:cNvPr>
          <p:cNvSpPr txBox="1"/>
          <p:nvPr/>
        </p:nvSpPr>
        <p:spPr>
          <a:xfrm>
            <a:off x="9595737" y="2082863"/>
            <a:ext cx="1124237" cy="359893"/>
          </a:xfrm>
          <a:prstGeom prst="roundRect">
            <a:avLst/>
          </a:prstGeom>
          <a:solidFill>
            <a:srgbClr val="FFFFFF"/>
          </a:solidFill>
          <a:ln w="28575">
            <a:noFill/>
          </a:ln>
        </p:spPr>
        <p:txBody>
          <a:bodyPr wrap="square" rtlCol="0" anchor="ctr">
            <a:noAutofit/>
          </a:bodyPr>
          <a:lstStyle/>
          <a:p>
            <a:pPr marL="0" marR="0" lvl="1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0" cap="none" spc="0" normalizeH="0" baseline="0" noProof="1">
                <a:ln>
                  <a:noFill/>
                </a:ln>
                <a:solidFill>
                  <a:srgbClr val="6C1D5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Flexibility</a:t>
            </a:r>
          </a:p>
        </p:txBody>
      </p:sp>
      <p:pic>
        <p:nvPicPr>
          <p:cNvPr id="8" name="Graphic 25" descr="Group brainstorm with solid fill">
            <a:extLst>
              <a:ext uri="{FF2B5EF4-FFF2-40B4-BE49-F238E27FC236}">
                <a16:creationId xmlns:a16="http://schemas.microsoft.com/office/drawing/2014/main" id="{A1B28F7A-7B50-CB9B-9C93-818E0DC9880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964040" y="1776548"/>
            <a:ext cx="329254" cy="388440"/>
          </a:xfrm>
          <a:prstGeom prst="rect">
            <a:avLst/>
          </a:prstGeom>
        </p:spPr>
      </p:pic>
      <p:sp>
        <p:nvSpPr>
          <p:cNvPr id="9" name="pole tekstowe 7">
            <a:extLst>
              <a:ext uri="{FF2B5EF4-FFF2-40B4-BE49-F238E27FC236}">
                <a16:creationId xmlns:a16="http://schemas.microsoft.com/office/drawing/2014/main" id="{5CF0F914-B0B9-C9D6-8D75-4FA0E69E7681}"/>
              </a:ext>
            </a:extLst>
          </p:cNvPr>
          <p:cNvSpPr txBox="1"/>
          <p:nvPr/>
        </p:nvSpPr>
        <p:spPr>
          <a:xfrm>
            <a:off x="9339345" y="3973780"/>
            <a:ext cx="1705257" cy="1074599"/>
          </a:xfrm>
          <a:prstGeom prst="roundRect">
            <a:avLst>
              <a:gd name="adj" fmla="val 9480"/>
            </a:avLst>
          </a:prstGeom>
          <a:solidFill>
            <a:srgbClr val="FFFFFF"/>
          </a:solidFill>
          <a:ln w="12700">
            <a:solidFill>
              <a:srgbClr val="ABA7C1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0" cap="none" spc="0" normalizeH="0" baseline="0" noProof="1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0" cap="none" spc="0" normalizeH="0" baseline="0" noProof="1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Agile boards and workflows for instant task tracking and progress monitoring (i.e. Jira, Confluence)</a:t>
            </a:r>
          </a:p>
        </p:txBody>
      </p:sp>
      <p:sp>
        <p:nvSpPr>
          <p:cNvPr id="10" name="pole tekstowe 8">
            <a:extLst>
              <a:ext uri="{FF2B5EF4-FFF2-40B4-BE49-F238E27FC236}">
                <a16:creationId xmlns:a16="http://schemas.microsoft.com/office/drawing/2014/main" id="{E6B6D89B-E01F-BC7D-89AD-5616218B1F2A}"/>
              </a:ext>
            </a:extLst>
          </p:cNvPr>
          <p:cNvSpPr txBox="1"/>
          <p:nvPr/>
        </p:nvSpPr>
        <p:spPr>
          <a:xfrm>
            <a:off x="9579314" y="3738382"/>
            <a:ext cx="1124237" cy="357105"/>
          </a:xfrm>
          <a:prstGeom prst="roundRect">
            <a:avLst/>
          </a:prstGeom>
          <a:solidFill>
            <a:srgbClr val="FFFFFF"/>
          </a:solidFill>
          <a:ln w="28575">
            <a:noFill/>
          </a:ln>
        </p:spPr>
        <p:txBody>
          <a:bodyPr wrap="square" rtlCol="0" anchor="ctr">
            <a:noAutofit/>
          </a:bodyPr>
          <a:lstStyle/>
          <a:p>
            <a:pPr marL="0" marR="0" lvl="1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0" cap="none" spc="0" normalizeH="0" baseline="0" noProof="1">
                <a:ln>
                  <a:noFill/>
                </a:ln>
                <a:solidFill>
                  <a:srgbClr val="6C1D5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Visualization</a:t>
            </a:r>
          </a:p>
        </p:txBody>
      </p:sp>
      <p:pic>
        <p:nvPicPr>
          <p:cNvPr id="11" name="Graphic 4" descr="Illustrator with solid fill">
            <a:extLst>
              <a:ext uri="{FF2B5EF4-FFF2-40B4-BE49-F238E27FC236}">
                <a16:creationId xmlns:a16="http://schemas.microsoft.com/office/drawing/2014/main" id="{C54144F4-453C-BB83-565E-80603DFAAB3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951625" y="3423064"/>
            <a:ext cx="317650" cy="374750"/>
          </a:xfrm>
          <a:prstGeom prst="rect">
            <a:avLst/>
          </a:prstGeom>
        </p:spPr>
      </p:pic>
      <p:sp>
        <p:nvSpPr>
          <p:cNvPr id="12" name="pole tekstowe 10">
            <a:extLst>
              <a:ext uri="{FF2B5EF4-FFF2-40B4-BE49-F238E27FC236}">
                <a16:creationId xmlns:a16="http://schemas.microsoft.com/office/drawing/2014/main" id="{3AD7FD4D-CB1F-F172-75B2-D88000DF652E}"/>
              </a:ext>
            </a:extLst>
          </p:cNvPr>
          <p:cNvSpPr txBox="1"/>
          <p:nvPr/>
        </p:nvSpPr>
        <p:spPr>
          <a:xfrm>
            <a:off x="9343367" y="5670392"/>
            <a:ext cx="1702239" cy="895112"/>
          </a:xfrm>
          <a:prstGeom prst="roundRect">
            <a:avLst>
              <a:gd name="adj" fmla="val 7324"/>
            </a:avLst>
          </a:prstGeom>
          <a:solidFill>
            <a:srgbClr val="FFFFFF"/>
          </a:solidFill>
          <a:ln w="12700">
            <a:solidFill>
              <a:srgbClr val="ABA7C1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0" cap="none" spc="0" normalizeH="0" baseline="0" noProof="1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0" cap="none" spc="0" normalizeH="0" baseline="0" noProof="1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Ensuring seamless communication and alignment with Client expectations</a:t>
            </a:r>
          </a:p>
        </p:txBody>
      </p:sp>
      <p:sp>
        <p:nvSpPr>
          <p:cNvPr id="13" name="pole tekstowe 11">
            <a:extLst>
              <a:ext uri="{FF2B5EF4-FFF2-40B4-BE49-F238E27FC236}">
                <a16:creationId xmlns:a16="http://schemas.microsoft.com/office/drawing/2014/main" id="{AC2F6A3B-C875-ECAF-4019-E40E83D2B2A0}"/>
              </a:ext>
            </a:extLst>
          </p:cNvPr>
          <p:cNvSpPr txBox="1"/>
          <p:nvPr/>
        </p:nvSpPr>
        <p:spPr>
          <a:xfrm>
            <a:off x="9555565" y="5418432"/>
            <a:ext cx="1124237" cy="360295"/>
          </a:xfrm>
          <a:prstGeom prst="roundRect">
            <a:avLst/>
          </a:prstGeom>
          <a:solidFill>
            <a:srgbClr val="FFFFFF"/>
          </a:solidFill>
          <a:ln w="28575">
            <a:noFill/>
          </a:ln>
        </p:spPr>
        <p:txBody>
          <a:bodyPr wrap="square" rtlCol="0" anchor="ctr">
            <a:noAutofit/>
          </a:bodyPr>
          <a:lstStyle/>
          <a:p>
            <a:pPr marL="0" marR="0" lvl="1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0" cap="none" spc="0" normalizeH="0" baseline="0" noProof="1">
                <a:ln>
                  <a:noFill/>
                </a:ln>
                <a:solidFill>
                  <a:srgbClr val="6C1D5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Enhanced collaboration</a:t>
            </a:r>
          </a:p>
        </p:txBody>
      </p:sp>
      <p:pic>
        <p:nvPicPr>
          <p:cNvPr id="14" name="Graphic 14" descr="Handshake with solid fill">
            <a:extLst>
              <a:ext uri="{FF2B5EF4-FFF2-40B4-BE49-F238E27FC236}">
                <a16:creationId xmlns:a16="http://schemas.microsoft.com/office/drawing/2014/main" id="{34912477-46B7-C034-BCEC-44CCF6063FF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915702" y="5133312"/>
            <a:ext cx="317650" cy="374750"/>
          </a:xfrm>
          <a:prstGeom prst="rect">
            <a:avLst/>
          </a:prstGeom>
        </p:spPr>
      </p:pic>
      <p:grpSp>
        <p:nvGrpSpPr>
          <p:cNvPr id="15" name="Grupa 2">
            <a:extLst>
              <a:ext uri="{FF2B5EF4-FFF2-40B4-BE49-F238E27FC236}">
                <a16:creationId xmlns:a16="http://schemas.microsoft.com/office/drawing/2014/main" id="{FA98FE1A-28B0-C4EA-DE7F-D8FB56638D19}"/>
              </a:ext>
            </a:extLst>
          </p:cNvPr>
          <p:cNvGrpSpPr/>
          <p:nvPr/>
        </p:nvGrpSpPr>
        <p:grpSpPr>
          <a:xfrm>
            <a:off x="457200" y="1920241"/>
            <a:ext cx="8285590" cy="4383453"/>
            <a:chOff x="152399" y="330534"/>
            <a:chExt cx="11887200" cy="6196931"/>
          </a:xfrm>
        </p:grpSpPr>
        <p:sp>
          <p:nvSpPr>
            <p:cNvPr id="16" name="Prostokąt: zaokrąglone rogi 13">
              <a:extLst>
                <a:ext uri="{FF2B5EF4-FFF2-40B4-BE49-F238E27FC236}">
                  <a16:creationId xmlns:a16="http://schemas.microsoft.com/office/drawing/2014/main" id="{E5F43600-F5DF-B599-1F10-661DDF8796EB}"/>
                </a:ext>
              </a:extLst>
            </p:cNvPr>
            <p:cNvSpPr/>
            <p:nvPr/>
          </p:nvSpPr>
          <p:spPr>
            <a:xfrm>
              <a:off x="152399" y="330534"/>
              <a:ext cx="11887200" cy="6196931"/>
            </a:xfrm>
            <a:prstGeom prst="roundRect">
              <a:avLst>
                <a:gd name="adj" fmla="val 774"/>
              </a:avLst>
            </a:prstGeom>
            <a:solidFill>
              <a:srgbClr val="F9F8FA"/>
            </a:solidFill>
            <a:ln w="3175">
              <a:solidFill>
                <a:srgbClr val="DFDAE1"/>
              </a:solidFill>
            </a:ln>
            <a:effectLst>
              <a:glow rad="101600">
                <a:srgbClr val="F1EEF2">
                  <a:alpha val="60000"/>
                </a:srgb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0" i="0" u="none" strike="noStrike" kern="1200" cap="none" spc="0" normalizeH="0" baseline="0" noProof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18" name="pole tekstowe 15">
              <a:extLst>
                <a:ext uri="{FF2B5EF4-FFF2-40B4-BE49-F238E27FC236}">
                  <a16:creationId xmlns:a16="http://schemas.microsoft.com/office/drawing/2014/main" id="{E7D6A5FE-1FAD-00C9-BAF1-B2FAD8227C97}"/>
                </a:ext>
              </a:extLst>
            </p:cNvPr>
            <p:cNvSpPr txBox="1"/>
            <p:nvPr/>
          </p:nvSpPr>
          <p:spPr>
            <a:xfrm>
              <a:off x="2862115" y="1266593"/>
              <a:ext cx="1624905" cy="810651"/>
            </a:xfrm>
            <a:prstGeom prst="round2SameRect">
              <a:avLst/>
            </a:prstGeom>
            <a:solidFill>
              <a:schemeClr val="bg1"/>
            </a:solidFill>
            <a:effectLst>
              <a:glow rad="101600">
                <a:schemeClr val="bg1">
                  <a:lumMod val="95000"/>
                  <a:alpha val="60000"/>
                </a:schemeClr>
              </a:glow>
            </a:effectLst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50" b="1" i="0" u="none" strike="noStrike" kern="1200" cap="none" spc="0" normalizeH="0" baseline="0" noProof="1">
                  <a:ln>
                    <a:noFill/>
                  </a:ln>
                  <a:solidFill>
                    <a:srgbClr val="6C1D5F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Iterative development in short bursts</a:t>
              </a:r>
            </a:p>
          </p:txBody>
        </p:sp>
        <p:sp>
          <p:nvSpPr>
            <p:cNvPr id="19" name="pole tekstowe 16">
              <a:extLst>
                <a:ext uri="{FF2B5EF4-FFF2-40B4-BE49-F238E27FC236}">
                  <a16:creationId xmlns:a16="http://schemas.microsoft.com/office/drawing/2014/main" id="{6D9930E7-CD81-C23F-758D-E0F38B2A6F31}"/>
                </a:ext>
              </a:extLst>
            </p:cNvPr>
            <p:cNvSpPr txBox="1"/>
            <p:nvPr/>
          </p:nvSpPr>
          <p:spPr>
            <a:xfrm>
              <a:off x="488992" y="1251565"/>
              <a:ext cx="2160166" cy="779471"/>
            </a:xfrm>
            <a:prstGeom prst="round2SameRect">
              <a:avLst/>
            </a:prstGeom>
            <a:solidFill>
              <a:schemeClr val="bg1"/>
            </a:solidFill>
            <a:effectLst>
              <a:glow rad="101600">
                <a:schemeClr val="bg1">
                  <a:lumMod val="95000"/>
                  <a:alpha val="60000"/>
                </a:schemeClr>
              </a:glow>
            </a:effectLst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50" b="1" i="0" u="none" strike="noStrike" kern="1200" cap="none" spc="0" normalizeH="0" baseline="0" noProof="1">
                  <a:ln>
                    <a:noFill/>
                  </a:ln>
                  <a:solidFill>
                    <a:srgbClr val="6C1D5F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Small, self-contained cross-functional 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50" b="1" i="0" u="none" strike="noStrike" kern="1200" cap="none" spc="0" normalizeH="0" baseline="0" noProof="1">
                  <a:ln>
                    <a:noFill/>
                  </a:ln>
                  <a:solidFill>
                    <a:srgbClr val="6C1D5F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teams</a:t>
              </a:r>
            </a:p>
          </p:txBody>
        </p:sp>
        <p:sp>
          <p:nvSpPr>
            <p:cNvPr id="20" name="pole tekstowe 17">
              <a:extLst>
                <a:ext uri="{FF2B5EF4-FFF2-40B4-BE49-F238E27FC236}">
                  <a16:creationId xmlns:a16="http://schemas.microsoft.com/office/drawing/2014/main" id="{35297B39-C1F8-ED3E-8482-3F3B67FA6B72}"/>
                </a:ext>
              </a:extLst>
            </p:cNvPr>
            <p:cNvSpPr txBox="1"/>
            <p:nvPr/>
          </p:nvSpPr>
          <p:spPr>
            <a:xfrm>
              <a:off x="4677245" y="1252319"/>
              <a:ext cx="1620257" cy="810651"/>
            </a:xfrm>
            <a:prstGeom prst="round2SameRect">
              <a:avLst/>
            </a:prstGeom>
            <a:solidFill>
              <a:schemeClr val="bg1"/>
            </a:solidFill>
            <a:effectLst>
              <a:glow rad="101600">
                <a:schemeClr val="bg1">
                  <a:lumMod val="95000"/>
                  <a:alpha val="60000"/>
                </a:schemeClr>
              </a:glow>
            </a:effectLst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50" b="1" i="0" u="none" strike="noStrike" kern="1200" cap="none" spc="0" normalizeH="0" baseline="0" noProof="1">
                  <a:ln>
                    <a:noFill/>
                  </a:ln>
                  <a:solidFill>
                    <a:srgbClr val="6C1D5F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Deploy as frequently as possible</a:t>
              </a:r>
            </a:p>
          </p:txBody>
        </p:sp>
        <p:sp>
          <p:nvSpPr>
            <p:cNvPr id="21" name="pole tekstowe 18">
              <a:extLst>
                <a:ext uri="{FF2B5EF4-FFF2-40B4-BE49-F238E27FC236}">
                  <a16:creationId xmlns:a16="http://schemas.microsoft.com/office/drawing/2014/main" id="{09C14FC7-D662-91F4-8B63-30FCFC76D953}"/>
                </a:ext>
              </a:extLst>
            </p:cNvPr>
            <p:cNvSpPr txBox="1"/>
            <p:nvPr/>
          </p:nvSpPr>
          <p:spPr>
            <a:xfrm>
              <a:off x="6487257" y="1250048"/>
              <a:ext cx="3676663" cy="810651"/>
            </a:xfrm>
            <a:prstGeom prst="round2SameRect">
              <a:avLst/>
            </a:prstGeom>
            <a:solidFill>
              <a:schemeClr val="bg1"/>
            </a:solidFill>
            <a:effectLst>
              <a:glow rad="101600">
                <a:schemeClr val="bg1">
                  <a:lumMod val="95000"/>
                  <a:alpha val="60000"/>
                </a:schemeClr>
              </a:glow>
            </a:effectLst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50" b="1" i="0" u="none" strike="noStrike" kern="1200" cap="none" spc="0" normalizeH="0" baseline="0" noProof="1">
                  <a:ln>
                    <a:noFill/>
                  </a:ln>
                  <a:solidFill>
                    <a:srgbClr val="6C1D5F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Working software should always be with the Client with as little work-in-progress as possible</a:t>
              </a:r>
            </a:p>
          </p:txBody>
        </p:sp>
        <p:sp>
          <p:nvSpPr>
            <p:cNvPr id="22" name="pole tekstowe 19">
              <a:extLst>
                <a:ext uri="{FF2B5EF4-FFF2-40B4-BE49-F238E27FC236}">
                  <a16:creationId xmlns:a16="http://schemas.microsoft.com/office/drawing/2014/main" id="{4BE39D32-979B-4692-165F-DEA1A28072E0}"/>
                </a:ext>
              </a:extLst>
            </p:cNvPr>
            <p:cNvSpPr txBox="1"/>
            <p:nvPr/>
          </p:nvSpPr>
          <p:spPr>
            <a:xfrm>
              <a:off x="10353675" y="1251226"/>
              <a:ext cx="1405231" cy="810651"/>
            </a:xfrm>
            <a:prstGeom prst="round2SameRect">
              <a:avLst/>
            </a:prstGeom>
            <a:solidFill>
              <a:schemeClr val="bg1"/>
            </a:solidFill>
            <a:effectLst>
              <a:glow rad="101600">
                <a:schemeClr val="bg1">
                  <a:lumMod val="95000"/>
                  <a:alpha val="60000"/>
                </a:schemeClr>
              </a:glow>
            </a:effectLst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50" b="1" i="0" u="none" strike="noStrike" kern="1200" cap="none" spc="0" normalizeH="0" baseline="0" noProof="1">
                  <a:ln>
                    <a:noFill/>
                  </a:ln>
                  <a:solidFill>
                    <a:srgbClr val="6C1D5F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Automate as much as you can</a:t>
              </a:r>
            </a:p>
          </p:txBody>
        </p:sp>
        <p:pic>
          <p:nvPicPr>
            <p:cNvPr id="23" name="Graphic 131">
              <a:extLst>
                <a:ext uri="{FF2B5EF4-FFF2-40B4-BE49-F238E27FC236}">
                  <a16:creationId xmlns:a16="http://schemas.microsoft.com/office/drawing/2014/main" id="{95AFB648-22A4-561A-022A-871DB5E6B196}"/>
                </a:ext>
              </a:extLst>
            </p:cNvPr>
            <p:cNvPicPr/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603945" y="3221831"/>
              <a:ext cx="611490" cy="611490"/>
            </a:xfrm>
            <a:prstGeom prst="rect">
              <a:avLst/>
            </a:prstGeom>
          </p:spPr>
        </p:pic>
        <p:pic>
          <p:nvPicPr>
            <p:cNvPr id="24" name="Graphic 131">
              <a:extLst>
                <a:ext uri="{FF2B5EF4-FFF2-40B4-BE49-F238E27FC236}">
                  <a16:creationId xmlns:a16="http://schemas.microsoft.com/office/drawing/2014/main" id="{70D0C23C-09DB-4808-06BF-9B6A48F7570D}"/>
                </a:ext>
              </a:extLst>
            </p:cNvPr>
            <p:cNvPicPr/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2771347" y="3221831"/>
              <a:ext cx="611490" cy="611490"/>
            </a:xfrm>
            <a:prstGeom prst="rect">
              <a:avLst/>
            </a:prstGeom>
          </p:spPr>
        </p:pic>
        <p:sp>
          <p:nvSpPr>
            <p:cNvPr id="25" name="pole tekstowe 22">
              <a:extLst>
                <a:ext uri="{FF2B5EF4-FFF2-40B4-BE49-F238E27FC236}">
                  <a16:creationId xmlns:a16="http://schemas.microsoft.com/office/drawing/2014/main" id="{1AF7EC88-E6EC-2036-F0DD-878612F68EB6}"/>
                </a:ext>
              </a:extLst>
            </p:cNvPr>
            <p:cNvSpPr txBox="1"/>
            <p:nvPr/>
          </p:nvSpPr>
          <p:spPr>
            <a:xfrm>
              <a:off x="896517" y="2811012"/>
              <a:ext cx="2148292" cy="789711"/>
            </a:xfrm>
            <a:prstGeom prst="round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000" b="1" i="0" u="none" strike="noStrike" kern="1200" cap="none" spc="0" normalizeH="0" baseline="0" noProof="1">
                <a:ln>
                  <a:noFill/>
                </a:ln>
                <a:solidFill>
                  <a:srgbClr val="5C4F6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1" i="0" u="none" strike="noStrike" kern="1200" cap="none" spc="0" normalizeH="0" baseline="0" noProof="1">
                  <a:ln>
                    <a:noFill/>
                  </a:ln>
                  <a:solidFill>
                    <a:srgbClr val="5C4F61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Flow of Requirements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000" b="1" i="0" u="none" strike="noStrike" kern="1200" cap="none" spc="0" normalizeH="0" baseline="0" noProof="1">
                <a:ln>
                  <a:noFill/>
                </a:ln>
                <a:solidFill>
                  <a:srgbClr val="5C4F6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26" name="pole tekstowe 23">
              <a:extLst>
                <a:ext uri="{FF2B5EF4-FFF2-40B4-BE49-F238E27FC236}">
                  <a16:creationId xmlns:a16="http://schemas.microsoft.com/office/drawing/2014/main" id="{1A77033F-C92A-765F-6053-FC63FDD3DB32}"/>
                </a:ext>
              </a:extLst>
            </p:cNvPr>
            <p:cNvSpPr txBox="1"/>
            <p:nvPr/>
          </p:nvSpPr>
          <p:spPr>
            <a:xfrm>
              <a:off x="232562" y="3763270"/>
              <a:ext cx="1354256" cy="361951"/>
            </a:xfrm>
            <a:prstGeom prst="round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1" i="0" u="none" strike="noStrike" kern="1200" cap="none" spc="0" normalizeH="0" baseline="0" noProof="1">
                  <a:ln>
                    <a:noFill/>
                  </a:ln>
                  <a:solidFill>
                    <a:srgbClr val="5C4F61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Client Team</a:t>
              </a:r>
            </a:p>
          </p:txBody>
        </p:sp>
        <p:sp>
          <p:nvSpPr>
            <p:cNvPr id="27" name="pole tekstowe 24">
              <a:extLst>
                <a:ext uri="{FF2B5EF4-FFF2-40B4-BE49-F238E27FC236}">
                  <a16:creationId xmlns:a16="http://schemas.microsoft.com/office/drawing/2014/main" id="{6D663508-2BE7-39BB-F7C1-8D73EDEDDF58}"/>
                </a:ext>
              </a:extLst>
            </p:cNvPr>
            <p:cNvSpPr txBox="1"/>
            <p:nvPr/>
          </p:nvSpPr>
          <p:spPr>
            <a:xfrm>
              <a:off x="2294776" y="3733220"/>
              <a:ext cx="1549696" cy="361951"/>
            </a:xfrm>
            <a:prstGeom prst="round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1" i="0" u="none" strike="noStrike" kern="1200" cap="none" spc="0" normalizeH="0" baseline="0" noProof="1">
                  <a:ln>
                    <a:noFill/>
                  </a:ln>
                  <a:solidFill>
                    <a:srgbClr val="5C4F61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Scrum Team</a:t>
              </a:r>
            </a:p>
          </p:txBody>
        </p:sp>
        <p:cxnSp>
          <p:nvCxnSpPr>
            <p:cNvPr id="28" name="Łącznik prosty ze strzałką 25">
              <a:extLst>
                <a:ext uri="{FF2B5EF4-FFF2-40B4-BE49-F238E27FC236}">
                  <a16:creationId xmlns:a16="http://schemas.microsoft.com/office/drawing/2014/main" id="{5A87ED28-6849-3F37-A873-4DD2AFE95555}"/>
                </a:ext>
              </a:extLst>
            </p:cNvPr>
            <p:cNvCxnSpPr/>
            <p:nvPr/>
          </p:nvCxnSpPr>
          <p:spPr>
            <a:xfrm flipH="1">
              <a:off x="1270010" y="3029500"/>
              <a:ext cx="1426464" cy="0"/>
            </a:xfrm>
            <a:prstGeom prst="straightConnector1">
              <a:avLst/>
            </a:prstGeom>
            <a:ln w="28575">
              <a:solidFill>
                <a:srgbClr val="5C4F61"/>
              </a:solidFill>
              <a:prstDash val="solid"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9" name="Łącznik prosty ze strzałką 26">
              <a:extLst>
                <a:ext uri="{FF2B5EF4-FFF2-40B4-BE49-F238E27FC236}">
                  <a16:creationId xmlns:a16="http://schemas.microsoft.com/office/drawing/2014/main" id="{3D8A5EB5-9C73-286C-419C-0E166AAD3573}"/>
                </a:ext>
              </a:extLst>
            </p:cNvPr>
            <p:cNvCxnSpPr/>
            <p:nvPr/>
          </p:nvCxnSpPr>
          <p:spPr>
            <a:xfrm>
              <a:off x="1279154" y="3375675"/>
              <a:ext cx="1426464" cy="0"/>
            </a:xfrm>
            <a:prstGeom prst="straightConnector1">
              <a:avLst/>
            </a:prstGeom>
            <a:ln w="28575">
              <a:solidFill>
                <a:srgbClr val="5C4F61"/>
              </a:solidFill>
              <a:prstDash val="solid"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30" name="pole tekstowe 27">
              <a:extLst>
                <a:ext uri="{FF2B5EF4-FFF2-40B4-BE49-F238E27FC236}">
                  <a16:creationId xmlns:a16="http://schemas.microsoft.com/office/drawing/2014/main" id="{72DA478B-995F-30FB-0407-D025EEBA60CE}"/>
                </a:ext>
              </a:extLst>
            </p:cNvPr>
            <p:cNvSpPr txBox="1"/>
            <p:nvPr/>
          </p:nvSpPr>
          <p:spPr>
            <a:xfrm>
              <a:off x="1272693" y="4346189"/>
              <a:ext cx="1458268" cy="1125818"/>
            </a:xfrm>
            <a:prstGeom prst="roundRect">
              <a:avLst>
                <a:gd name="adj" fmla="val 3798"/>
              </a:avLst>
            </a:prstGeom>
            <a:solidFill>
              <a:srgbClr val="DFDAE1"/>
            </a:solidFill>
            <a:ln w="19050">
              <a:solidFill>
                <a:schemeClr val="bg1"/>
              </a:solidFill>
            </a:ln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1" i="0" u="none" strike="noStrike" kern="1200" cap="none" spc="0" normalizeH="0" baseline="0" noProof="1">
                  <a:ln>
                    <a:noFill/>
                  </a:ln>
                  <a:solidFill>
                    <a:srgbClr val="6C1D5F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Workflow tools</a:t>
              </a:r>
              <a:r>
                <a:rPr kumimoji="0" lang="en-US" sz="900" b="0" i="0" u="none" strike="noStrike" kern="1200" cap="none" spc="0" normalizeH="0" baseline="0" noProof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:</a:t>
              </a:r>
            </a:p>
            <a:p>
              <a:pPr marL="119063" marR="0" lvl="0" indent="-119063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US" sz="700" b="1" i="0" u="none" strike="noStrike" kern="1200" cap="none" spc="0" normalizeH="0" baseline="0" noProof="1">
                  <a:ln>
                    <a:noFill/>
                  </a:ln>
                  <a:solidFill>
                    <a:srgbClr val="5C4F61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Communication</a:t>
              </a:r>
            </a:p>
            <a:p>
              <a:pPr marL="119063" marR="0" lvl="0" indent="-119063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US" sz="700" b="1" i="0" u="none" strike="noStrike" kern="1200" cap="none" spc="0" normalizeH="0" baseline="0" noProof="1">
                  <a:ln>
                    <a:noFill/>
                  </a:ln>
                  <a:solidFill>
                    <a:srgbClr val="5C4F61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Code repository</a:t>
              </a:r>
            </a:p>
            <a:p>
              <a:pPr marL="119063" marR="0" lvl="0" indent="-119063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US" sz="700" b="1" i="0" u="none" strike="noStrike" kern="1200" cap="none" spc="0" normalizeH="0" baseline="0" noProof="1">
                  <a:ln>
                    <a:noFill/>
                  </a:ln>
                  <a:solidFill>
                    <a:srgbClr val="5C4F61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CI/CD</a:t>
              </a:r>
            </a:p>
            <a:p>
              <a:pPr marL="119063" marR="0" lvl="0" indent="-119063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US" sz="700" b="1" i="0" u="none" strike="noStrike" kern="1200" cap="none" spc="0" normalizeH="0" baseline="0" noProof="1">
                  <a:ln>
                    <a:noFill/>
                  </a:ln>
                  <a:solidFill>
                    <a:srgbClr val="5C4F61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QA Automation</a:t>
              </a:r>
            </a:p>
          </p:txBody>
        </p:sp>
        <p:sp>
          <p:nvSpPr>
            <p:cNvPr id="31" name="pole tekstowe 28">
              <a:extLst>
                <a:ext uri="{FF2B5EF4-FFF2-40B4-BE49-F238E27FC236}">
                  <a16:creationId xmlns:a16="http://schemas.microsoft.com/office/drawing/2014/main" id="{3DF08DD3-85DC-D93E-E4D8-B6887AC410E6}"/>
                </a:ext>
              </a:extLst>
            </p:cNvPr>
            <p:cNvSpPr txBox="1"/>
            <p:nvPr/>
          </p:nvSpPr>
          <p:spPr>
            <a:xfrm>
              <a:off x="9858429" y="3320743"/>
              <a:ext cx="1658112" cy="361951"/>
            </a:xfrm>
            <a:prstGeom prst="round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1" i="0" u="none" strike="noStrike" kern="1200" cap="none" spc="0" normalizeH="0" baseline="0" noProof="1">
                  <a:ln>
                    <a:noFill/>
                  </a:ln>
                  <a:solidFill>
                    <a:srgbClr val="5C4F61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FEEDBACK</a:t>
              </a:r>
            </a:p>
          </p:txBody>
        </p:sp>
        <p:cxnSp>
          <p:nvCxnSpPr>
            <p:cNvPr id="32" name="Łącznik: łamany 29">
              <a:extLst>
                <a:ext uri="{FF2B5EF4-FFF2-40B4-BE49-F238E27FC236}">
                  <a16:creationId xmlns:a16="http://schemas.microsoft.com/office/drawing/2014/main" id="{31394C67-6444-1F6D-9DD0-65DF057413AD}"/>
                </a:ext>
              </a:extLst>
            </p:cNvPr>
            <p:cNvCxnSpPr>
              <a:stCxn id="31" idx="0"/>
              <a:endCxn id="25" idx="0"/>
            </p:cNvCxnSpPr>
            <p:nvPr/>
          </p:nvCxnSpPr>
          <p:spPr>
            <a:xfrm rot="16200000" flipV="1">
              <a:off x="6074209" y="-1292533"/>
              <a:ext cx="509730" cy="8716822"/>
            </a:xfrm>
            <a:prstGeom prst="bentConnector3">
              <a:avLst>
                <a:gd name="adj1" fmla="val 157782"/>
              </a:avLst>
            </a:prstGeom>
            <a:ln w="28575">
              <a:solidFill>
                <a:srgbClr val="5C4F61"/>
              </a:solidFill>
              <a:prstDash val="sysDot"/>
              <a:headEnd type="diamond" w="med" len="med"/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3" name="Grupa 30">
              <a:extLst>
                <a:ext uri="{FF2B5EF4-FFF2-40B4-BE49-F238E27FC236}">
                  <a16:creationId xmlns:a16="http://schemas.microsoft.com/office/drawing/2014/main" id="{988A7A7A-3053-1F9E-C56E-A6EA9457E3CE}"/>
                </a:ext>
              </a:extLst>
            </p:cNvPr>
            <p:cNvGrpSpPr/>
            <p:nvPr/>
          </p:nvGrpSpPr>
          <p:grpSpPr>
            <a:xfrm>
              <a:off x="2356674" y="3927104"/>
              <a:ext cx="879291" cy="926188"/>
              <a:chOff x="2547267" y="3576657"/>
              <a:chExt cx="1217935" cy="1101408"/>
            </a:xfrm>
          </p:grpSpPr>
          <p:sp>
            <p:nvSpPr>
              <p:cNvPr id="70" name="Łuk 67">
                <a:extLst>
                  <a:ext uri="{FF2B5EF4-FFF2-40B4-BE49-F238E27FC236}">
                    <a16:creationId xmlns:a16="http://schemas.microsoft.com/office/drawing/2014/main" id="{5181359A-32D7-091F-DCF7-A2B577EA85D0}"/>
                  </a:ext>
                </a:extLst>
              </p:cNvPr>
              <p:cNvSpPr/>
              <p:nvPr/>
            </p:nvSpPr>
            <p:spPr>
              <a:xfrm rot="1948321">
                <a:off x="2547267" y="3576657"/>
                <a:ext cx="1190005" cy="1070699"/>
              </a:xfrm>
              <a:prstGeom prst="arc">
                <a:avLst>
                  <a:gd name="adj1" fmla="val 18555443"/>
                  <a:gd name="adj2" fmla="val 2817173"/>
                </a:avLst>
              </a:prstGeom>
              <a:ln w="57150">
                <a:solidFill>
                  <a:srgbClr val="9D92B3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400" b="0" i="0" u="none" strike="noStrike" kern="1200" cap="none" spc="0" normalizeH="0" baseline="0" noProof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71" name="Trójkąt równoramienny 68">
                <a:extLst>
                  <a:ext uri="{FF2B5EF4-FFF2-40B4-BE49-F238E27FC236}">
                    <a16:creationId xmlns:a16="http://schemas.microsoft.com/office/drawing/2014/main" id="{8E05EAFD-C95C-7E0D-5634-B584AAFF2FE1}"/>
                  </a:ext>
                </a:extLst>
              </p:cNvPr>
              <p:cNvSpPr/>
              <p:nvPr/>
            </p:nvSpPr>
            <p:spPr>
              <a:xfrm rot="20315633">
                <a:off x="3629356" y="3850113"/>
                <a:ext cx="135846" cy="132799"/>
              </a:xfrm>
              <a:prstGeom prst="triangle">
                <a:avLst/>
              </a:prstGeom>
              <a:solidFill>
                <a:srgbClr val="9D92B3"/>
              </a:solidFill>
              <a:ln>
                <a:solidFill>
                  <a:srgbClr val="9D92B3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400" b="0" i="0" u="none" strike="noStrike" kern="1200" cap="none" spc="0" normalizeH="0" baseline="0" noProof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72" name="Trójkąt równoramienny 69">
                <a:extLst>
                  <a:ext uri="{FF2B5EF4-FFF2-40B4-BE49-F238E27FC236}">
                    <a16:creationId xmlns:a16="http://schemas.microsoft.com/office/drawing/2014/main" id="{CEBA0EDD-0CA7-76AE-40B2-E76FC5496B20}"/>
                  </a:ext>
                </a:extLst>
              </p:cNvPr>
              <p:cNvSpPr/>
              <p:nvPr/>
            </p:nvSpPr>
            <p:spPr>
              <a:xfrm rot="16200000">
                <a:off x="3149415" y="4543743"/>
                <a:ext cx="135845" cy="132800"/>
              </a:xfrm>
              <a:prstGeom prst="triangle">
                <a:avLst/>
              </a:prstGeom>
              <a:solidFill>
                <a:srgbClr val="9D92B3"/>
              </a:solidFill>
              <a:ln>
                <a:solidFill>
                  <a:srgbClr val="9D92B3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400" b="0" i="0" u="none" strike="noStrike" kern="1200" cap="none" spc="0" normalizeH="0" baseline="0" noProof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34" name="Grupa 31">
              <a:extLst>
                <a:ext uri="{FF2B5EF4-FFF2-40B4-BE49-F238E27FC236}">
                  <a16:creationId xmlns:a16="http://schemas.microsoft.com/office/drawing/2014/main" id="{E490858F-1127-804C-B26C-84948E80FB6B}"/>
                </a:ext>
              </a:extLst>
            </p:cNvPr>
            <p:cNvGrpSpPr/>
            <p:nvPr/>
          </p:nvGrpSpPr>
          <p:grpSpPr>
            <a:xfrm flipH="1">
              <a:off x="717444" y="3927105"/>
              <a:ext cx="887946" cy="926188"/>
              <a:chOff x="2547267" y="3576657"/>
              <a:chExt cx="1217935" cy="1101408"/>
            </a:xfrm>
          </p:grpSpPr>
          <p:sp>
            <p:nvSpPr>
              <p:cNvPr id="67" name="Łuk 64">
                <a:extLst>
                  <a:ext uri="{FF2B5EF4-FFF2-40B4-BE49-F238E27FC236}">
                    <a16:creationId xmlns:a16="http://schemas.microsoft.com/office/drawing/2014/main" id="{A7A56B3F-FFCA-C201-6F1D-88C3420F472B}"/>
                  </a:ext>
                </a:extLst>
              </p:cNvPr>
              <p:cNvSpPr/>
              <p:nvPr/>
            </p:nvSpPr>
            <p:spPr>
              <a:xfrm rot="1948321">
                <a:off x="2547267" y="3576657"/>
                <a:ext cx="1190005" cy="1070699"/>
              </a:xfrm>
              <a:prstGeom prst="arc">
                <a:avLst>
                  <a:gd name="adj1" fmla="val 18555443"/>
                  <a:gd name="adj2" fmla="val 2817173"/>
                </a:avLst>
              </a:prstGeom>
              <a:ln w="57150">
                <a:solidFill>
                  <a:srgbClr val="9D92B3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400" b="0" i="0" u="none" strike="noStrike" kern="1200" cap="none" spc="0" normalizeH="0" baseline="0" noProof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68" name="Trójkąt równoramienny 65">
                <a:extLst>
                  <a:ext uri="{FF2B5EF4-FFF2-40B4-BE49-F238E27FC236}">
                    <a16:creationId xmlns:a16="http://schemas.microsoft.com/office/drawing/2014/main" id="{242B0C95-A92C-FA17-35D0-DB11700346F9}"/>
                  </a:ext>
                </a:extLst>
              </p:cNvPr>
              <p:cNvSpPr/>
              <p:nvPr/>
            </p:nvSpPr>
            <p:spPr>
              <a:xfrm rot="20315633">
                <a:off x="3629356" y="3850113"/>
                <a:ext cx="135846" cy="132799"/>
              </a:xfrm>
              <a:prstGeom prst="triangle">
                <a:avLst/>
              </a:prstGeom>
              <a:solidFill>
                <a:srgbClr val="9D92B3"/>
              </a:solidFill>
              <a:ln>
                <a:solidFill>
                  <a:srgbClr val="9D92B3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400" b="0" i="0" u="none" strike="noStrike" kern="1200" cap="none" spc="0" normalizeH="0" baseline="0" noProof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69" name="Trójkąt równoramienny 66">
                <a:extLst>
                  <a:ext uri="{FF2B5EF4-FFF2-40B4-BE49-F238E27FC236}">
                    <a16:creationId xmlns:a16="http://schemas.microsoft.com/office/drawing/2014/main" id="{D69F5A30-C9E3-9807-CD68-5ABD07F8E667}"/>
                  </a:ext>
                </a:extLst>
              </p:cNvPr>
              <p:cNvSpPr/>
              <p:nvPr/>
            </p:nvSpPr>
            <p:spPr>
              <a:xfrm rot="16200000">
                <a:off x="3149415" y="4543743"/>
                <a:ext cx="135845" cy="132800"/>
              </a:xfrm>
              <a:prstGeom prst="triangle">
                <a:avLst/>
              </a:prstGeom>
              <a:solidFill>
                <a:srgbClr val="9D92B3"/>
              </a:solidFill>
              <a:ln>
                <a:solidFill>
                  <a:srgbClr val="9D92B3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400" b="0" i="0" u="none" strike="noStrike" kern="1200" cap="none" spc="0" normalizeH="0" baseline="0" noProof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35" name="Strzałka: w prawo z wcięciem 32">
              <a:extLst>
                <a:ext uri="{FF2B5EF4-FFF2-40B4-BE49-F238E27FC236}">
                  <a16:creationId xmlns:a16="http://schemas.microsoft.com/office/drawing/2014/main" id="{7702B854-43F7-5F9B-771D-9DDAF598A857}"/>
                </a:ext>
              </a:extLst>
            </p:cNvPr>
            <p:cNvSpPr/>
            <p:nvPr/>
          </p:nvSpPr>
          <p:spPr>
            <a:xfrm>
              <a:off x="3495985" y="3556517"/>
              <a:ext cx="1131172" cy="625505"/>
            </a:xfrm>
            <a:prstGeom prst="notchedRightArrow">
              <a:avLst>
                <a:gd name="adj1" fmla="val 68273"/>
                <a:gd name="adj2" fmla="val 32734"/>
              </a:avLst>
            </a:prstGeom>
            <a:solidFill>
              <a:srgbClr val="FFFFFF"/>
            </a:solidFill>
            <a:ln w="3175">
              <a:solidFill>
                <a:srgbClr val="B9AEBE"/>
              </a:solidFill>
            </a:ln>
            <a:effectLst>
              <a:glow rad="101600">
                <a:srgbClr val="F1EEF2">
                  <a:alpha val="60000"/>
                </a:srgb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800" b="1" i="0" u="none" strike="noStrike" kern="1200" cap="none" spc="0" normalizeH="0" baseline="0" noProof="1">
                <a:ln>
                  <a:noFill/>
                </a:ln>
                <a:solidFill>
                  <a:srgbClr val="5C4F6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36" name="Strzałka: w prawo z wcięciem 33">
              <a:extLst>
                <a:ext uri="{FF2B5EF4-FFF2-40B4-BE49-F238E27FC236}">
                  <a16:creationId xmlns:a16="http://schemas.microsoft.com/office/drawing/2014/main" id="{37A1ECDC-FB79-0258-D79E-C18AA296D31A}"/>
                </a:ext>
              </a:extLst>
            </p:cNvPr>
            <p:cNvSpPr/>
            <p:nvPr/>
          </p:nvSpPr>
          <p:spPr>
            <a:xfrm rot="16200000">
              <a:off x="10405917" y="3693901"/>
              <a:ext cx="557868" cy="471643"/>
            </a:xfrm>
            <a:prstGeom prst="notchedRightArrow">
              <a:avLst>
                <a:gd name="adj1" fmla="val 50000"/>
                <a:gd name="adj2" fmla="val 59770"/>
              </a:avLst>
            </a:prstGeom>
            <a:solidFill>
              <a:srgbClr val="FFFFFF"/>
            </a:solidFill>
            <a:ln w="3175">
              <a:solidFill>
                <a:srgbClr val="B9AEBE"/>
              </a:solidFill>
            </a:ln>
            <a:effectLst>
              <a:glow rad="101600">
                <a:srgbClr val="F1EEF2">
                  <a:alpha val="60000"/>
                </a:srgb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050" b="0" i="0" u="none" strike="noStrike" kern="1200" cap="none" spc="0" normalizeH="0" baseline="0" noProof="1">
                <a:ln>
                  <a:noFill/>
                </a:ln>
                <a:solidFill>
                  <a:srgbClr val="5C4F6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pic>
          <p:nvPicPr>
            <p:cNvPr id="37" name="Grafika 34" descr="Chmura z wypełnieniem pełnym">
              <a:extLst>
                <a:ext uri="{FF2B5EF4-FFF2-40B4-BE49-F238E27FC236}">
                  <a16:creationId xmlns:a16="http://schemas.microsoft.com/office/drawing/2014/main" id="{F9157A57-A870-2FD7-A228-F52EF6EC2EF0}"/>
                </a:ext>
              </a:extLst>
            </p:cNvPr>
            <p:cNvPicPr/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9678820" y="3655865"/>
              <a:ext cx="2280619" cy="2280619"/>
            </a:xfrm>
            <a:prstGeom prst="rect">
              <a:avLst/>
            </a:prstGeom>
            <a:effectLst>
              <a:glow rad="101600">
                <a:srgbClr val="DFDAE1">
                  <a:alpha val="60000"/>
                </a:srgbClr>
              </a:glow>
            </a:effectLst>
          </p:spPr>
        </p:pic>
        <p:sp>
          <p:nvSpPr>
            <p:cNvPr id="38" name="pole tekstowe 35">
              <a:extLst>
                <a:ext uri="{FF2B5EF4-FFF2-40B4-BE49-F238E27FC236}">
                  <a16:creationId xmlns:a16="http://schemas.microsoft.com/office/drawing/2014/main" id="{5F6220FE-7B52-1152-FB4E-88763F7CF6BD}"/>
                </a:ext>
              </a:extLst>
            </p:cNvPr>
            <p:cNvSpPr txBox="1"/>
            <p:nvPr/>
          </p:nvSpPr>
          <p:spPr>
            <a:xfrm>
              <a:off x="10102204" y="4549859"/>
              <a:ext cx="1395441" cy="5948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0" i="0" u="none" strike="noStrike" kern="1200" cap="none" spc="0" normalizeH="0" baseline="0" noProof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Latest working software deployed to Client</a:t>
              </a:r>
            </a:p>
          </p:txBody>
        </p:sp>
        <p:sp>
          <p:nvSpPr>
            <p:cNvPr id="39" name="pole tekstowe 36">
              <a:extLst>
                <a:ext uri="{FF2B5EF4-FFF2-40B4-BE49-F238E27FC236}">
                  <a16:creationId xmlns:a16="http://schemas.microsoft.com/office/drawing/2014/main" id="{F9CAD6A5-4E28-4296-FD44-889F1E775B24}"/>
                </a:ext>
              </a:extLst>
            </p:cNvPr>
            <p:cNvSpPr txBox="1"/>
            <p:nvPr/>
          </p:nvSpPr>
          <p:spPr>
            <a:xfrm>
              <a:off x="9858429" y="5436514"/>
              <a:ext cx="1900478" cy="614219"/>
            </a:xfrm>
            <a:prstGeom prst="round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100" b="1" i="0" u="none" strike="noStrike" kern="1200" cap="none" spc="0" normalizeH="0" baseline="0" noProof="1">
                  <a:ln>
                    <a:noFill/>
                  </a:ln>
                  <a:solidFill>
                    <a:srgbClr val="5C4F61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Bi-weekly releases</a:t>
              </a:r>
            </a:p>
          </p:txBody>
        </p:sp>
        <p:grpSp>
          <p:nvGrpSpPr>
            <p:cNvPr id="40" name="Group 186">
              <a:extLst>
                <a:ext uri="{FF2B5EF4-FFF2-40B4-BE49-F238E27FC236}">
                  <a16:creationId xmlns:a16="http://schemas.microsoft.com/office/drawing/2014/main" id="{0551E90F-8EC9-D4EE-6316-3B914EFF9050}"/>
                </a:ext>
              </a:extLst>
            </p:cNvPr>
            <p:cNvGrpSpPr/>
            <p:nvPr/>
          </p:nvGrpSpPr>
          <p:grpSpPr>
            <a:xfrm>
              <a:off x="6433485" y="2574452"/>
              <a:ext cx="1780127" cy="2646649"/>
              <a:chOff x="8104844" y="3073496"/>
              <a:chExt cx="2167455" cy="3182022"/>
            </a:xfrm>
            <a:solidFill>
              <a:srgbClr val="5C4F61"/>
            </a:solidFill>
            <a:effectLst>
              <a:glow rad="101600">
                <a:srgbClr val="DFDAE1">
                  <a:alpha val="60000"/>
                </a:srgbClr>
              </a:glow>
            </a:effectLst>
          </p:grpSpPr>
          <p:sp>
            <p:nvSpPr>
              <p:cNvPr id="64" name="Google Shape;315;p11">
                <a:extLst>
                  <a:ext uri="{FF2B5EF4-FFF2-40B4-BE49-F238E27FC236}">
                    <a16:creationId xmlns:a16="http://schemas.microsoft.com/office/drawing/2014/main" id="{4CE5FC7D-6E21-B1B0-D787-5DB44E30BD60}"/>
                  </a:ext>
                </a:extLst>
              </p:cNvPr>
              <p:cNvSpPr/>
              <p:nvPr/>
            </p:nvSpPr>
            <p:spPr>
              <a:xfrm>
                <a:off x="8261111" y="5873751"/>
                <a:ext cx="2011188" cy="381767"/>
              </a:xfrm>
              <a:prstGeom prst="rightArrow">
                <a:avLst>
                  <a:gd name="adj1" fmla="val 50000"/>
                  <a:gd name="adj2" fmla="val 50000"/>
                </a:avLst>
              </a:prstGeom>
              <a:grpFill/>
              <a:ln>
                <a:noFill/>
              </a:ln>
            </p:spPr>
            <p:txBody>
              <a:bodyPr spcFirstLastPara="1" wrap="square" lIns="45713" tIns="22850" rIns="45713" bIns="2285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600" b="0" i="0" u="none" strike="noStrike" kern="0" cap="none" spc="0" normalizeH="0" baseline="0" noProof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Lato Light"/>
                  <a:cs typeface="Arial" panose="020B0604020202020204" pitchFamily="34" charset="0"/>
                  <a:sym typeface="Lato Light"/>
                </a:endParaRPr>
              </a:p>
            </p:txBody>
          </p:sp>
          <p:sp>
            <p:nvSpPr>
              <p:cNvPr id="65" name="Google Shape;316;p11">
                <a:extLst>
                  <a:ext uri="{FF2B5EF4-FFF2-40B4-BE49-F238E27FC236}">
                    <a16:creationId xmlns:a16="http://schemas.microsoft.com/office/drawing/2014/main" id="{AD65CCB0-4F0A-1291-29A8-CDC31F2E635A}"/>
                  </a:ext>
                </a:extLst>
              </p:cNvPr>
              <p:cNvSpPr/>
              <p:nvPr/>
            </p:nvSpPr>
            <p:spPr>
              <a:xfrm>
                <a:off x="8104844" y="4248634"/>
                <a:ext cx="2092832" cy="1908252"/>
              </a:xfrm>
              <a:custGeom>
                <a:avLst/>
                <a:gdLst/>
                <a:ahLst/>
                <a:cxnLst/>
                <a:rect l="l" t="t" r="r" b="b"/>
                <a:pathLst>
                  <a:path w="6612229" h="6228031" extrusionOk="0">
                    <a:moveTo>
                      <a:pt x="3530736" y="195"/>
                    </a:moveTo>
                    <a:cubicBezTo>
                      <a:pt x="4295660" y="8752"/>
                      <a:pt x="5048371" y="298526"/>
                      <a:pt x="5629685" y="844165"/>
                    </a:cubicBezTo>
                    <a:cubicBezTo>
                      <a:pt x="6560926" y="1718255"/>
                      <a:pt x="6863672" y="3071861"/>
                      <a:pt x="6393422" y="4258907"/>
                    </a:cubicBezTo>
                    <a:cubicBezTo>
                      <a:pt x="5923566" y="5444959"/>
                      <a:pt x="4777122" y="6224591"/>
                      <a:pt x="3500516" y="6226210"/>
                    </a:cubicBezTo>
                    <a:lnTo>
                      <a:pt x="3500309" y="6063046"/>
                    </a:lnTo>
                    <a:lnTo>
                      <a:pt x="3500309" y="6228031"/>
                    </a:lnTo>
                    <a:lnTo>
                      <a:pt x="974850" y="6228031"/>
                    </a:lnTo>
                    <a:lnTo>
                      <a:pt x="974850" y="5630463"/>
                    </a:lnTo>
                    <a:lnTo>
                      <a:pt x="3500309" y="5630463"/>
                    </a:lnTo>
                    <a:lnTo>
                      <a:pt x="3500309" y="5634264"/>
                    </a:lnTo>
                    <a:lnTo>
                      <a:pt x="3690128" y="5626895"/>
                    </a:lnTo>
                    <a:cubicBezTo>
                      <a:pt x="4634928" y="5554563"/>
                      <a:pt x="5466676" y="4956777"/>
                      <a:pt x="5830856" y="4071245"/>
                    </a:cubicBezTo>
                    <a:cubicBezTo>
                      <a:pt x="6219727" y="3125674"/>
                      <a:pt x="5998555" y="2039109"/>
                      <a:pt x="5270909" y="1320360"/>
                    </a:cubicBezTo>
                    <a:cubicBezTo>
                      <a:pt x="4544362" y="602697"/>
                      <a:pt x="3456350" y="393501"/>
                      <a:pt x="2515064" y="790484"/>
                    </a:cubicBezTo>
                    <a:cubicBezTo>
                      <a:pt x="1572757" y="1187898"/>
                      <a:pt x="963757" y="2114231"/>
                      <a:pt x="973039" y="3136018"/>
                    </a:cubicBezTo>
                    <a:lnTo>
                      <a:pt x="1357921" y="3027521"/>
                    </a:lnTo>
                    <a:lnTo>
                      <a:pt x="782916" y="3878112"/>
                    </a:lnTo>
                    <a:lnTo>
                      <a:pt x="0" y="3410316"/>
                    </a:lnTo>
                    <a:lnTo>
                      <a:pt x="386705" y="3301304"/>
                    </a:lnTo>
                    <a:cubicBezTo>
                      <a:pt x="309500" y="2027336"/>
                      <a:pt x="1018345" y="835339"/>
                      <a:pt x="2175068" y="293982"/>
                    </a:cubicBezTo>
                    <a:cubicBezTo>
                      <a:pt x="2608431" y="91164"/>
                      <a:pt x="3071782" y="-4939"/>
                      <a:pt x="3530736" y="195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45713" tIns="22850" rIns="45713" bIns="2285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600" b="0" i="0" u="none" strike="noStrike" kern="0" cap="none" spc="0" normalizeH="0" baseline="0" noProof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Lato Light"/>
                  <a:cs typeface="Arial" panose="020B0604020202020204" pitchFamily="34" charset="0"/>
                  <a:sym typeface="Lato Light"/>
                </a:endParaRPr>
              </a:p>
            </p:txBody>
          </p:sp>
          <p:sp>
            <p:nvSpPr>
              <p:cNvPr id="66" name="Google Shape;317;p11">
                <a:extLst>
                  <a:ext uri="{FF2B5EF4-FFF2-40B4-BE49-F238E27FC236}">
                    <a16:creationId xmlns:a16="http://schemas.microsoft.com/office/drawing/2014/main" id="{77DB94FB-F203-B122-4A84-3E7F0B24739B}"/>
                  </a:ext>
                </a:extLst>
              </p:cNvPr>
              <p:cNvSpPr/>
              <p:nvPr/>
            </p:nvSpPr>
            <p:spPr>
              <a:xfrm rot="20351915" flipH="1">
                <a:off x="8300294" y="3073496"/>
                <a:ext cx="1516936" cy="1086440"/>
              </a:xfrm>
              <a:custGeom>
                <a:avLst/>
                <a:gdLst/>
                <a:ahLst/>
                <a:cxnLst/>
                <a:rect l="l" t="t" r="r" b="b"/>
                <a:pathLst>
                  <a:path w="4406136" h="3211894" extrusionOk="0">
                    <a:moveTo>
                      <a:pt x="3441125" y="322111"/>
                    </a:moveTo>
                    <a:cubicBezTo>
                      <a:pt x="3112743" y="114110"/>
                      <a:pt x="2735034" y="4407"/>
                      <a:pt x="2352747" y="130"/>
                    </a:cubicBezTo>
                    <a:cubicBezTo>
                      <a:pt x="2046918" y="-3292"/>
                      <a:pt x="1738159" y="60758"/>
                      <a:pt x="1449382" y="195931"/>
                    </a:cubicBezTo>
                    <a:cubicBezTo>
                      <a:pt x="678586" y="556732"/>
                      <a:pt x="206239" y="1351167"/>
                      <a:pt x="257686" y="2200233"/>
                    </a:cubicBezTo>
                    <a:lnTo>
                      <a:pt x="0" y="2272886"/>
                    </a:lnTo>
                    <a:lnTo>
                      <a:pt x="521705" y="2584660"/>
                    </a:lnTo>
                    <a:lnTo>
                      <a:pt x="904866" y="2017763"/>
                    </a:lnTo>
                    <a:lnTo>
                      <a:pt x="648396" y="2090074"/>
                    </a:lnTo>
                    <a:cubicBezTo>
                      <a:pt x="642211" y="1409080"/>
                      <a:pt x="1048025" y="791703"/>
                      <a:pt x="1675942" y="526837"/>
                    </a:cubicBezTo>
                    <a:cubicBezTo>
                      <a:pt x="2303179" y="262258"/>
                      <a:pt x="3028188" y="401682"/>
                      <a:pt x="3512331" y="879985"/>
                    </a:cubicBezTo>
                    <a:cubicBezTo>
                      <a:pt x="3997207" y="1359013"/>
                      <a:pt x="4144588" y="2083180"/>
                      <a:pt x="3885459" y="2713379"/>
                    </a:cubicBezTo>
                    <a:cubicBezTo>
                      <a:pt x="3824790" y="2860925"/>
                      <a:pt x="3744648" y="2996485"/>
                      <a:pt x="3648724" y="3117583"/>
                    </a:cubicBezTo>
                    <a:lnTo>
                      <a:pt x="3609582" y="3163644"/>
                    </a:lnTo>
                    <a:lnTo>
                      <a:pt x="3739619" y="3169790"/>
                    </a:lnTo>
                    <a:cubicBezTo>
                      <a:pt x="3796130" y="3174012"/>
                      <a:pt x="3852636" y="3179792"/>
                      <a:pt x="3909073" y="3187147"/>
                    </a:cubicBezTo>
                    <a:lnTo>
                      <a:pt x="4065138" y="3211894"/>
                    </a:lnTo>
                    <a:lnTo>
                      <a:pt x="4122498" y="3121697"/>
                    </a:lnTo>
                    <a:cubicBezTo>
                      <a:pt x="4175013" y="3031836"/>
                      <a:pt x="4221195" y="2937259"/>
                      <a:pt x="4260331" y="2838450"/>
                    </a:cubicBezTo>
                    <a:cubicBezTo>
                      <a:pt x="4573688" y="2047315"/>
                      <a:pt x="4371950" y="1145172"/>
                      <a:pt x="3751406" y="562614"/>
                    </a:cubicBezTo>
                    <a:cubicBezTo>
                      <a:pt x="3654564" y="471700"/>
                      <a:pt x="3550586" y="391445"/>
                      <a:pt x="3441125" y="322111"/>
                    </a:cubicBezTo>
                    <a:close/>
                  </a:path>
                </a:pathLst>
              </a:custGeom>
              <a:solidFill>
                <a:srgbClr val="B9AEBE"/>
              </a:solidFill>
              <a:ln w="9525">
                <a:noFill/>
              </a:ln>
            </p:spPr>
            <p:txBody>
              <a:bodyPr spcFirstLastPara="1" wrap="square" lIns="45713" tIns="22850" rIns="45713" bIns="2285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600" b="0" i="0" u="none" strike="noStrike" kern="0" cap="none" spc="0" normalizeH="0" baseline="0" noProof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Lato Light"/>
                  <a:cs typeface="Arial" panose="020B0604020202020204" pitchFamily="34" charset="0"/>
                  <a:sym typeface="Lato Light"/>
                </a:endParaRPr>
              </a:p>
            </p:txBody>
          </p:sp>
        </p:grpSp>
        <p:sp>
          <p:nvSpPr>
            <p:cNvPr id="41" name="TextBox 187">
              <a:extLst>
                <a:ext uri="{FF2B5EF4-FFF2-40B4-BE49-F238E27FC236}">
                  <a16:creationId xmlns:a16="http://schemas.microsoft.com/office/drawing/2014/main" id="{1CB13E14-F77E-64D5-DDA5-28E5B9214C88}"/>
                </a:ext>
              </a:extLst>
            </p:cNvPr>
            <p:cNvSpPr txBox="1"/>
            <p:nvPr/>
          </p:nvSpPr>
          <p:spPr>
            <a:xfrm>
              <a:off x="5622872" y="2955794"/>
              <a:ext cx="1106659" cy="25775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i="0" u="none" strike="noStrike" kern="1200" cap="none" spc="0" normalizeH="0" baseline="0" noProof="1">
                  <a:ln>
                    <a:noFill/>
                  </a:ln>
                  <a:solidFill>
                    <a:srgbClr val="5C4F61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Daily Scrum</a:t>
              </a:r>
            </a:p>
          </p:txBody>
        </p:sp>
        <p:sp>
          <p:nvSpPr>
            <p:cNvPr id="42" name="TextBox 188">
              <a:extLst>
                <a:ext uri="{FF2B5EF4-FFF2-40B4-BE49-F238E27FC236}">
                  <a16:creationId xmlns:a16="http://schemas.microsoft.com/office/drawing/2014/main" id="{8D4BA339-C412-3915-20C4-1CFF2F8208EF}"/>
                </a:ext>
              </a:extLst>
            </p:cNvPr>
            <p:cNvSpPr txBox="1"/>
            <p:nvPr/>
          </p:nvSpPr>
          <p:spPr>
            <a:xfrm>
              <a:off x="8090279" y="3584730"/>
              <a:ext cx="1103643" cy="535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50" b="1" i="0" u="none" strike="noStrike" kern="1200" cap="none" spc="0" normalizeH="0" baseline="0" noProof="1">
                  <a:ln>
                    <a:noFill/>
                  </a:ln>
                  <a:solidFill>
                    <a:srgbClr val="5C4F61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Bi-weekly Sprint</a:t>
              </a:r>
            </a:p>
          </p:txBody>
        </p:sp>
        <p:sp>
          <p:nvSpPr>
            <p:cNvPr id="43" name="TextBox 189">
              <a:extLst>
                <a:ext uri="{FF2B5EF4-FFF2-40B4-BE49-F238E27FC236}">
                  <a16:creationId xmlns:a16="http://schemas.microsoft.com/office/drawing/2014/main" id="{91847435-BAD4-98D3-B807-20BF99A5A63A}"/>
                </a:ext>
              </a:extLst>
            </p:cNvPr>
            <p:cNvSpPr txBox="1"/>
            <p:nvPr/>
          </p:nvSpPr>
          <p:spPr>
            <a:xfrm>
              <a:off x="6939598" y="4202977"/>
              <a:ext cx="781088" cy="27758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1">
                  <a:ln>
                    <a:noFill/>
                  </a:ln>
                  <a:solidFill>
                    <a:srgbClr val="5C4F61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2 weeks</a:t>
              </a:r>
            </a:p>
          </p:txBody>
        </p:sp>
        <p:sp>
          <p:nvSpPr>
            <p:cNvPr id="44" name="Google Shape;334;p11">
              <a:extLst>
                <a:ext uri="{FF2B5EF4-FFF2-40B4-BE49-F238E27FC236}">
                  <a16:creationId xmlns:a16="http://schemas.microsoft.com/office/drawing/2014/main" id="{DA5425E4-48A3-6B57-67D1-7C60948D9537}"/>
                </a:ext>
              </a:extLst>
            </p:cNvPr>
            <p:cNvSpPr/>
            <p:nvPr/>
          </p:nvSpPr>
          <p:spPr>
            <a:xfrm>
              <a:off x="9299024" y="4851597"/>
              <a:ext cx="479270" cy="374399"/>
            </a:xfrm>
            <a:custGeom>
              <a:avLst/>
              <a:gdLst/>
              <a:ahLst/>
              <a:cxnLst/>
              <a:rect l="l" t="t" r="r" b="b"/>
              <a:pathLst>
                <a:path w="293328" h="258401" extrusionOk="0">
                  <a:moveTo>
                    <a:pt x="229821" y="219075"/>
                  </a:moveTo>
                  <a:cubicBezTo>
                    <a:pt x="232386" y="219075"/>
                    <a:pt x="234584" y="220907"/>
                    <a:pt x="234584" y="223838"/>
                  </a:cubicBezTo>
                  <a:cubicBezTo>
                    <a:pt x="234584" y="226402"/>
                    <a:pt x="232386" y="228234"/>
                    <a:pt x="229821" y="228234"/>
                  </a:cubicBezTo>
                  <a:cubicBezTo>
                    <a:pt x="227257" y="228234"/>
                    <a:pt x="225425" y="226402"/>
                    <a:pt x="225425" y="223838"/>
                  </a:cubicBezTo>
                  <a:cubicBezTo>
                    <a:pt x="225425" y="220907"/>
                    <a:pt x="227257" y="219075"/>
                    <a:pt x="229821" y="219075"/>
                  </a:cubicBezTo>
                  <a:close/>
                  <a:moveTo>
                    <a:pt x="76200" y="219075"/>
                  </a:moveTo>
                  <a:cubicBezTo>
                    <a:pt x="78398" y="219075"/>
                    <a:pt x="80597" y="220907"/>
                    <a:pt x="80597" y="223838"/>
                  </a:cubicBezTo>
                  <a:cubicBezTo>
                    <a:pt x="80597" y="226402"/>
                    <a:pt x="78398" y="228234"/>
                    <a:pt x="76200" y="228234"/>
                  </a:cubicBezTo>
                  <a:cubicBezTo>
                    <a:pt x="73636" y="228234"/>
                    <a:pt x="71438" y="226402"/>
                    <a:pt x="71438" y="223838"/>
                  </a:cubicBezTo>
                  <a:cubicBezTo>
                    <a:pt x="71438" y="220907"/>
                    <a:pt x="73636" y="219075"/>
                    <a:pt x="76200" y="219075"/>
                  </a:cubicBezTo>
                  <a:close/>
                  <a:moveTo>
                    <a:pt x="229624" y="199214"/>
                  </a:moveTo>
                  <a:cubicBezTo>
                    <a:pt x="215947" y="199214"/>
                    <a:pt x="204430" y="210402"/>
                    <a:pt x="204430" y="224477"/>
                  </a:cubicBezTo>
                  <a:cubicBezTo>
                    <a:pt x="204430" y="238191"/>
                    <a:pt x="215947" y="249740"/>
                    <a:pt x="229624" y="249740"/>
                  </a:cubicBezTo>
                  <a:cubicBezTo>
                    <a:pt x="243660" y="249740"/>
                    <a:pt x="254818" y="238191"/>
                    <a:pt x="254818" y="224477"/>
                  </a:cubicBezTo>
                  <a:cubicBezTo>
                    <a:pt x="254818" y="210402"/>
                    <a:pt x="243660" y="199214"/>
                    <a:pt x="229624" y="199214"/>
                  </a:cubicBezTo>
                  <a:close/>
                  <a:moveTo>
                    <a:pt x="75581" y="199214"/>
                  </a:moveTo>
                  <a:cubicBezTo>
                    <a:pt x="61545" y="199214"/>
                    <a:pt x="50388" y="210402"/>
                    <a:pt x="50388" y="224477"/>
                  </a:cubicBezTo>
                  <a:cubicBezTo>
                    <a:pt x="50388" y="238191"/>
                    <a:pt x="61545" y="249740"/>
                    <a:pt x="75581" y="249740"/>
                  </a:cubicBezTo>
                  <a:cubicBezTo>
                    <a:pt x="89258" y="249740"/>
                    <a:pt x="100415" y="238191"/>
                    <a:pt x="100415" y="224477"/>
                  </a:cubicBezTo>
                  <a:cubicBezTo>
                    <a:pt x="100415" y="210402"/>
                    <a:pt x="89258" y="199214"/>
                    <a:pt x="75581" y="199214"/>
                  </a:cubicBezTo>
                  <a:close/>
                  <a:moveTo>
                    <a:pt x="8638" y="175395"/>
                  </a:moveTo>
                  <a:lnTo>
                    <a:pt x="8638" y="212568"/>
                  </a:lnTo>
                  <a:cubicBezTo>
                    <a:pt x="8638" y="216537"/>
                    <a:pt x="11877" y="219785"/>
                    <a:pt x="16196" y="219785"/>
                  </a:cubicBezTo>
                  <a:lnTo>
                    <a:pt x="41750" y="219785"/>
                  </a:lnTo>
                  <a:cubicBezTo>
                    <a:pt x="43909" y="203184"/>
                    <a:pt x="58306" y="190192"/>
                    <a:pt x="75581" y="190192"/>
                  </a:cubicBezTo>
                  <a:cubicBezTo>
                    <a:pt x="92857" y="190192"/>
                    <a:pt x="106894" y="203184"/>
                    <a:pt x="109413" y="219785"/>
                  </a:cubicBezTo>
                  <a:lnTo>
                    <a:pt x="165919" y="219785"/>
                  </a:lnTo>
                  <a:lnTo>
                    <a:pt x="165919" y="175395"/>
                  </a:lnTo>
                  <a:lnTo>
                    <a:pt x="8638" y="175395"/>
                  </a:lnTo>
                  <a:close/>
                  <a:moveTo>
                    <a:pt x="199901" y="165100"/>
                  </a:moveTo>
                  <a:lnTo>
                    <a:pt x="222019" y="165100"/>
                  </a:lnTo>
                  <a:cubicBezTo>
                    <a:pt x="224873" y="165100"/>
                    <a:pt x="226656" y="166932"/>
                    <a:pt x="226656" y="169863"/>
                  </a:cubicBezTo>
                  <a:cubicBezTo>
                    <a:pt x="226656" y="172061"/>
                    <a:pt x="224873" y="174259"/>
                    <a:pt x="222019" y="174259"/>
                  </a:cubicBezTo>
                  <a:lnTo>
                    <a:pt x="199901" y="174259"/>
                  </a:lnTo>
                  <a:cubicBezTo>
                    <a:pt x="197404" y="174259"/>
                    <a:pt x="195263" y="172061"/>
                    <a:pt x="195263" y="169863"/>
                  </a:cubicBezTo>
                  <a:cubicBezTo>
                    <a:pt x="195263" y="166932"/>
                    <a:pt x="197404" y="165100"/>
                    <a:pt x="199901" y="165100"/>
                  </a:cubicBezTo>
                  <a:close/>
                  <a:moveTo>
                    <a:pt x="118411" y="92028"/>
                  </a:moveTo>
                  <a:lnTo>
                    <a:pt x="118411" y="116569"/>
                  </a:lnTo>
                  <a:lnTo>
                    <a:pt x="127409" y="112960"/>
                  </a:lnTo>
                  <a:cubicBezTo>
                    <a:pt x="128128" y="112599"/>
                    <a:pt x="129208" y="112599"/>
                    <a:pt x="130288" y="112960"/>
                  </a:cubicBezTo>
                  <a:lnTo>
                    <a:pt x="139286" y="116569"/>
                  </a:lnTo>
                  <a:lnTo>
                    <a:pt x="139286" y="92028"/>
                  </a:lnTo>
                  <a:lnTo>
                    <a:pt x="118411" y="92028"/>
                  </a:lnTo>
                  <a:close/>
                  <a:moveTo>
                    <a:pt x="91777" y="92028"/>
                  </a:moveTo>
                  <a:lnTo>
                    <a:pt x="91777" y="166373"/>
                  </a:lnTo>
                  <a:lnTo>
                    <a:pt x="165919" y="166373"/>
                  </a:lnTo>
                  <a:lnTo>
                    <a:pt x="165919" y="92028"/>
                  </a:lnTo>
                  <a:lnTo>
                    <a:pt x="148284" y="92028"/>
                  </a:lnTo>
                  <a:lnTo>
                    <a:pt x="148284" y="123065"/>
                  </a:lnTo>
                  <a:cubicBezTo>
                    <a:pt x="148284" y="124870"/>
                    <a:pt x="147204" y="125952"/>
                    <a:pt x="146124" y="126674"/>
                  </a:cubicBezTo>
                  <a:cubicBezTo>
                    <a:pt x="145044" y="127757"/>
                    <a:pt x="143245" y="127757"/>
                    <a:pt x="142165" y="127396"/>
                  </a:cubicBezTo>
                  <a:lnTo>
                    <a:pt x="128848" y="121983"/>
                  </a:lnTo>
                  <a:lnTo>
                    <a:pt x="115532" y="127396"/>
                  </a:lnTo>
                  <a:cubicBezTo>
                    <a:pt x="115172" y="127757"/>
                    <a:pt x="114452" y="127757"/>
                    <a:pt x="114092" y="127757"/>
                  </a:cubicBezTo>
                  <a:cubicBezTo>
                    <a:pt x="113012" y="127757"/>
                    <a:pt x="112292" y="127396"/>
                    <a:pt x="111573" y="126674"/>
                  </a:cubicBezTo>
                  <a:cubicBezTo>
                    <a:pt x="110493" y="125952"/>
                    <a:pt x="109413" y="124870"/>
                    <a:pt x="109413" y="123065"/>
                  </a:cubicBezTo>
                  <a:lnTo>
                    <a:pt x="109413" y="92028"/>
                  </a:lnTo>
                  <a:lnTo>
                    <a:pt x="91777" y="92028"/>
                  </a:lnTo>
                  <a:close/>
                  <a:moveTo>
                    <a:pt x="35271" y="92028"/>
                  </a:moveTo>
                  <a:lnTo>
                    <a:pt x="35271" y="116569"/>
                  </a:lnTo>
                  <a:lnTo>
                    <a:pt x="44269" y="112960"/>
                  </a:lnTo>
                  <a:cubicBezTo>
                    <a:pt x="44629" y="112960"/>
                    <a:pt x="45349" y="112960"/>
                    <a:pt x="45709" y="112960"/>
                  </a:cubicBezTo>
                  <a:cubicBezTo>
                    <a:pt x="46428" y="112960"/>
                    <a:pt x="46788" y="112960"/>
                    <a:pt x="47508" y="112960"/>
                  </a:cubicBezTo>
                  <a:lnTo>
                    <a:pt x="56146" y="116569"/>
                  </a:lnTo>
                  <a:lnTo>
                    <a:pt x="56146" y="92028"/>
                  </a:lnTo>
                  <a:lnTo>
                    <a:pt x="35271" y="92028"/>
                  </a:lnTo>
                  <a:close/>
                  <a:moveTo>
                    <a:pt x="8638" y="92028"/>
                  </a:moveTo>
                  <a:lnTo>
                    <a:pt x="8638" y="166373"/>
                  </a:lnTo>
                  <a:lnTo>
                    <a:pt x="82780" y="166373"/>
                  </a:lnTo>
                  <a:lnTo>
                    <a:pt x="82780" y="92028"/>
                  </a:lnTo>
                  <a:lnTo>
                    <a:pt x="65144" y="92028"/>
                  </a:lnTo>
                  <a:lnTo>
                    <a:pt x="65144" y="123065"/>
                  </a:lnTo>
                  <a:cubicBezTo>
                    <a:pt x="65144" y="124870"/>
                    <a:pt x="64064" y="125952"/>
                    <a:pt x="63344" y="126674"/>
                  </a:cubicBezTo>
                  <a:cubicBezTo>
                    <a:pt x="62265" y="127396"/>
                    <a:pt x="61545" y="127757"/>
                    <a:pt x="60825" y="127757"/>
                  </a:cubicBezTo>
                  <a:cubicBezTo>
                    <a:pt x="60105" y="127757"/>
                    <a:pt x="59385" y="127757"/>
                    <a:pt x="59025" y="127396"/>
                  </a:cubicBezTo>
                  <a:lnTo>
                    <a:pt x="45709" y="121983"/>
                  </a:lnTo>
                  <a:lnTo>
                    <a:pt x="32752" y="127396"/>
                  </a:lnTo>
                  <a:cubicBezTo>
                    <a:pt x="31312" y="127757"/>
                    <a:pt x="29513" y="127757"/>
                    <a:pt x="28433" y="126674"/>
                  </a:cubicBezTo>
                  <a:cubicBezTo>
                    <a:pt x="27353" y="125952"/>
                    <a:pt x="26273" y="124870"/>
                    <a:pt x="26273" y="123065"/>
                  </a:cubicBezTo>
                  <a:lnTo>
                    <a:pt x="26273" y="92028"/>
                  </a:lnTo>
                  <a:lnTo>
                    <a:pt x="8638" y="92028"/>
                  </a:lnTo>
                  <a:close/>
                  <a:moveTo>
                    <a:pt x="204430" y="62074"/>
                  </a:moveTo>
                  <a:lnTo>
                    <a:pt x="204430" y="118374"/>
                  </a:lnTo>
                  <a:cubicBezTo>
                    <a:pt x="204430" y="128479"/>
                    <a:pt x="212708" y="136418"/>
                    <a:pt x="222426" y="136418"/>
                  </a:cubicBezTo>
                  <a:lnTo>
                    <a:pt x="258417" y="136418"/>
                  </a:lnTo>
                  <a:lnTo>
                    <a:pt x="233223" y="77592"/>
                  </a:lnTo>
                  <a:cubicBezTo>
                    <a:pt x="229264" y="68209"/>
                    <a:pt x="220266" y="62074"/>
                    <a:pt x="210189" y="62074"/>
                  </a:cubicBezTo>
                  <a:lnTo>
                    <a:pt x="204430" y="62074"/>
                  </a:lnTo>
                  <a:close/>
                  <a:moveTo>
                    <a:pt x="174917" y="62074"/>
                  </a:moveTo>
                  <a:lnTo>
                    <a:pt x="174917" y="219785"/>
                  </a:lnTo>
                  <a:lnTo>
                    <a:pt x="195792" y="219785"/>
                  </a:lnTo>
                  <a:cubicBezTo>
                    <a:pt x="197952" y="203184"/>
                    <a:pt x="212348" y="190192"/>
                    <a:pt x="229624" y="190192"/>
                  </a:cubicBezTo>
                  <a:cubicBezTo>
                    <a:pt x="246900" y="190192"/>
                    <a:pt x="261296" y="203184"/>
                    <a:pt x="263456" y="219785"/>
                  </a:cubicBezTo>
                  <a:lnTo>
                    <a:pt x="277132" y="219785"/>
                  </a:lnTo>
                  <a:cubicBezTo>
                    <a:pt x="281091" y="219785"/>
                    <a:pt x="284690" y="216537"/>
                    <a:pt x="284690" y="212568"/>
                  </a:cubicBezTo>
                  <a:lnTo>
                    <a:pt x="284690" y="199214"/>
                  </a:lnTo>
                  <a:lnTo>
                    <a:pt x="269214" y="199214"/>
                  </a:lnTo>
                  <a:cubicBezTo>
                    <a:pt x="267055" y="199214"/>
                    <a:pt x="264895" y="197049"/>
                    <a:pt x="264895" y="194523"/>
                  </a:cubicBezTo>
                  <a:cubicBezTo>
                    <a:pt x="264895" y="191996"/>
                    <a:pt x="267055" y="190192"/>
                    <a:pt x="269214" y="190192"/>
                  </a:cubicBezTo>
                  <a:lnTo>
                    <a:pt x="284690" y="190192"/>
                  </a:lnTo>
                  <a:lnTo>
                    <a:pt x="284690" y="174313"/>
                  </a:lnTo>
                  <a:lnTo>
                    <a:pt x="269214" y="174313"/>
                  </a:lnTo>
                  <a:cubicBezTo>
                    <a:pt x="267055" y="174313"/>
                    <a:pt x="264895" y="172147"/>
                    <a:pt x="264895" y="169982"/>
                  </a:cubicBezTo>
                  <a:cubicBezTo>
                    <a:pt x="264895" y="167095"/>
                    <a:pt x="267055" y="165290"/>
                    <a:pt x="269214" y="165290"/>
                  </a:cubicBezTo>
                  <a:lnTo>
                    <a:pt x="284690" y="165290"/>
                  </a:lnTo>
                  <a:lnTo>
                    <a:pt x="284690" y="164929"/>
                  </a:lnTo>
                  <a:cubicBezTo>
                    <a:pt x="284690" y="154102"/>
                    <a:pt x="275693" y="145441"/>
                    <a:pt x="265255" y="145441"/>
                  </a:cubicBezTo>
                  <a:lnTo>
                    <a:pt x="222426" y="145441"/>
                  </a:lnTo>
                  <a:cubicBezTo>
                    <a:pt x="207669" y="145441"/>
                    <a:pt x="195432" y="133531"/>
                    <a:pt x="195432" y="118374"/>
                  </a:cubicBezTo>
                  <a:lnTo>
                    <a:pt x="195432" y="62074"/>
                  </a:lnTo>
                  <a:lnTo>
                    <a:pt x="174917" y="62074"/>
                  </a:lnTo>
                  <a:close/>
                  <a:moveTo>
                    <a:pt x="77021" y="8661"/>
                  </a:moveTo>
                  <a:lnTo>
                    <a:pt x="77021" y="33202"/>
                  </a:lnTo>
                  <a:lnTo>
                    <a:pt x="85659" y="29593"/>
                  </a:lnTo>
                  <a:cubicBezTo>
                    <a:pt x="86739" y="29232"/>
                    <a:pt x="87818" y="29232"/>
                    <a:pt x="88898" y="29593"/>
                  </a:cubicBezTo>
                  <a:lnTo>
                    <a:pt x="97536" y="33202"/>
                  </a:lnTo>
                  <a:lnTo>
                    <a:pt x="97536" y="8661"/>
                  </a:lnTo>
                  <a:lnTo>
                    <a:pt x="77021" y="8661"/>
                  </a:lnTo>
                  <a:close/>
                  <a:moveTo>
                    <a:pt x="50388" y="8661"/>
                  </a:moveTo>
                  <a:lnTo>
                    <a:pt x="50388" y="83006"/>
                  </a:lnTo>
                  <a:lnTo>
                    <a:pt x="124169" y="83006"/>
                  </a:lnTo>
                  <a:lnTo>
                    <a:pt x="124169" y="8661"/>
                  </a:lnTo>
                  <a:lnTo>
                    <a:pt x="106534" y="8661"/>
                  </a:lnTo>
                  <a:lnTo>
                    <a:pt x="106534" y="40059"/>
                  </a:lnTo>
                  <a:cubicBezTo>
                    <a:pt x="106534" y="41503"/>
                    <a:pt x="105814" y="42946"/>
                    <a:pt x="104734" y="43307"/>
                  </a:cubicBezTo>
                  <a:cubicBezTo>
                    <a:pt x="104014" y="44029"/>
                    <a:pt x="102935" y="44390"/>
                    <a:pt x="102215" y="44390"/>
                  </a:cubicBezTo>
                  <a:cubicBezTo>
                    <a:pt x="101855" y="44390"/>
                    <a:pt x="101135" y="44390"/>
                    <a:pt x="100415" y="44029"/>
                  </a:cubicBezTo>
                  <a:lnTo>
                    <a:pt x="87458" y="38977"/>
                  </a:lnTo>
                  <a:lnTo>
                    <a:pt x="74142" y="44029"/>
                  </a:lnTo>
                  <a:cubicBezTo>
                    <a:pt x="72702" y="44751"/>
                    <a:pt x="71262" y="44390"/>
                    <a:pt x="69823" y="43307"/>
                  </a:cubicBezTo>
                  <a:cubicBezTo>
                    <a:pt x="68743" y="42946"/>
                    <a:pt x="68023" y="41503"/>
                    <a:pt x="68023" y="40059"/>
                  </a:cubicBezTo>
                  <a:lnTo>
                    <a:pt x="68023" y="8661"/>
                  </a:lnTo>
                  <a:lnTo>
                    <a:pt x="50388" y="8661"/>
                  </a:lnTo>
                  <a:close/>
                  <a:moveTo>
                    <a:pt x="45709" y="0"/>
                  </a:moveTo>
                  <a:lnTo>
                    <a:pt x="128848" y="0"/>
                  </a:lnTo>
                  <a:cubicBezTo>
                    <a:pt x="131368" y="0"/>
                    <a:pt x="133527" y="1804"/>
                    <a:pt x="133527" y="4331"/>
                  </a:cubicBezTo>
                  <a:lnTo>
                    <a:pt x="133527" y="83006"/>
                  </a:lnTo>
                  <a:lnTo>
                    <a:pt x="165919" y="83006"/>
                  </a:lnTo>
                  <a:lnTo>
                    <a:pt x="165919" y="57743"/>
                  </a:lnTo>
                  <a:cubicBezTo>
                    <a:pt x="165919" y="55578"/>
                    <a:pt x="167719" y="53051"/>
                    <a:pt x="170238" y="53051"/>
                  </a:cubicBezTo>
                  <a:lnTo>
                    <a:pt x="210189" y="53051"/>
                  </a:lnTo>
                  <a:cubicBezTo>
                    <a:pt x="223865" y="53051"/>
                    <a:pt x="236102" y="61352"/>
                    <a:pt x="241501" y="73983"/>
                  </a:cubicBezTo>
                  <a:lnTo>
                    <a:pt x="268134" y="136779"/>
                  </a:lnTo>
                  <a:cubicBezTo>
                    <a:pt x="282531" y="138223"/>
                    <a:pt x="293328" y="150493"/>
                    <a:pt x="293328" y="164929"/>
                  </a:cubicBezTo>
                  <a:lnTo>
                    <a:pt x="293328" y="212568"/>
                  </a:lnTo>
                  <a:cubicBezTo>
                    <a:pt x="293328" y="221590"/>
                    <a:pt x="286130" y="228808"/>
                    <a:pt x="277132" y="228808"/>
                  </a:cubicBezTo>
                  <a:lnTo>
                    <a:pt x="263456" y="228808"/>
                  </a:lnTo>
                  <a:cubicBezTo>
                    <a:pt x="261296" y="245409"/>
                    <a:pt x="246900" y="258401"/>
                    <a:pt x="229624" y="258401"/>
                  </a:cubicBezTo>
                  <a:cubicBezTo>
                    <a:pt x="212348" y="258401"/>
                    <a:pt x="197952" y="245409"/>
                    <a:pt x="195792" y="228808"/>
                  </a:cubicBezTo>
                  <a:lnTo>
                    <a:pt x="109413" y="228808"/>
                  </a:lnTo>
                  <a:cubicBezTo>
                    <a:pt x="106894" y="245409"/>
                    <a:pt x="92857" y="258401"/>
                    <a:pt x="75581" y="258401"/>
                  </a:cubicBezTo>
                  <a:cubicBezTo>
                    <a:pt x="58306" y="258401"/>
                    <a:pt x="43909" y="245409"/>
                    <a:pt x="41750" y="228808"/>
                  </a:cubicBezTo>
                  <a:lnTo>
                    <a:pt x="16196" y="228808"/>
                  </a:lnTo>
                  <a:cubicBezTo>
                    <a:pt x="7198" y="228808"/>
                    <a:pt x="0" y="221590"/>
                    <a:pt x="0" y="212568"/>
                  </a:cubicBezTo>
                  <a:lnTo>
                    <a:pt x="0" y="170704"/>
                  </a:lnTo>
                  <a:lnTo>
                    <a:pt x="0" y="87697"/>
                  </a:lnTo>
                  <a:cubicBezTo>
                    <a:pt x="0" y="85171"/>
                    <a:pt x="1799" y="83006"/>
                    <a:pt x="4319" y="83006"/>
                  </a:cubicBezTo>
                  <a:lnTo>
                    <a:pt x="41390" y="83006"/>
                  </a:lnTo>
                  <a:lnTo>
                    <a:pt x="41390" y="4331"/>
                  </a:lnTo>
                  <a:cubicBezTo>
                    <a:pt x="41390" y="1804"/>
                    <a:pt x="43549" y="0"/>
                    <a:pt x="45709" y="0"/>
                  </a:cubicBezTo>
                  <a:close/>
                </a:path>
              </a:pathLst>
            </a:custGeom>
            <a:solidFill>
              <a:srgbClr val="5C4F61"/>
            </a:solidFill>
            <a:ln>
              <a:noFill/>
            </a:ln>
          </p:spPr>
          <p:txBody>
            <a:bodyPr spcFirstLastPara="1" wrap="square" lIns="45713" tIns="22850" rIns="45713" bIns="2285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600" b="0" i="0" u="none" strike="noStrike" kern="0" cap="none" spc="0" normalizeH="0" baseline="0" noProof="1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Arial" panose="020B0604020202020204" pitchFamily="34" charset="0"/>
                <a:ea typeface="Lato Light"/>
                <a:cs typeface="Arial" panose="020B0604020202020204" pitchFamily="34" charset="0"/>
                <a:sym typeface="Lato Light"/>
              </a:endParaRPr>
            </a:p>
          </p:txBody>
        </p:sp>
        <p:sp>
          <p:nvSpPr>
            <p:cNvPr id="45" name="TextBox 191">
              <a:extLst>
                <a:ext uri="{FF2B5EF4-FFF2-40B4-BE49-F238E27FC236}">
                  <a16:creationId xmlns:a16="http://schemas.microsoft.com/office/drawing/2014/main" id="{3BA7987B-9230-F16F-C2A9-A5588CED505C}"/>
                </a:ext>
              </a:extLst>
            </p:cNvPr>
            <p:cNvSpPr txBox="1"/>
            <p:nvPr/>
          </p:nvSpPr>
          <p:spPr>
            <a:xfrm>
              <a:off x="8676454" y="5262228"/>
              <a:ext cx="1268766" cy="39654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1" i="0" u="none" strike="noStrike" kern="1200" cap="none" spc="0" normalizeH="0" baseline="0" noProof="1">
                  <a:ln>
                    <a:noFill/>
                  </a:ln>
                  <a:solidFill>
                    <a:srgbClr val="5C4F61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Potentially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1" i="0" u="none" strike="noStrike" kern="1200" cap="none" spc="0" normalizeH="0" baseline="0" noProof="1">
                  <a:ln>
                    <a:noFill/>
                  </a:ln>
                  <a:solidFill>
                    <a:srgbClr val="5C4F61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Shippable Product</a:t>
              </a:r>
            </a:p>
          </p:txBody>
        </p:sp>
        <p:sp>
          <p:nvSpPr>
            <p:cNvPr id="46" name="Google Shape;328;p11">
              <a:extLst>
                <a:ext uri="{FF2B5EF4-FFF2-40B4-BE49-F238E27FC236}">
                  <a16:creationId xmlns:a16="http://schemas.microsoft.com/office/drawing/2014/main" id="{2FE86356-FCEF-F9E2-922E-70EFB6D8F7A7}"/>
                </a:ext>
              </a:extLst>
            </p:cNvPr>
            <p:cNvSpPr/>
            <p:nvPr/>
          </p:nvSpPr>
          <p:spPr>
            <a:xfrm>
              <a:off x="8741392" y="4908428"/>
              <a:ext cx="464632" cy="312974"/>
            </a:xfrm>
            <a:prstGeom prst="rightArrow">
              <a:avLst>
                <a:gd name="adj1" fmla="val 50000"/>
                <a:gd name="adj2" fmla="val 50000"/>
              </a:avLst>
            </a:prstGeom>
            <a:solidFill>
              <a:srgbClr val="5C4F61"/>
            </a:solidFill>
            <a:ln>
              <a:noFill/>
            </a:ln>
            <a:effectLst>
              <a:glow rad="101600">
                <a:srgbClr val="DFDAE1">
                  <a:alpha val="60000"/>
                </a:srgbClr>
              </a:glow>
            </a:effectLst>
          </p:spPr>
          <p:txBody>
            <a:bodyPr spcFirstLastPara="1" wrap="square" lIns="45713" tIns="22850" rIns="45713" bIns="2285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600" b="0" i="0" u="none" strike="noStrike" kern="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Lato Light"/>
                <a:cs typeface="Arial" panose="020B0604020202020204" pitchFamily="34" charset="0"/>
                <a:sym typeface="Lato Light"/>
              </a:endParaRPr>
            </a:p>
          </p:txBody>
        </p:sp>
        <p:sp>
          <p:nvSpPr>
            <p:cNvPr id="47" name="Google Shape;332;p11">
              <a:extLst>
                <a:ext uri="{FF2B5EF4-FFF2-40B4-BE49-F238E27FC236}">
                  <a16:creationId xmlns:a16="http://schemas.microsoft.com/office/drawing/2014/main" id="{D5D89D68-26A8-A421-0468-1745D4EE1239}"/>
                </a:ext>
              </a:extLst>
            </p:cNvPr>
            <p:cNvSpPr/>
            <p:nvPr/>
          </p:nvSpPr>
          <p:spPr>
            <a:xfrm>
              <a:off x="8428482" y="5680538"/>
              <a:ext cx="319503" cy="309001"/>
            </a:xfrm>
            <a:custGeom>
              <a:avLst/>
              <a:gdLst/>
              <a:ahLst/>
              <a:cxnLst/>
              <a:rect l="l" t="t" r="r" b="b"/>
              <a:pathLst>
                <a:path w="290404" h="291739" extrusionOk="0">
                  <a:moveTo>
                    <a:pt x="227566" y="198700"/>
                  </a:moveTo>
                  <a:lnTo>
                    <a:pt x="197762" y="228271"/>
                  </a:lnTo>
                  <a:lnTo>
                    <a:pt x="249469" y="280921"/>
                  </a:lnTo>
                  <a:cubicBezTo>
                    <a:pt x="252701" y="283445"/>
                    <a:pt x="257010" y="283445"/>
                    <a:pt x="259882" y="280921"/>
                  </a:cubicBezTo>
                  <a:lnTo>
                    <a:pt x="279273" y="261087"/>
                  </a:lnTo>
                  <a:cubicBezTo>
                    <a:pt x="281068" y="259645"/>
                    <a:pt x="281427" y="257841"/>
                    <a:pt x="281427" y="256038"/>
                  </a:cubicBezTo>
                  <a:cubicBezTo>
                    <a:pt x="281427" y="254235"/>
                    <a:pt x="281068" y="252072"/>
                    <a:pt x="279273" y="250629"/>
                  </a:cubicBezTo>
                  <a:lnTo>
                    <a:pt x="227566" y="198700"/>
                  </a:lnTo>
                  <a:close/>
                  <a:moveTo>
                    <a:pt x="195967" y="182112"/>
                  </a:moveTo>
                  <a:cubicBezTo>
                    <a:pt x="194171" y="184997"/>
                    <a:pt x="191658" y="187160"/>
                    <a:pt x="189144" y="190045"/>
                  </a:cubicBezTo>
                  <a:cubicBezTo>
                    <a:pt x="186631" y="192570"/>
                    <a:pt x="184117" y="194733"/>
                    <a:pt x="181245" y="196897"/>
                  </a:cubicBezTo>
                  <a:lnTo>
                    <a:pt x="198839" y="214567"/>
                  </a:lnTo>
                  <a:lnTo>
                    <a:pt x="213921" y="199782"/>
                  </a:lnTo>
                  <a:lnTo>
                    <a:pt x="195967" y="182112"/>
                  </a:lnTo>
                  <a:close/>
                  <a:moveTo>
                    <a:pt x="111093" y="57150"/>
                  </a:moveTo>
                  <a:cubicBezTo>
                    <a:pt x="113976" y="57150"/>
                    <a:pt x="115778" y="59299"/>
                    <a:pt x="115778" y="61806"/>
                  </a:cubicBezTo>
                  <a:cubicBezTo>
                    <a:pt x="115778" y="63955"/>
                    <a:pt x="113976" y="66104"/>
                    <a:pt x="111093" y="66104"/>
                  </a:cubicBezTo>
                  <a:cubicBezTo>
                    <a:pt x="86229" y="66104"/>
                    <a:pt x="66050" y="86160"/>
                    <a:pt x="66050" y="110873"/>
                  </a:cubicBezTo>
                  <a:cubicBezTo>
                    <a:pt x="66050" y="113380"/>
                    <a:pt x="63887" y="115529"/>
                    <a:pt x="61725" y="115529"/>
                  </a:cubicBezTo>
                  <a:cubicBezTo>
                    <a:pt x="59203" y="115529"/>
                    <a:pt x="57401" y="113380"/>
                    <a:pt x="57401" y="110873"/>
                  </a:cubicBezTo>
                  <a:cubicBezTo>
                    <a:pt x="57401" y="81504"/>
                    <a:pt x="81545" y="57150"/>
                    <a:pt x="111093" y="57150"/>
                  </a:cubicBezTo>
                  <a:close/>
                  <a:moveTo>
                    <a:pt x="111796" y="40717"/>
                  </a:moveTo>
                  <a:cubicBezTo>
                    <a:pt x="93099" y="40717"/>
                    <a:pt x="75121" y="48250"/>
                    <a:pt x="61458" y="61522"/>
                  </a:cubicBezTo>
                  <a:cubicBezTo>
                    <a:pt x="33771" y="89141"/>
                    <a:pt x="33771" y="134696"/>
                    <a:pt x="61458" y="161957"/>
                  </a:cubicBezTo>
                  <a:cubicBezTo>
                    <a:pt x="75121" y="175587"/>
                    <a:pt x="93099" y="183120"/>
                    <a:pt x="111796" y="183120"/>
                  </a:cubicBezTo>
                  <a:cubicBezTo>
                    <a:pt x="130853" y="183120"/>
                    <a:pt x="148831" y="175587"/>
                    <a:pt x="162494" y="161957"/>
                  </a:cubicBezTo>
                  <a:cubicBezTo>
                    <a:pt x="176158" y="149044"/>
                    <a:pt x="183349" y="131109"/>
                    <a:pt x="183349" y="111739"/>
                  </a:cubicBezTo>
                  <a:cubicBezTo>
                    <a:pt x="183349" y="92728"/>
                    <a:pt x="176158" y="74794"/>
                    <a:pt x="162494" y="61522"/>
                  </a:cubicBezTo>
                  <a:cubicBezTo>
                    <a:pt x="148831" y="48250"/>
                    <a:pt x="130853" y="40717"/>
                    <a:pt x="111796" y="40717"/>
                  </a:cubicBezTo>
                  <a:close/>
                  <a:moveTo>
                    <a:pt x="111796" y="31750"/>
                  </a:moveTo>
                  <a:cubicBezTo>
                    <a:pt x="133370" y="31750"/>
                    <a:pt x="153505" y="40359"/>
                    <a:pt x="168607" y="55424"/>
                  </a:cubicBezTo>
                  <a:cubicBezTo>
                    <a:pt x="183709" y="70489"/>
                    <a:pt x="191979" y="90576"/>
                    <a:pt x="191979" y="111739"/>
                  </a:cubicBezTo>
                  <a:cubicBezTo>
                    <a:pt x="191979" y="133261"/>
                    <a:pt x="183709" y="153348"/>
                    <a:pt x="168607" y="168413"/>
                  </a:cubicBezTo>
                  <a:cubicBezTo>
                    <a:pt x="153505" y="183478"/>
                    <a:pt x="133370" y="191728"/>
                    <a:pt x="111796" y="191728"/>
                  </a:cubicBezTo>
                  <a:cubicBezTo>
                    <a:pt x="90582" y="191728"/>
                    <a:pt x="70447" y="183478"/>
                    <a:pt x="55345" y="168413"/>
                  </a:cubicBezTo>
                  <a:cubicBezTo>
                    <a:pt x="24063" y="137207"/>
                    <a:pt x="24063" y="86631"/>
                    <a:pt x="55345" y="55424"/>
                  </a:cubicBezTo>
                  <a:cubicBezTo>
                    <a:pt x="70447" y="40359"/>
                    <a:pt x="90582" y="31750"/>
                    <a:pt x="111796" y="31750"/>
                  </a:cubicBezTo>
                  <a:close/>
                  <a:moveTo>
                    <a:pt x="110506" y="8655"/>
                  </a:moveTo>
                  <a:cubicBezTo>
                    <a:pt x="83575" y="8655"/>
                    <a:pt x="57722" y="19473"/>
                    <a:pt x="38691" y="38586"/>
                  </a:cubicBezTo>
                  <a:cubicBezTo>
                    <a:pt x="-1167" y="78615"/>
                    <a:pt x="-1167" y="143526"/>
                    <a:pt x="38691" y="183554"/>
                  </a:cubicBezTo>
                  <a:cubicBezTo>
                    <a:pt x="78548" y="223583"/>
                    <a:pt x="143182" y="223583"/>
                    <a:pt x="183040" y="183554"/>
                  </a:cubicBezTo>
                  <a:cubicBezTo>
                    <a:pt x="202071" y="164442"/>
                    <a:pt x="212843" y="138477"/>
                    <a:pt x="212843" y="111070"/>
                  </a:cubicBezTo>
                  <a:cubicBezTo>
                    <a:pt x="212843" y="83663"/>
                    <a:pt x="202071" y="58059"/>
                    <a:pt x="183040" y="38586"/>
                  </a:cubicBezTo>
                  <a:cubicBezTo>
                    <a:pt x="163650" y="19473"/>
                    <a:pt x="138155" y="8655"/>
                    <a:pt x="110506" y="8655"/>
                  </a:cubicBezTo>
                  <a:close/>
                  <a:moveTo>
                    <a:pt x="110506" y="0"/>
                  </a:moveTo>
                  <a:cubicBezTo>
                    <a:pt x="140310" y="0"/>
                    <a:pt x="168318" y="11540"/>
                    <a:pt x="189144" y="32455"/>
                  </a:cubicBezTo>
                  <a:cubicBezTo>
                    <a:pt x="209971" y="53371"/>
                    <a:pt x="221461" y="81500"/>
                    <a:pt x="221461" y="111070"/>
                  </a:cubicBezTo>
                  <a:cubicBezTo>
                    <a:pt x="221461" y="134510"/>
                    <a:pt x="214280" y="156508"/>
                    <a:pt x="201353" y="174899"/>
                  </a:cubicBezTo>
                  <a:lnTo>
                    <a:pt x="220025" y="193652"/>
                  </a:lnTo>
                  <a:lnTo>
                    <a:pt x="224334" y="189324"/>
                  </a:lnTo>
                  <a:cubicBezTo>
                    <a:pt x="226129" y="187521"/>
                    <a:pt x="228643" y="187521"/>
                    <a:pt x="230797" y="189324"/>
                  </a:cubicBezTo>
                  <a:lnTo>
                    <a:pt x="285736" y="244499"/>
                  </a:lnTo>
                  <a:cubicBezTo>
                    <a:pt x="288609" y="247744"/>
                    <a:pt x="290404" y="251711"/>
                    <a:pt x="290404" y="256038"/>
                  </a:cubicBezTo>
                  <a:cubicBezTo>
                    <a:pt x="290404" y="260005"/>
                    <a:pt x="288609" y="264333"/>
                    <a:pt x="285736" y="267217"/>
                  </a:cubicBezTo>
                  <a:lnTo>
                    <a:pt x="265987" y="287051"/>
                  </a:lnTo>
                  <a:cubicBezTo>
                    <a:pt x="263114" y="289936"/>
                    <a:pt x="258805" y="291739"/>
                    <a:pt x="254855" y="291739"/>
                  </a:cubicBezTo>
                  <a:cubicBezTo>
                    <a:pt x="250546" y="291739"/>
                    <a:pt x="246597" y="289936"/>
                    <a:pt x="243724" y="287051"/>
                  </a:cubicBezTo>
                  <a:lnTo>
                    <a:pt x="188426" y="231516"/>
                  </a:lnTo>
                  <a:cubicBezTo>
                    <a:pt x="187708" y="230795"/>
                    <a:pt x="187349" y="229713"/>
                    <a:pt x="187349" y="228271"/>
                  </a:cubicBezTo>
                  <a:cubicBezTo>
                    <a:pt x="187349" y="227189"/>
                    <a:pt x="187708" y="226107"/>
                    <a:pt x="188426" y="225386"/>
                  </a:cubicBezTo>
                  <a:lnTo>
                    <a:pt x="193094" y="221058"/>
                  </a:lnTo>
                  <a:lnTo>
                    <a:pt x="174063" y="202306"/>
                  </a:lnTo>
                  <a:cubicBezTo>
                    <a:pt x="155032" y="215649"/>
                    <a:pt x="133128" y="222501"/>
                    <a:pt x="110506" y="222501"/>
                  </a:cubicBezTo>
                  <a:cubicBezTo>
                    <a:pt x="82498" y="222501"/>
                    <a:pt x="53772" y="211682"/>
                    <a:pt x="32586" y="190045"/>
                  </a:cubicBezTo>
                  <a:cubicBezTo>
                    <a:pt x="-10862" y="146411"/>
                    <a:pt x="-10862" y="76090"/>
                    <a:pt x="32586" y="32455"/>
                  </a:cubicBezTo>
                  <a:cubicBezTo>
                    <a:pt x="53413" y="11540"/>
                    <a:pt x="81062" y="0"/>
                    <a:pt x="110506" y="0"/>
                  </a:cubicBezTo>
                  <a:close/>
                </a:path>
              </a:pathLst>
            </a:custGeom>
            <a:solidFill>
              <a:srgbClr val="5C4F61"/>
            </a:solidFill>
            <a:ln>
              <a:noFill/>
            </a:ln>
          </p:spPr>
          <p:txBody>
            <a:bodyPr spcFirstLastPara="1" wrap="square" lIns="45713" tIns="22850" rIns="45713" bIns="2285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600" b="0" i="0" u="none" strike="noStrike" kern="0" cap="none" spc="0" normalizeH="0" baseline="0" noProof="1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Arial" panose="020B0604020202020204" pitchFamily="34" charset="0"/>
                <a:ea typeface="Lato Light"/>
                <a:cs typeface="Arial" panose="020B0604020202020204" pitchFamily="34" charset="0"/>
                <a:sym typeface="Lato Light"/>
              </a:endParaRPr>
            </a:p>
          </p:txBody>
        </p:sp>
        <p:sp>
          <p:nvSpPr>
            <p:cNvPr id="48" name="Google Shape;335;p11">
              <a:extLst>
                <a:ext uri="{FF2B5EF4-FFF2-40B4-BE49-F238E27FC236}">
                  <a16:creationId xmlns:a16="http://schemas.microsoft.com/office/drawing/2014/main" id="{438E3B3E-1D17-BFCB-C166-5D61DB47C054}"/>
                </a:ext>
              </a:extLst>
            </p:cNvPr>
            <p:cNvSpPr/>
            <p:nvPr/>
          </p:nvSpPr>
          <p:spPr>
            <a:xfrm>
              <a:off x="8382696" y="4923011"/>
              <a:ext cx="294648" cy="298090"/>
            </a:xfrm>
            <a:custGeom>
              <a:avLst/>
              <a:gdLst/>
              <a:ahLst/>
              <a:cxnLst/>
              <a:rect l="l" t="t" r="r" b="b"/>
              <a:pathLst>
                <a:path w="293328" h="293328" extrusionOk="0">
                  <a:moveTo>
                    <a:pt x="277852" y="151696"/>
                  </a:moveTo>
                  <a:cubicBezTo>
                    <a:pt x="210908" y="157088"/>
                    <a:pt x="156922" y="211009"/>
                    <a:pt x="151523" y="277870"/>
                  </a:cubicBezTo>
                  <a:lnTo>
                    <a:pt x="277852" y="151696"/>
                  </a:lnTo>
                  <a:close/>
                  <a:moveTo>
                    <a:pt x="146844" y="81959"/>
                  </a:moveTo>
                  <a:lnTo>
                    <a:pt x="128489" y="118625"/>
                  </a:lnTo>
                  <a:cubicBezTo>
                    <a:pt x="127769" y="120423"/>
                    <a:pt x="126689" y="121141"/>
                    <a:pt x="125249" y="121141"/>
                  </a:cubicBezTo>
                  <a:lnTo>
                    <a:pt x="84579" y="127252"/>
                  </a:lnTo>
                  <a:lnTo>
                    <a:pt x="114092" y="155651"/>
                  </a:lnTo>
                  <a:cubicBezTo>
                    <a:pt x="114812" y="156729"/>
                    <a:pt x="115532" y="158167"/>
                    <a:pt x="115172" y="159605"/>
                  </a:cubicBezTo>
                  <a:lnTo>
                    <a:pt x="108334" y="200225"/>
                  </a:lnTo>
                  <a:lnTo>
                    <a:pt x="144685" y="181173"/>
                  </a:lnTo>
                  <a:cubicBezTo>
                    <a:pt x="145764" y="180454"/>
                    <a:pt x="147204" y="180454"/>
                    <a:pt x="148644" y="181173"/>
                  </a:cubicBezTo>
                  <a:lnTo>
                    <a:pt x="175997" y="195552"/>
                  </a:lnTo>
                  <a:cubicBezTo>
                    <a:pt x="178156" y="193035"/>
                    <a:pt x="180316" y="190160"/>
                    <a:pt x="182835" y="188003"/>
                  </a:cubicBezTo>
                  <a:lnTo>
                    <a:pt x="178156" y="159605"/>
                  </a:lnTo>
                  <a:cubicBezTo>
                    <a:pt x="177797" y="158167"/>
                    <a:pt x="178516" y="156729"/>
                    <a:pt x="179596" y="155651"/>
                  </a:cubicBezTo>
                  <a:lnTo>
                    <a:pt x="208749" y="127252"/>
                  </a:lnTo>
                  <a:lnTo>
                    <a:pt x="168439" y="121141"/>
                  </a:lnTo>
                  <a:cubicBezTo>
                    <a:pt x="166639" y="121141"/>
                    <a:pt x="165560" y="120423"/>
                    <a:pt x="164840" y="118625"/>
                  </a:cubicBezTo>
                  <a:lnTo>
                    <a:pt x="146844" y="81959"/>
                  </a:lnTo>
                  <a:close/>
                  <a:moveTo>
                    <a:pt x="146477" y="30162"/>
                  </a:moveTo>
                  <a:cubicBezTo>
                    <a:pt x="150798" y="30162"/>
                    <a:pt x="155119" y="31965"/>
                    <a:pt x="158360" y="35212"/>
                  </a:cubicBezTo>
                  <a:lnTo>
                    <a:pt x="162681" y="40261"/>
                  </a:lnTo>
                  <a:cubicBezTo>
                    <a:pt x="165202" y="42425"/>
                    <a:pt x="168443" y="43147"/>
                    <a:pt x="171324" y="41704"/>
                  </a:cubicBezTo>
                  <a:lnTo>
                    <a:pt x="177806" y="39179"/>
                  </a:lnTo>
                  <a:cubicBezTo>
                    <a:pt x="181767" y="37376"/>
                    <a:pt x="186448" y="37015"/>
                    <a:pt x="190769" y="38818"/>
                  </a:cubicBezTo>
                  <a:cubicBezTo>
                    <a:pt x="195091" y="40622"/>
                    <a:pt x="197972" y="44229"/>
                    <a:pt x="199772" y="48557"/>
                  </a:cubicBezTo>
                  <a:lnTo>
                    <a:pt x="202293" y="54688"/>
                  </a:lnTo>
                  <a:cubicBezTo>
                    <a:pt x="203373" y="57574"/>
                    <a:pt x="206254" y="59377"/>
                    <a:pt x="209495" y="59738"/>
                  </a:cubicBezTo>
                  <a:lnTo>
                    <a:pt x="216337" y="59377"/>
                  </a:lnTo>
                  <a:cubicBezTo>
                    <a:pt x="220658" y="59377"/>
                    <a:pt x="225339" y="60820"/>
                    <a:pt x="228580" y="64427"/>
                  </a:cubicBezTo>
                  <a:cubicBezTo>
                    <a:pt x="231461" y="67673"/>
                    <a:pt x="233622" y="72001"/>
                    <a:pt x="233262" y="76329"/>
                  </a:cubicBezTo>
                  <a:lnTo>
                    <a:pt x="232902" y="83182"/>
                  </a:lnTo>
                  <a:cubicBezTo>
                    <a:pt x="232902" y="86428"/>
                    <a:pt x="235062" y="89314"/>
                    <a:pt x="237943" y="90396"/>
                  </a:cubicBezTo>
                  <a:lnTo>
                    <a:pt x="244425" y="92920"/>
                  </a:lnTo>
                  <a:cubicBezTo>
                    <a:pt x="248386" y="94363"/>
                    <a:pt x="251987" y="97609"/>
                    <a:pt x="253428" y="101937"/>
                  </a:cubicBezTo>
                  <a:cubicBezTo>
                    <a:pt x="255228" y="105905"/>
                    <a:pt x="255228" y="110954"/>
                    <a:pt x="253428" y="114922"/>
                  </a:cubicBezTo>
                  <a:lnTo>
                    <a:pt x="250547" y="121414"/>
                  </a:lnTo>
                  <a:cubicBezTo>
                    <a:pt x="249106" y="123939"/>
                    <a:pt x="249826" y="127546"/>
                    <a:pt x="252347" y="129710"/>
                  </a:cubicBezTo>
                  <a:cubicBezTo>
                    <a:pt x="254148" y="131513"/>
                    <a:pt x="254148" y="134399"/>
                    <a:pt x="252347" y="136202"/>
                  </a:cubicBezTo>
                  <a:cubicBezTo>
                    <a:pt x="250907" y="137645"/>
                    <a:pt x="248026" y="138005"/>
                    <a:pt x="246225" y="136202"/>
                  </a:cubicBezTo>
                  <a:cubicBezTo>
                    <a:pt x="241184" y="131513"/>
                    <a:pt x="239744" y="123939"/>
                    <a:pt x="242624" y="117447"/>
                  </a:cubicBezTo>
                  <a:lnTo>
                    <a:pt x="245145" y="111315"/>
                  </a:lnTo>
                  <a:cubicBezTo>
                    <a:pt x="246225" y="109512"/>
                    <a:pt x="246225" y="107348"/>
                    <a:pt x="245145" y="105544"/>
                  </a:cubicBezTo>
                  <a:cubicBezTo>
                    <a:pt x="244785" y="103380"/>
                    <a:pt x="242984" y="101937"/>
                    <a:pt x="241184" y="101216"/>
                  </a:cubicBezTo>
                  <a:lnTo>
                    <a:pt x="234702" y="98691"/>
                  </a:lnTo>
                  <a:cubicBezTo>
                    <a:pt x="228220" y="96167"/>
                    <a:pt x="223899" y="90035"/>
                    <a:pt x="224259" y="82821"/>
                  </a:cubicBezTo>
                  <a:lnTo>
                    <a:pt x="224259" y="76329"/>
                  </a:lnTo>
                  <a:cubicBezTo>
                    <a:pt x="224259" y="74165"/>
                    <a:pt x="223539" y="72001"/>
                    <a:pt x="222098" y="70558"/>
                  </a:cubicBezTo>
                  <a:cubicBezTo>
                    <a:pt x="220658" y="69116"/>
                    <a:pt x="218497" y="68394"/>
                    <a:pt x="216337" y="68394"/>
                  </a:cubicBezTo>
                  <a:lnTo>
                    <a:pt x="209855" y="68394"/>
                  </a:lnTo>
                  <a:cubicBezTo>
                    <a:pt x="202653" y="68755"/>
                    <a:pt x="196531" y="64427"/>
                    <a:pt x="194010" y="57934"/>
                  </a:cubicBezTo>
                  <a:lnTo>
                    <a:pt x="191490" y="51442"/>
                  </a:lnTo>
                  <a:cubicBezTo>
                    <a:pt x="190769" y="49639"/>
                    <a:pt x="189329" y="47835"/>
                    <a:pt x="187168" y="47114"/>
                  </a:cubicBezTo>
                  <a:cubicBezTo>
                    <a:pt x="185368" y="46393"/>
                    <a:pt x="183207" y="46393"/>
                    <a:pt x="181407" y="47475"/>
                  </a:cubicBezTo>
                  <a:lnTo>
                    <a:pt x="174925" y="49999"/>
                  </a:lnTo>
                  <a:cubicBezTo>
                    <a:pt x="168803" y="52885"/>
                    <a:pt x="161241" y="51442"/>
                    <a:pt x="156560" y="46393"/>
                  </a:cubicBezTo>
                  <a:lnTo>
                    <a:pt x="151878" y="41343"/>
                  </a:lnTo>
                  <a:cubicBezTo>
                    <a:pt x="150438" y="39900"/>
                    <a:pt x="148637" y="39179"/>
                    <a:pt x="146477" y="39179"/>
                  </a:cubicBezTo>
                  <a:cubicBezTo>
                    <a:pt x="144316" y="39179"/>
                    <a:pt x="142155" y="39900"/>
                    <a:pt x="140715" y="41343"/>
                  </a:cubicBezTo>
                  <a:lnTo>
                    <a:pt x="136034" y="46393"/>
                  </a:lnTo>
                  <a:cubicBezTo>
                    <a:pt x="131352" y="51442"/>
                    <a:pt x="123790" y="52885"/>
                    <a:pt x="117308" y="49999"/>
                  </a:cubicBezTo>
                  <a:lnTo>
                    <a:pt x="111186" y="47475"/>
                  </a:lnTo>
                  <a:cubicBezTo>
                    <a:pt x="109386" y="46393"/>
                    <a:pt x="107225" y="46393"/>
                    <a:pt x="105425" y="47114"/>
                  </a:cubicBezTo>
                  <a:cubicBezTo>
                    <a:pt x="103264" y="47835"/>
                    <a:pt x="101824" y="49639"/>
                    <a:pt x="101104" y="51442"/>
                  </a:cubicBezTo>
                  <a:lnTo>
                    <a:pt x="98583" y="57934"/>
                  </a:lnTo>
                  <a:cubicBezTo>
                    <a:pt x="96062" y="64427"/>
                    <a:pt x="89940" y="68755"/>
                    <a:pt x="82738" y="68394"/>
                  </a:cubicBezTo>
                  <a:lnTo>
                    <a:pt x="76256" y="68394"/>
                  </a:lnTo>
                  <a:cubicBezTo>
                    <a:pt x="74096" y="68394"/>
                    <a:pt x="71935" y="69116"/>
                    <a:pt x="70495" y="70558"/>
                  </a:cubicBezTo>
                  <a:cubicBezTo>
                    <a:pt x="69054" y="72001"/>
                    <a:pt x="68334" y="74165"/>
                    <a:pt x="68334" y="76329"/>
                  </a:cubicBezTo>
                  <a:lnTo>
                    <a:pt x="68694" y="82821"/>
                  </a:lnTo>
                  <a:cubicBezTo>
                    <a:pt x="68694" y="90035"/>
                    <a:pt x="64373" y="96167"/>
                    <a:pt x="57891" y="98691"/>
                  </a:cubicBezTo>
                  <a:lnTo>
                    <a:pt x="51409" y="101216"/>
                  </a:lnTo>
                  <a:cubicBezTo>
                    <a:pt x="49609" y="101937"/>
                    <a:pt x="47808" y="103380"/>
                    <a:pt x="47088" y="105544"/>
                  </a:cubicBezTo>
                  <a:cubicBezTo>
                    <a:pt x="46368" y="107348"/>
                    <a:pt x="46368" y="109512"/>
                    <a:pt x="47448" y="111315"/>
                  </a:cubicBezTo>
                  <a:lnTo>
                    <a:pt x="49969" y="117447"/>
                  </a:lnTo>
                  <a:cubicBezTo>
                    <a:pt x="52850" y="123939"/>
                    <a:pt x="51409" y="131513"/>
                    <a:pt x="46368" y="136202"/>
                  </a:cubicBezTo>
                  <a:lnTo>
                    <a:pt x="41326" y="140891"/>
                  </a:lnTo>
                  <a:cubicBezTo>
                    <a:pt x="39886" y="142334"/>
                    <a:pt x="39166" y="144498"/>
                    <a:pt x="39166" y="146301"/>
                  </a:cubicBezTo>
                  <a:cubicBezTo>
                    <a:pt x="39166" y="148465"/>
                    <a:pt x="39886" y="150629"/>
                    <a:pt x="41326" y="152072"/>
                  </a:cubicBezTo>
                  <a:lnTo>
                    <a:pt x="46368" y="156761"/>
                  </a:lnTo>
                  <a:cubicBezTo>
                    <a:pt x="51409" y="161450"/>
                    <a:pt x="52850" y="169024"/>
                    <a:pt x="49969" y="175155"/>
                  </a:cubicBezTo>
                  <a:lnTo>
                    <a:pt x="47448" y="181648"/>
                  </a:lnTo>
                  <a:cubicBezTo>
                    <a:pt x="46368" y="183451"/>
                    <a:pt x="46368" y="185615"/>
                    <a:pt x="47088" y="187779"/>
                  </a:cubicBezTo>
                  <a:cubicBezTo>
                    <a:pt x="47808" y="189583"/>
                    <a:pt x="49609" y="191025"/>
                    <a:pt x="51409" y="191747"/>
                  </a:cubicBezTo>
                  <a:lnTo>
                    <a:pt x="57891" y="194271"/>
                  </a:lnTo>
                  <a:cubicBezTo>
                    <a:pt x="64373" y="196796"/>
                    <a:pt x="68694" y="202928"/>
                    <a:pt x="68694" y="210141"/>
                  </a:cubicBezTo>
                  <a:lnTo>
                    <a:pt x="68334" y="216994"/>
                  </a:lnTo>
                  <a:cubicBezTo>
                    <a:pt x="68334" y="218798"/>
                    <a:pt x="69054" y="220962"/>
                    <a:pt x="70495" y="222405"/>
                  </a:cubicBezTo>
                  <a:cubicBezTo>
                    <a:pt x="71935" y="223847"/>
                    <a:pt x="74096" y="224929"/>
                    <a:pt x="76256" y="224569"/>
                  </a:cubicBezTo>
                  <a:lnTo>
                    <a:pt x="82738" y="224569"/>
                  </a:lnTo>
                  <a:cubicBezTo>
                    <a:pt x="89940" y="224569"/>
                    <a:pt x="96062" y="228536"/>
                    <a:pt x="98583" y="235028"/>
                  </a:cubicBezTo>
                  <a:lnTo>
                    <a:pt x="101104" y="241521"/>
                  </a:lnTo>
                  <a:cubicBezTo>
                    <a:pt x="101824" y="243324"/>
                    <a:pt x="103264" y="245127"/>
                    <a:pt x="105425" y="245488"/>
                  </a:cubicBezTo>
                  <a:cubicBezTo>
                    <a:pt x="107225" y="246570"/>
                    <a:pt x="109386" y="246570"/>
                    <a:pt x="111186" y="245488"/>
                  </a:cubicBezTo>
                  <a:lnTo>
                    <a:pt x="117308" y="242963"/>
                  </a:lnTo>
                  <a:cubicBezTo>
                    <a:pt x="123790" y="240078"/>
                    <a:pt x="131352" y="241521"/>
                    <a:pt x="136034" y="246570"/>
                  </a:cubicBezTo>
                  <a:cubicBezTo>
                    <a:pt x="137834" y="248373"/>
                    <a:pt x="137834" y="251259"/>
                    <a:pt x="136034" y="252702"/>
                  </a:cubicBezTo>
                  <a:cubicBezTo>
                    <a:pt x="134233" y="254505"/>
                    <a:pt x="131352" y="254505"/>
                    <a:pt x="129552" y="252702"/>
                  </a:cubicBezTo>
                  <a:cubicBezTo>
                    <a:pt x="127391" y="250177"/>
                    <a:pt x="123790" y="249816"/>
                    <a:pt x="121269" y="250898"/>
                  </a:cubicBezTo>
                  <a:lnTo>
                    <a:pt x="114788" y="253784"/>
                  </a:lnTo>
                  <a:cubicBezTo>
                    <a:pt x="112627" y="254866"/>
                    <a:pt x="110466" y="255226"/>
                    <a:pt x="107946" y="255226"/>
                  </a:cubicBezTo>
                  <a:cubicBezTo>
                    <a:pt x="105785" y="255226"/>
                    <a:pt x="103624" y="254866"/>
                    <a:pt x="101824" y="253784"/>
                  </a:cubicBezTo>
                  <a:cubicBezTo>
                    <a:pt x="97863" y="251980"/>
                    <a:pt x="94262" y="248734"/>
                    <a:pt x="92821" y="244406"/>
                  </a:cubicBezTo>
                  <a:lnTo>
                    <a:pt x="90300" y="238274"/>
                  </a:lnTo>
                  <a:cubicBezTo>
                    <a:pt x="89220" y="235389"/>
                    <a:pt x="85979" y="233225"/>
                    <a:pt x="83098" y="233225"/>
                  </a:cubicBezTo>
                  <a:lnTo>
                    <a:pt x="76256" y="233586"/>
                  </a:lnTo>
                  <a:cubicBezTo>
                    <a:pt x="71935" y="233586"/>
                    <a:pt x="67254" y="231782"/>
                    <a:pt x="64373" y="228897"/>
                  </a:cubicBezTo>
                  <a:cubicBezTo>
                    <a:pt x="60772" y="225651"/>
                    <a:pt x="59332" y="220962"/>
                    <a:pt x="59332" y="216634"/>
                  </a:cubicBezTo>
                  <a:lnTo>
                    <a:pt x="59692" y="209781"/>
                  </a:lnTo>
                  <a:cubicBezTo>
                    <a:pt x="59692" y="206535"/>
                    <a:pt x="57891" y="203649"/>
                    <a:pt x="54650" y="202567"/>
                  </a:cubicBezTo>
                  <a:lnTo>
                    <a:pt x="48528" y="200042"/>
                  </a:lnTo>
                  <a:cubicBezTo>
                    <a:pt x="44207" y="198239"/>
                    <a:pt x="40606" y="195354"/>
                    <a:pt x="38806" y="191025"/>
                  </a:cubicBezTo>
                  <a:cubicBezTo>
                    <a:pt x="37005" y="186697"/>
                    <a:pt x="37365" y="182008"/>
                    <a:pt x="39166" y="178041"/>
                  </a:cubicBezTo>
                  <a:lnTo>
                    <a:pt x="41686" y="171549"/>
                  </a:lnTo>
                  <a:cubicBezTo>
                    <a:pt x="43487" y="168663"/>
                    <a:pt x="42407" y="165417"/>
                    <a:pt x="40246" y="162892"/>
                  </a:cubicBezTo>
                  <a:lnTo>
                    <a:pt x="35205" y="158564"/>
                  </a:lnTo>
                  <a:cubicBezTo>
                    <a:pt x="32324" y="155318"/>
                    <a:pt x="30163" y="150990"/>
                    <a:pt x="30163" y="146301"/>
                  </a:cubicBezTo>
                  <a:cubicBezTo>
                    <a:pt x="30163" y="141973"/>
                    <a:pt x="32324" y="137645"/>
                    <a:pt x="35205" y="134399"/>
                  </a:cubicBezTo>
                  <a:lnTo>
                    <a:pt x="40246" y="129710"/>
                  </a:lnTo>
                  <a:cubicBezTo>
                    <a:pt x="42407" y="127546"/>
                    <a:pt x="43487" y="123939"/>
                    <a:pt x="41686" y="121414"/>
                  </a:cubicBezTo>
                  <a:lnTo>
                    <a:pt x="39166" y="114922"/>
                  </a:lnTo>
                  <a:cubicBezTo>
                    <a:pt x="37365" y="110954"/>
                    <a:pt x="37005" y="105905"/>
                    <a:pt x="38806" y="101937"/>
                  </a:cubicBezTo>
                  <a:cubicBezTo>
                    <a:pt x="40606" y="97609"/>
                    <a:pt x="44207" y="94363"/>
                    <a:pt x="48528" y="92920"/>
                  </a:cubicBezTo>
                  <a:lnTo>
                    <a:pt x="54650" y="90396"/>
                  </a:lnTo>
                  <a:cubicBezTo>
                    <a:pt x="57891" y="89314"/>
                    <a:pt x="59692" y="86428"/>
                    <a:pt x="59692" y="83182"/>
                  </a:cubicBezTo>
                  <a:lnTo>
                    <a:pt x="59332" y="76329"/>
                  </a:lnTo>
                  <a:cubicBezTo>
                    <a:pt x="59332" y="71640"/>
                    <a:pt x="60772" y="67673"/>
                    <a:pt x="64373" y="64427"/>
                  </a:cubicBezTo>
                  <a:cubicBezTo>
                    <a:pt x="67254" y="60820"/>
                    <a:pt x="71575" y="59377"/>
                    <a:pt x="76256" y="59377"/>
                  </a:cubicBezTo>
                  <a:lnTo>
                    <a:pt x="83098" y="59738"/>
                  </a:lnTo>
                  <a:cubicBezTo>
                    <a:pt x="86339" y="59377"/>
                    <a:pt x="89220" y="57574"/>
                    <a:pt x="90300" y="54688"/>
                  </a:cubicBezTo>
                  <a:lnTo>
                    <a:pt x="92821" y="48557"/>
                  </a:lnTo>
                  <a:cubicBezTo>
                    <a:pt x="94262" y="44229"/>
                    <a:pt x="97863" y="40622"/>
                    <a:pt x="101824" y="38818"/>
                  </a:cubicBezTo>
                  <a:cubicBezTo>
                    <a:pt x="105785" y="37015"/>
                    <a:pt x="110826" y="37376"/>
                    <a:pt x="114788" y="39179"/>
                  </a:cubicBezTo>
                  <a:lnTo>
                    <a:pt x="121269" y="41704"/>
                  </a:lnTo>
                  <a:cubicBezTo>
                    <a:pt x="124150" y="43147"/>
                    <a:pt x="127391" y="42425"/>
                    <a:pt x="129552" y="40261"/>
                  </a:cubicBezTo>
                  <a:lnTo>
                    <a:pt x="134233" y="35212"/>
                  </a:lnTo>
                  <a:cubicBezTo>
                    <a:pt x="137474" y="31965"/>
                    <a:pt x="141795" y="30162"/>
                    <a:pt x="146477" y="30162"/>
                  </a:cubicBezTo>
                  <a:close/>
                  <a:moveTo>
                    <a:pt x="146844" y="8987"/>
                  </a:moveTo>
                  <a:cubicBezTo>
                    <a:pt x="70543" y="8987"/>
                    <a:pt x="8638" y="70816"/>
                    <a:pt x="8638" y="146664"/>
                  </a:cubicBezTo>
                  <a:cubicBezTo>
                    <a:pt x="8638" y="221434"/>
                    <a:pt x="68383" y="282184"/>
                    <a:pt x="142165" y="284341"/>
                  </a:cubicBezTo>
                  <a:cubicBezTo>
                    <a:pt x="143245" y="253786"/>
                    <a:pt x="153682" y="225747"/>
                    <a:pt x="170598" y="202741"/>
                  </a:cubicBezTo>
                  <a:lnTo>
                    <a:pt x="146844" y="189800"/>
                  </a:lnTo>
                  <a:lnTo>
                    <a:pt x="104375" y="212087"/>
                  </a:lnTo>
                  <a:cubicBezTo>
                    <a:pt x="103655" y="212447"/>
                    <a:pt x="102935" y="212806"/>
                    <a:pt x="102215" y="212806"/>
                  </a:cubicBezTo>
                  <a:cubicBezTo>
                    <a:pt x="101495" y="212806"/>
                    <a:pt x="100416" y="212447"/>
                    <a:pt x="99696" y="211728"/>
                  </a:cubicBezTo>
                  <a:cubicBezTo>
                    <a:pt x="98256" y="211009"/>
                    <a:pt x="97536" y="209212"/>
                    <a:pt x="97896" y="207414"/>
                  </a:cubicBezTo>
                  <a:lnTo>
                    <a:pt x="105814" y="160683"/>
                  </a:lnTo>
                  <a:lnTo>
                    <a:pt x="71982" y="127252"/>
                  </a:lnTo>
                  <a:cubicBezTo>
                    <a:pt x="70543" y="126174"/>
                    <a:pt x="70183" y="124377"/>
                    <a:pt x="70543" y="122939"/>
                  </a:cubicBezTo>
                  <a:cubicBezTo>
                    <a:pt x="71263" y="121141"/>
                    <a:pt x="72702" y="119704"/>
                    <a:pt x="74142" y="119704"/>
                  </a:cubicBezTo>
                  <a:lnTo>
                    <a:pt x="121650" y="112874"/>
                  </a:lnTo>
                  <a:lnTo>
                    <a:pt x="142525" y="70097"/>
                  </a:lnTo>
                  <a:cubicBezTo>
                    <a:pt x="143965" y="66861"/>
                    <a:pt x="149004" y="66861"/>
                    <a:pt x="150803" y="70097"/>
                  </a:cubicBezTo>
                  <a:lnTo>
                    <a:pt x="171678" y="112874"/>
                  </a:lnTo>
                  <a:lnTo>
                    <a:pt x="218826" y="119704"/>
                  </a:lnTo>
                  <a:cubicBezTo>
                    <a:pt x="220626" y="119704"/>
                    <a:pt x="222066" y="121141"/>
                    <a:pt x="222426" y="122939"/>
                  </a:cubicBezTo>
                  <a:cubicBezTo>
                    <a:pt x="223145" y="124377"/>
                    <a:pt x="222426" y="126174"/>
                    <a:pt x="221706" y="127252"/>
                  </a:cubicBezTo>
                  <a:lnTo>
                    <a:pt x="187154" y="160683"/>
                  </a:lnTo>
                  <a:lnTo>
                    <a:pt x="190753" y="180095"/>
                  </a:lnTo>
                  <a:cubicBezTo>
                    <a:pt x="215587" y="157448"/>
                    <a:pt x="248339" y="143429"/>
                    <a:pt x="284690" y="142350"/>
                  </a:cubicBezTo>
                  <a:cubicBezTo>
                    <a:pt x="282171" y="68659"/>
                    <a:pt x="221346" y="8987"/>
                    <a:pt x="146844" y="8987"/>
                  </a:cubicBezTo>
                  <a:close/>
                  <a:moveTo>
                    <a:pt x="146844" y="0"/>
                  </a:moveTo>
                  <a:cubicBezTo>
                    <a:pt x="227464" y="0"/>
                    <a:pt x="293328" y="66143"/>
                    <a:pt x="293328" y="146664"/>
                  </a:cubicBezTo>
                  <a:cubicBezTo>
                    <a:pt x="293328" y="148102"/>
                    <a:pt x="292968" y="149180"/>
                    <a:pt x="292248" y="149899"/>
                  </a:cubicBezTo>
                  <a:lnTo>
                    <a:pt x="149723" y="292249"/>
                  </a:lnTo>
                  <a:cubicBezTo>
                    <a:pt x="149004" y="292968"/>
                    <a:pt x="147564" y="293328"/>
                    <a:pt x="146844" y="293328"/>
                  </a:cubicBezTo>
                  <a:cubicBezTo>
                    <a:pt x="65864" y="293328"/>
                    <a:pt x="0" y="227545"/>
                    <a:pt x="0" y="146664"/>
                  </a:cubicBezTo>
                  <a:cubicBezTo>
                    <a:pt x="0" y="66143"/>
                    <a:pt x="65864" y="0"/>
                    <a:pt x="146844" y="0"/>
                  </a:cubicBezTo>
                  <a:close/>
                </a:path>
              </a:pathLst>
            </a:custGeom>
            <a:solidFill>
              <a:srgbClr val="1A171B"/>
            </a:solidFill>
            <a:ln>
              <a:noFill/>
            </a:ln>
          </p:spPr>
          <p:txBody>
            <a:bodyPr spcFirstLastPara="1" wrap="square" lIns="45713" tIns="22850" rIns="45713" bIns="2285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600" b="0" i="0" u="none" strike="noStrike" kern="1200" cap="none" spc="0" normalizeH="0" baseline="0" noProof="1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Arial" panose="020B0604020202020204" pitchFamily="34" charset="0"/>
                <a:ea typeface="Lato Light"/>
                <a:cs typeface="Arial" panose="020B0604020202020204" pitchFamily="34" charset="0"/>
                <a:sym typeface="Lato Light"/>
              </a:endParaRPr>
            </a:p>
          </p:txBody>
        </p:sp>
        <p:sp>
          <p:nvSpPr>
            <p:cNvPr id="49" name="Google Shape;337;p11">
              <a:extLst>
                <a:ext uri="{FF2B5EF4-FFF2-40B4-BE49-F238E27FC236}">
                  <a16:creationId xmlns:a16="http://schemas.microsoft.com/office/drawing/2014/main" id="{665F552D-947F-0592-3B0E-294FEB24C3E5}"/>
                </a:ext>
              </a:extLst>
            </p:cNvPr>
            <p:cNvSpPr/>
            <p:nvPr/>
          </p:nvSpPr>
          <p:spPr>
            <a:xfrm rot="5400000">
              <a:off x="8437035" y="5374814"/>
              <a:ext cx="215546" cy="245467"/>
            </a:xfrm>
            <a:prstGeom prst="rightArrow">
              <a:avLst>
                <a:gd name="adj1" fmla="val 50000"/>
                <a:gd name="adj2" fmla="val 50000"/>
              </a:avLst>
            </a:prstGeom>
            <a:solidFill>
              <a:srgbClr val="5C4F61"/>
            </a:solidFill>
            <a:ln>
              <a:noFill/>
            </a:ln>
            <a:effectLst>
              <a:glow rad="101600">
                <a:srgbClr val="DFDAE1">
                  <a:alpha val="60000"/>
                </a:srgbClr>
              </a:glow>
            </a:effectLst>
          </p:spPr>
          <p:txBody>
            <a:bodyPr spcFirstLastPara="1" wrap="square" lIns="45713" tIns="22850" rIns="45713" bIns="2285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600" b="0" i="0" u="none" strike="noStrike" kern="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Lato Light"/>
                <a:cs typeface="Arial" panose="020B0604020202020204" pitchFamily="34" charset="0"/>
                <a:sym typeface="Lato Light"/>
              </a:endParaRPr>
            </a:p>
          </p:txBody>
        </p:sp>
        <p:sp>
          <p:nvSpPr>
            <p:cNvPr id="50" name="TextBox 196">
              <a:extLst>
                <a:ext uri="{FF2B5EF4-FFF2-40B4-BE49-F238E27FC236}">
                  <a16:creationId xmlns:a16="http://schemas.microsoft.com/office/drawing/2014/main" id="{B6ECA67A-35CF-96AD-CF5C-40428E56B27C}"/>
                </a:ext>
              </a:extLst>
            </p:cNvPr>
            <p:cNvSpPr txBox="1"/>
            <p:nvPr/>
          </p:nvSpPr>
          <p:spPr>
            <a:xfrm>
              <a:off x="8195128" y="4512805"/>
              <a:ext cx="699366" cy="4361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0" i="0" u="none" strike="noStrike" kern="1200" cap="none" spc="0" normalizeH="0" baseline="0" noProof="1">
                  <a:ln>
                    <a:noFill/>
                  </a:ln>
                  <a:solidFill>
                    <a:srgbClr val="5C4F61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Sprint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0" i="0" u="none" strike="noStrike" kern="1200" cap="none" spc="0" normalizeH="0" baseline="0" noProof="1">
                  <a:ln>
                    <a:noFill/>
                  </a:ln>
                  <a:solidFill>
                    <a:srgbClr val="5C4F61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Review</a:t>
              </a:r>
            </a:p>
          </p:txBody>
        </p:sp>
        <p:sp>
          <p:nvSpPr>
            <p:cNvPr id="51" name="TextBox 197">
              <a:extLst>
                <a:ext uri="{FF2B5EF4-FFF2-40B4-BE49-F238E27FC236}">
                  <a16:creationId xmlns:a16="http://schemas.microsoft.com/office/drawing/2014/main" id="{02AD6680-B6DF-330D-6239-6208B97A127D}"/>
                </a:ext>
              </a:extLst>
            </p:cNvPr>
            <p:cNvSpPr txBox="1"/>
            <p:nvPr/>
          </p:nvSpPr>
          <p:spPr>
            <a:xfrm>
              <a:off x="8074764" y="6008291"/>
              <a:ext cx="983241" cy="39654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0" i="0" u="none" strike="noStrike" kern="1200" cap="none" spc="0" normalizeH="0" baseline="0" noProof="1">
                  <a:ln>
                    <a:noFill/>
                  </a:ln>
                  <a:solidFill>
                    <a:srgbClr val="5C4F61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Sprint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0" i="0" u="none" strike="noStrike" kern="1200" cap="none" spc="0" normalizeH="0" baseline="0" noProof="1">
                  <a:ln>
                    <a:noFill/>
                  </a:ln>
                  <a:solidFill>
                    <a:srgbClr val="5C4F61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Retrospective</a:t>
              </a:r>
            </a:p>
          </p:txBody>
        </p:sp>
        <p:sp>
          <p:nvSpPr>
            <p:cNvPr id="52" name="TextBox 187">
              <a:extLst>
                <a:ext uri="{FF2B5EF4-FFF2-40B4-BE49-F238E27FC236}">
                  <a16:creationId xmlns:a16="http://schemas.microsoft.com/office/drawing/2014/main" id="{DB0D1FA0-99D2-3B20-65A4-03857D61C4A4}"/>
                </a:ext>
              </a:extLst>
            </p:cNvPr>
            <p:cNvSpPr txBox="1"/>
            <p:nvPr/>
          </p:nvSpPr>
          <p:spPr>
            <a:xfrm>
              <a:off x="6660209" y="3009931"/>
              <a:ext cx="1106659" cy="27758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1">
                  <a:ln>
                    <a:noFill/>
                  </a:ln>
                  <a:solidFill>
                    <a:srgbClr val="5C4F61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24H</a:t>
              </a:r>
            </a:p>
          </p:txBody>
        </p:sp>
        <p:cxnSp>
          <p:nvCxnSpPr>
            <p:cNvPr id="53" name="Łącznik: łamany 50">
              <a:extLst>
                <a:ext uri="{FF2B5EF4-FFF2-40B4-BE49-F238E27FC236}">
                  <a16:creationId xmlns:a16="http://schemas.microsoft.com/office/drawing/2014/main" id="{522417A6-5594-AB98-0475-A97FFB9BC1B0}"/>
                </a:ext>
              </a:extLst>
            </p:cNvPr>
            <p:cNvCxnSpPr/>
            <p:nvPr/>
          </p:nvCxnSpPr>
          <p:spPr>
            <a:xfrm rot="10800000">
              <a:off x="3358610" y="4141085"/>
              <a:ext cx="4543127" cy="2022993"/>
            </a:xfrm>
            <a:prstGeom prst="bentConnector3">
              <a:avLst>
                <a:gd name="adj1" fmla="val 100003"/>
              </a:avLst>
            </a:prstGeom>
            <a:ln w="28575">
              <a:solidFill>
                <a:srgbClr val="5C4F61"/>
              </a:solidFill>
              <a:prstDash val="sysDot"/>
              <a:headEnd type="diamond" w="med" len="med"/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4" name="TextBox 177">
              <a:extLst>
                <a:ext uri="{FF2B5EF4-FFF2-40B4-BE49-F238E27FC236}">
                  <a16:creationId xmlns:a16="http://schemas.microsoft.com/office/drawing/2014/main" id="{74AA561F-56AB-2ACD-0CF1-A162DBF0AECD}"/>
                </a:ext>
              </a:extLst>
            </p:cNvPr>
            <p:cNvSpPr txBox="1"/>
            <p:nvPr/>
          </p:nvSpPr>
          <p:spPr>
            <a:xfrm>
              <a:off x="3692672" y="5400191"/>
              <a:ext cx="1344537" cy="27758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1">
                  <a:ln>
                    <a:noFill/>
                  </a:ln>
                  <a:solidFill>
                    <a:srgbClr val="5C4F61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Product Backlog</a:t>
              </a:r>
            </a:p>
          </p:txBody>
        </p:sp>
        <p:sp>
          <p:nvSpPr>
            <p:cNvPr id="55" name="TextBox 182">
              <a:extLst>
                <a:ext uri="{FF2B5EF4-FFF2-40B4-BE49-F238E27FC236}">
                  <a16:creationId xmlns:a16="http://schemas.microsoft.com/office/drawing/2014/main" id="{03CFB4DC-3F01-C776-A024-9B22F43B79C3}"/>
                </a:ext>
              </a:extLst>
            </p:cNvPr>
            <p:cNvSpPr txBox="1"/>
            <p:nvPr/>
          </p:nvSpPr>
          <p:spPr>
            <a:xfrm>
              <a:off x="5626194" y="4268977"/>
              <a:ext cx="900771" cy="59481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1">
                  <a:ln>
                    <a:noFill/>
                  </a:ln>
                  <a:solidFill>
                    <a:srgbClr val="5C4F61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Prioritized Sprint Backlog</a:t>
              </a:r>
            </a:p>
          </p:txBody>
        </p:sp>
        <p:pic>
          <p:nvPicPr>
            <p:cNvPr id="56" name="Graphic 200">
              <a:extLst>
                <a:ext uri="{FF2B5EF4-FFF2-40B4-BE49-F238E27FC236}">
                  <a16:creationId xmlns:a16="http://schemas.microsoft.com/office/drawing/2014/main" id="{29D5A310-417D-5736-6398-45976C345B46}"/>
                </a:ext>
              </a:extLst>
            </p:cNvPr>
            <p:cNvPicPr/>
            <p:nvPr/>
          </p:nvPicPr>
          <p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5929239" y="4846246"/>
              <a:ext cx="437401" cy="437401"/>
            </a:xfrm>
            <a:prstGeom prst="rect">
              <a:avLst/>
            </a:prstGeom>
          </p:spPr>
        </p:pic>
        <p:sp>
          <p:nvSpPr>
            <p:cNvPr id="57" name="Google Shape;328;p11">
              <a:extLst>
                <a:ext uri="{FF2B5EF4-FFF2-40B4-BE49-F238E27FC236}">
                  <a16:creationId xmlns:a16="http://schemas.microsoft.com/office/drawing/2014/main" id="{7EFC2639-3149-D962-15D1-A9F08DE58022}"/>
                </a:ext>
              </a:extLst>
            </p:cNvPr>
            <p:cNvSpPr/>
            <p:nvPr/>
          </p:nvSpPr>
          <p:spPr>
            <a:xfrm>
              <a:off x="4989845" y="4903566"/>
              <a:ext cx="757816" cy="318776"/>
            </a:xfrm>
            <a:prstGeom prst="rightArrow">
              <a:avLst>
                <a:gd name="adj1" fmla="val 50000"/>
                <a:gd name="adj2" fmla="val 50000"/>
              </a:avLst>
            </a:prstGeom>
            <a:solidFill>
              <a:srgbClr val="5C4F61"/>
            </a:solidFill>
            <a:ln>
              <a:noFill/>
            </a:ln>
            <a:effectLst>
              <a:glow rad="101600">
                <a:srgbClr val="DFDAE1">
                  <a:alpha val="60000"/>
                </a:srgbClr>
              </a:glow>
            </a:effectLst>
          </p:spPr>
          <p:txBody>
            <a:bodyPr spcFirstLastPara="1" wrap="square" lIns="45713" tIns="22850" rIns="45713" bIns="2285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600" b="0" i="0" u="none" strike="noStrike" kern="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Lato Light"/>
                <a:cs typeface="Arial" panose="020B0604020202020204" pitchFamily="34" charset="0"/>
                <a:sym typeface="Lato Light"/>
              </a:endParaRPr>
            </a:p>
          </p:txBody>
        </p:sp>
        <p:sp>
          <p:nvSpPr>
            <p:cNvPr id="58" name="TextBox 182">
              <a:extLst>
                <a:ext uri="{FF2B5EF4-FFF2-40B4-BE49-F238E27FC236}">
                  <a16:creationId xmlns:a16="http://schemas.microsoft.com/office/drawing/2014/main" id="{C1557D2E-CB37-123D-04B0-A3FA53F88B0F}"/>
                </a:ext>
              </a:extLst>
            </p:cNvPr>
            <p:cNvSpPr txBox="1"/>
            <p:nvPr/>
          </p:nvSpPr>
          <p:spPr>
            <a:xfrm>
              <a:off x="4646738" y="4656131"/>
              <a:ext cx="1027175" cy="25775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i="0" u="none" strike="noStrike" kern="1200" cap="none" spc="0" normalizeH="0" baseline="0" noProof="1">
                  <a:ln>
                    <a:noFill/>
                  </a:ln>
                  <a:solidFill>
                    <a:srgbClr val="5C4F61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Sprint Planning</a:t>
              </a:r>
            </a:p>
          </p:txBody>
        </p:sp>
        <p:sp>
          <p:nvSpPr>
            <p:cNvPr id="59" name="Google Shape;337;p11">
              <a:extLst>
                <a:ext uri="{FF2B5EF4-FFF2-40B4-BE49-F238E27FC236}">
                  <a16:creationId xmlns:a16="http://schemas.microsoft.com/office/drawing/2014/main" id="{1F288981-2D00-783C-EAB3-36BEEB0A1E51}"/>
                </a:ext>
              </a:extLst>
            </p:cNvPr>
            <p:cNvSpPr/>
            <p:nvPr/>
          </p:nvSpPr>
          <p:spPr>
            <a:xfrm rot="5400000">
              <a:off x="4257167" y="4382456"/>
              <a:ext cx="215546" cy="244159"/>
            </a:xfrm>
            <a:prstGeom prst="rightArrow">
              <a:avLst>
                <a:gd name="adj1" fmla="val 50000"/>
                <a:gd name="adj2" fmla="val 50000"/>
              </a:avLst>
            </a:prstGeom>
            <a:solidFill>
              <a:srgbClr val="5C4F61"/>
            </a:solidFill>
            <a:ln>
              <a:noFill/>
            </a:ln>
            <a:effectLst>
              <a:glow rad="101600">
                <a:srgbClr val="DFDAE1">
                  <a:alpha val="60000"/>
                </a:srgbClr>
              </a:glow>
            </a:effectLst>
          </p:spPr>
          <p:txBody>
            <a:bodyPr spcFirstLastPara="1" wrap="square" lIns="45713" tIns="22850" rIns="45713" bIns="2285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600" b="0" i="0" u="none" strike="noStrike" kern="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Lato Light"/>
                <a:cs typeface="Arial" panose="020B0604020202020204" pitchFamily="34" charset="0"/>
                <a:sym typeface="Lato Light"/>
              </a:endParaRPr>
            </a:p>
          </p:txBody>
        </p:sp>
        <p:sp>
          <p:nvSpPr>
            <p:cNvPr id="60" name="pole tekstowe 57">
              <a:extLst>
                <a:ext uri="{FF2B5EF4-FFF2-40B4-BE49-F238E27FC236}">
                  <a16:creationId xmlns:a16="http://schemas.microsoft.com/office/drawing/2014/main" id="{7C7F9446-4030-880A-3F04-1BFDDE77D605}"/>
                </a:ext>
              </a:extLst>
            </p:cNvPr>
            <p:cNvSpPr txBox="1"/>
            <p:nvPr/>
          </p:nvSpPr>
          <p:spPr>
            <a:xfrm>
              <a:off x="2392735" y="330535"/>
              <a:ext cx="7406528" cy="570346"/>
            </a:xfrm>
            <a:prstGeom prst="round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1" i="0" u="none" strike="noStrike" kern="1200" cap="none" spc="0" normalizeH="0" baseline="0" noProof="1">
                  <a:ln>
                    <a:noFill/>
                  </a:ln>
                  <a:solidFill>
                    <a:srgbClr val="5C4F61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Scrum Approach</a:t>
              </a:r>
            </a:p>
          </p:txBody>
        </p:sp>
        <p:pic>
          <p:nvPicPr>
            <p:cNvPr id="61" name="Graphic 200" descr="Kalendarz miesięczny kontur">
              <a:extLst>
                <a:ext uri="{FF2B5EF4-FFF2-40B4-BE49-F238E27FC236}">
                  <a16:creationId xmlns:a16="http://schemas.microsoft.com/office/drawing/2014/main" id="{258087F4-71B8-DBB6-C804-4EE1000D5FCB}"/>
                </a:ext>
              </a:extLst>
            </p:cNvPr>
            <p:cNvPicPr/>
            <p:nvPr/>
          </p:nvPicPr>
          <p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rcRect/>
            <a:stretch/>
          </p:blipFill>
          <p:spPr>
            <a:xfrm>
              <a:off x="4091238" y="4778665"/>
              <a:ext cx="563831" cy="563831"/>
            </a:xfrm>
            <a:prstGeom prst="rect">
              <a:avLst/>
            </a:prstGeom>
          </p:spPr>
        </p:pic>
        <p:sp>
          <p:nvSpPr>
            <p:cNvPr id="62" name="TextBox 182">
              <a:extLst>
                <a:ext uri="{FF2B5EF4-FFF2-40B4-BE49-F238E27FC236}">
                  <a16:creationId xmlns:a16="http://schemas.microsoft.com/office/drawing/2014/main" id="{ED4CACFB-AB91-DBCA-2F1E-F52F5DDD325E}"/>
                </a:ext>
              </a:extLst>
            </p:cNvPr>
            <p:cNvSpPr txBox="1"/>
            <p:nvPr/>
          </p:nvSpPr>
          <p:spPr>
            <a:xfrm>
              <a:off x="3486954" y="3768537"/>
              <a:ext cx="1213353" cy="25775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1" i="0" u="none" strike="noStrike" kern="1200" cap="none" spc="0" normalizeH="0" baseline="0" noProof="1">
                  <a:ln>
                    <a:noFill/>
                  </a:ln>
                  <a:solidFill>
                    <a:srgbClr val="5C4F61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REQUIREMENTS</a:t>
              </a:r>
            </a:p>
          </p:txBody>
        </p:sp>
        <p:sp>
          <p:nvSpPr>
            <p:cNvPr id="63" name="pole tekstowe 60">
              <a:extLst>
                <a:ext uri="{FF2B5EF4-FFF2-40B4-BE49-F238E27FC236}">
                  <a16:creationId xmlns:a16="http://schemas.microsoft.com/office/drawing/2014/main" id="{BAE973BA-96B9-A909-B645-E67580AA8341}"/>
                </a:ext>
              </a:extLst>
            </p:cNvPr>
            <p:cNvSpPr txBox="1"/>
            <p:nvPr/>
          </p:nvSpPr>
          <p:spPr>
            <a:xfrm>
              <a:off x="2553780" y="5768953"/>
              <a:ext cx="1658112" cy="361951"/>
            </a:xfrm>
            <a:prstGeom prst="roundRect">
              <a:avLst/>
            </a:prstGeom>
            <a:solidFill>
              <a:srgbClr val="F9F8FA"/>
            </a:solidFill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1" i="0" u="none" strike="noStrike" kern="1200" cap="none" spc="0" normalizeH="0" baseline="0" noProof="1">
                  <a:ln>
                    <a:noFill/>
                  </a:ln>
                  <a:solidFill>
                    <a:srgbClr val="5C4F61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FEEDBACK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5250846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20a0acd5-61c4-4018-b951-c082e5b75858" xsi:nil="true"/>
    <lcf76f155ced4ddcb4097134ff3c332f xmlns="c559e707-c4dc-481c-8f20-1390d9b1763d">
      <Terms xmlns="http://schemas.microsoft.com/office/infopath/2007/PartnerControls"/>
    </lcf76f155ced4ddcb4097134ff3c332f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8AB178B1C63764FB69DC687AF91F3C3" ma:contentTypeVersion="14" ma:contentTypeDescription="Een nieuw document maken." ma:contentTypeScope="" ma:versionID="34baedd750c5ac2de39e17369f75ff4a">
  <xsd:schema xmlns:xsd="http://www.w3.org/2001/XMLSchema" xmlns:xs="http://www.w3.org/2001/XMLSchema" xmlns:p="http://schemas.microsoft.com/office/2006/metadata/properties" xmlns:ns2="c559e707-c4dc-481c-8f20-1390d9b1763d" xmlns:ns3="20a0acd5-61c4-4018-b951-c082e5b75858" targetNamespace="http://schemas.microsoft.com/office/2006/metadata/properties" ma:root="true" ma:fieldsID="94b6d483c48ce3ecd8a1cc1f7c9283d7" ns2:_="" ns3:_="">
    <xsd:import namespace="c559e707-c4dc-481c-8f20-1390d9b1763d"/>
    <xsd:import namespace="20a0acd5-61c4-4018-b951-c082e5b7585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ObjectDetectorVersions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Locatio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559e707-c4dc-481c-8f20-1390d9b1763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16" nillable="true" ma:displayName="Location" ma:indexed="true" ma:internalName="MediaServiceLocation" ma:readOnly="true">
      <xsd:simpleType>
        <xsd:restriction base="dms:Text"/>
      </xsd:simpleType>
    </xsd:element>
    <xsd:element name="lcf76f155ced4ddcb4097134ff3c332f" ma:index="18" nillable="true" ma:taxonomy="true" ma:internalName="lcf76f155ced4ddcb4097134ff3c332f" ma:taxonomyFieldName="MediaServiceImageTags" ma:displayName="Afbeeldingtags" ma:readOnly="false" ma:fieldId="{5cf76f15-5ced-4ddc-b409-7134ff3c332f}" ma:taxonomyMulti="true" ma:sspId="28eca5aa-3823-4333-92a0-adf3de86d962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0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BillingMetadata" ma:index="21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0a0acd5-61c4-4018-b951-c082e5b75858" elementFormDefault="qualified">
    <xsd:import namespace="http://schemas.microsoft.com/office/2006/documentManagement/types"/>
    <xsd:import namespace="http://schemas.microsoft.com/office/infopath/2007/PartnerControls"/>
    <xsd:element name="TaxCatchAll" ma:index="19" nillable="true" ma:displayName="Taxonomy Catch All Column" ma:hidden="true" ma:list="{426fe27f-2603-4c92-a102-685a412d01be}" ma:internalName="TaxCatchAll" ma:showField="CatchAllData" ma:web="20a0acd5-61c4-4018-b951-c082e5b75858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oudstype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189672C1-A079-44B3-9E72-93FA73EC3076}">
  <ds:schemaRefs>
    <ds:schemaRef ds:uri="http://schemas.microsoft.com/office/2006/metadata/properties"/>
    <ds:schemaRef ds:uri="http://schemas.microsoft.com/office/infopath/2007/PartnerControls"/>
    <ds:schemaRef ds:uri="20a0acd5-61c4-4018-b951-c082e5b75858"/>
    <ds:schemaRef ds:uri="c559e707-c4dc-481c-8f20-1390d9b1763d"/>
  </ds:schemaRefs>
</ds:datastoreItem>
</file>

<file path=customXml/itemProps2.xml><?xml version="1.0" encoding="utf-8"?>
<ds:datastoreItem xmlns:ds="http://schemas.openxmlformats.org/officeDocument/2006/customXml" ds:itemID="{818FB672-5177-443D-A0BB-9BE55C190532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47123009-177A-4D0C-BA0E-AB1CF2C0EBD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c559e707-c4dc-481c-8f20-1390d9b1763d"/>
    <ds:schemaRef ds:uri="20a0acd5-61c4-4018-b951-c082e5b75858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Agile development and delivery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3</cp:revision>
  <dcterms:created xsi:type="dcterms:W3CDTF">2026-01-23T11:34:16Z</dcterms:created>
  <dcterms:modified xsi:type="dcterms:W3CDTF">2026-01-23T11:37:21Z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0x01010038AB178B1C63764FB69DC687AF91F3C3</vt:lpwstr>
  </property>
  <property fmtid="{D5CDD505-2E9C-101B-9397-08002B2CF9AE}" pid="3" name="MediaServiceImageTags">
    <vt:lpwstr/>
  </property>
</Properties>
</file>