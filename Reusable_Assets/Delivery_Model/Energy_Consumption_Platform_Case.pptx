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7B4D1A-E57E-B9A7-7672-376D3ECAAEA5}" v="4" dt="2026-01-23T11:39:11.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AD7B4D1A-E57E-B9A7-7672-376D3ECAAEA5}"/>
    <pc:docChg chg="addSld delSld">
      <pc:chgData name="George Sereda" userId="S::george.sereda@xebia.com::5e824fc6-3a6a-482b-8597-f9374fb4b421" providerId="AD" clId="Web-{AD7B4D1A-E57E-B9A7-7672-376D3ECAAEA5}" dt="2026-01-23T11:39:11.654" v="3"/>
      <pc:docMkLst>
        <pc:docMk/>
      </pc:docMkLst>
      <pc:sldChg chg="del">
        <pc:chgData name="George Sereda" userId="S::george.sereda@xebia.com::5e824fc6-3a6a-482b-8597-f9374fb4b421" providerId="AD" clId="Web-{AD7B4D1A-E57E-B9A7-7672-376D3ECAAEA5}" dt="2026-01-23T11:38:59.654" v="1"/>
        <pc:sldMkLst>
          <pc:docMk/>
          <pc:sldMk cId="109857222" sldId="256"/>
        </pc:sldMkLst>
      </pc:sldChg>
      <pc:sldChg chg="add del">
        <pc:chgData name="George Sereda" userId="S::george.sereda@xebia.com::5e824fc6-3a6a-482b-8597-f9374fb4b421" providerId="AD" clId="Web-{AD7B4D1A-E57E-B9A7-7672-376D3ECAAEA5}" dt="2026-01-23T11:39:11.654" v="3"/>
        <pc:sldMkLst>
          <pc:docMk/>
          <pc:sldMk cId="4258896270" sldId="256"/>
        </pc:sldMkLst>
      </pc:sldChg>
      <pc:sldChg chg="add">
        <pc:chgData name="George Sereda" userId="S::george.sereda@xebia.com::5e824fc6-3a6a-482b-8597-f9374fb4b421" providerId="AD" clId="Web-{AD7B4D1A-E57E-B9A7-7672-376D3ECAAEA5}" dt="2026-01-23T11:38:56.529" v="0"/>
        <pc:sldMkLst>
          <pc:docMk/>
          <pc:sldMk cId="4258896270" sldId="257"/>
        </pc:sldMkLst>
      </pc:sldChg>
      <pc:sldMasterChg chg="addSldLayout">
        <pc:chgData name="George Sereda" userId="S::george.sereda@xebia.com::5e824fc6-3a6a-482b-8597-f9374fb4b421" providerId="AD" clId="Web-{AD7B4D1A-E57E-B9A7-7672-376D3ECAAEA5}" dt="2026-01-23T11:38:56.529" v="0"/>
        <pc:sldMasterMkLst>
          <pc:docMk/>
          <pc:sldMasterMk cId="2460954070" sldId="2147483660"/>
        </pc:sldMasterMkLst>
        <pc:sldLayoutChg chg="add">
          <pc:chgData name="George Sereda" userId="S::george.sereda@xebia.com::5e824fc6-3a6a-482b-8597-f9374fb4b421" providerId="AD" clId="Web-{AD7B4D1A-E57E-B9A7-7672-376D3ECAAEA5}" dt="2026-01-23T11:38:56.529" v="0"/>
          <pc:sldLayoutMkLst>
            <pc:docMk/>
            <pc:sldMasterMk cId="2460954070" sldId="2147483660"/>
            <pc:sldLayoutMk cId="1858646659"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tro 01">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userDrawn="1"/>
        </p:nvSpPr>
        <p:spPr>
          <a:xfrm>
            <a:off x="8112125" y="901698"/>
            <a:ext cx="3679824" cy="5365665"/>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200"/>
          </a:p>
        </p:txBody>
      </p:sp>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6" name="Text Placeholder 2">
            <a:extLst>
              <a:ext uri="{FF2B5EF4-FFF2-40B4-BE49-F238E27FC236}">
                <a16:creationId xmlns:a16="http://schemas.microsoft.com/office/drawing/2014/main" id="{D8372643-3B7C-6294-FD18-89DDF20FE750}"/>
              </a:ext>
            </a:extLst>
          </p:cNvPr>
          <p:cNvSpPr>
            <a:spLocks noGrp="1"/>
          </p:cNvSpPr>
          <p:nvPr>
            <p:ph type="body" sz="quarter" idx="147" hasCustomPrompt="1"/>
          </p:nvPr>
        </p:nvSpPr>
        <p:spPr>
          <a:xfrm>
            <a:off x="406400" y="2129101"/>
            <a:ext cx="7514167" cy="2597798"/>
          </a:xfrm>
          <a:prstGeom prst="rect">
            <a:avLst/>
          </a:prstGeom>
        </p:spPr>
        <p:txBody>
          <a:bodyPr wrap="square" lIns="0" tIns="0" rIns="0" bIns="0" numCol="2" spcCol="332640" anchor="t">
            <a:noAutofit/>
          </a:bodyPr>
          <a:lstStyle>
            <a:lvl1pPr marL="0" marR="0" indent="0" algn="l" defTabSz="609630" rtl="0" eaLnBrk="1" fontAlgn="auto" latinLnBrk="0" hangingPunct="1">
              <a:lnSpc>
                <a:spcPts val="1387"/>
              </a:lnSpc>
              <a:spcBef>
                <a:spcPts val="933"/>
              </a:spcBef>
              <a:spcAft>
                <a:spcPts val="0"/>
              </a:spcAft>
              <a:buClrTx/>
              <a:buSzTx/>
              <a:buFontTx/>
              <a:buNone/>
              <a:tabLst/>
              <a:defRPr sz="1067">
                <a:solidFill>
                  <a:schemeClr val="tx1"/>
                </a:solidFill>
              </a:defRPr>
            </a:lvl1pPr>
            <a:lvl2pPr marL="304815" indent="0">
              <a:buFontTx/>
              <a:buNone/>
              <a:defRPr sz="1200">
                <a:solidFill>
                  <a:schemeClr val="tx1"/>
                </a:solidFill>
              </a:defRPr>
            </a:lvl2pPr>
            <a:lvl3pPr marL="609630" indent="0">
              <a:buFontTx/>
              <a:buNone/>
              <a:defRPr sz="1200">
                <a:solidFill>
                  <a:schemeClr val="tx1"/>
                </a:solidFill>
              </a:defRPr>
            </a:lvl3pPr>
            <a:lvl4pPr marL="914446" indent="0">
              <a:buFontTx/>
              <a:buNone/>
              <a:defRPr sz="1200">
                <a:solidFill>
                  <a:schemeClr val="tx1"/>
                </a:solidFill>
              </a:defRPr>
            </a:lvl4pPr>
            <a:lvl5pPr marL="1219261" indent="0">
              <a:buFontTx/>
              <a:buNone/>
              <a:defRPr sz="1200">
                <a:solidFill>
                  <a:schemeClr val="tx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a:t>
            </a:r>
          </a:p>
          <a:p>
            <a:pPr marL="0" marR="0" lvl="0" indent="0" algn="l" defTabSz="609630" rtl="0" eaLnBrk="1" fontAlgn="auto" latinLnBrk="0" hangingPunct="1">
              <a:lnSpc>
                <a:spcPts val="1387"/>
              </a:lnSpc>
              <a:spcBef>
                <a:spcPts val="933"/>
              </a:spcBef>
              <a:spcAft>
                <a:spcPts val="0"/>
              </a:spcAft>
              <a:buClrTx/>
              <a:buSzTx/>
              <a:buFontTx/>
              <a:buNone/>
              <a:tabLst/>
              <a:defRPr/>
            </a:pPr>
            <a:r>
              <a:rPr lang="en-US"/>
              <a:t>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a:t>
            </a:r>
          </a:p>
          <a:p>
            <a:pPr lvl="0"/>
            <a:endParaRPr lang="en-US"/>
          </a:p>
          <a:p>
            <a:pPr lvl="0"/>
            <a:endParaRPr lang="en-US"/>
          </a:p>
        </p:txBody>
      </p:sp>
      <p:sp>
        <p:nvSpPr>
          <p:cNvPr id="7" name="Text Placeholder 2">
            <a:extLst>
              <a:ext uri="{FF2B5EF4-FFF2-40B4-BE49-F238E27FC236}">
                <a16:creationId xmlns:a16="http://schemas.microsoft.com/office/drawing/2014/main" id="{C4AF30B4-85EB-A1D4-4010-2C61122E8753}"/>
              </a:ext>
            </a:extLst>
          </p:cNvPr>
          <p:cNvSpPr>
            <a:spLocks noGrp="1"/>
          </p:cNvSpPr>
          <p:nvPr>
            <p:ph type="body" sz="quarter" idx="158"/>
          </p:nvPr>
        </p:nvSpPr>
        <p:spPr>
          <a:xfrm>
            <a:off x="8310563" y="5417693"/>
            <a:ext cx="3282950" cy="165772"/>
          </a:xfrm>
          <a:prstGeom prst="rect">
            <a:avLst/>
          </a:prstGeom>
        </p:spPr>
        <p:txBody>
          <a:bodyPr wrap="square" lIns="0" tIns="0" rIns="0" bIns="0" anchor="b">
            <a:spAutoFit/>
          </a:bodyPr>
          <a:lstStyle>
            <a:lvl1pPr marL="0" indent="0">
              <a:lnSpc>
                <a:spcPts val="1387"/>
              </a:lnSpc>
              <a:spcBef>
                <a:spcPts val="933"/>
              </a:spcBef>
              <a:buFontTx/>
              <a:buNone/>
              <a:defRPr sz="1067">
                <a:solidFill>
                  <a:schemeClr val="bg1"/>
                </a:solidFill>
              </a:defRPr>
            </a:lvl1pPr>
            <a:lvl2pPr marL="304815" indent="0">
              <a:buFontTx/>
              <a:buNone/>
              <a:defRPr sz="1200">
                <a:solidFill>
                  <a:schemeClr val="tx1"/>
                </a:solidFill>
              </a:defRPr>
            </a:lvl2pPr>
            <a:lvl3pPr marL="609630" indent="0">
              <a:buFontTx/>
              <a:buNone/>
              <a:defRPr sz="1200">
                <a:solidFill>
                  <a:schemeClr val="tx1"/>
                </a:solidFill>
              </a:defRPr>
            </a:lvl3pPr>
            <a:lvl4pPr marL="914446" indent="0">
              <a:buFontTx/>
              <a:buNone/>
              <a:defRPr sz="1200">
                <a:solidFill>
                  <a:schemeClr val="tx1"/>
                </a:solidFill>
              </a:defRPr>
            </a:lvl4pPr>
            <a:lvl5pPr marL="1219261" indent="0">
              <a:buFontTx/>
              <a:buNone/>
              <a:defRPr sz="1200">
                <a:solidFill>
                  <a:schemeClr val="tx1"/>
                </a:solidFill>
              </a:defRPr>
            </a:lvl5pPr>
          </a:lstStyle>
          <a:p>
            <a:pPr lvl="0"/>
            <a:r>
              <a:rPr lang="en-US"/>
              <a:t>Click to edit Master text styles</a:t>
            </a:r>
          </a:p>
        </p:txBody>
      </p:sp>
      <p:sp>
        <p:nvSpPr>
          <p:cNvPr id="11" name="Text Placeholder 22">
            <a:extLst>
              <a:ext uri="{FF2B5EF4-FFF2-40B4-BE49-F238E27FC236}">
                <a16:creationId xmlns:a16="http://schemas.microsoft.com/office/drawing/2014/main" id="{C7D90C75-4BCC-B42C-6837-2A69D363147E}"/>
              </a:ext>
            </a:extLst>
          </p:cNvPr>
          <p:cNvSpPr>
            <a:spLocks noGrp="1"/>
          </p:cNvSpPr>
          <p:nvPr>
            <p:ph type="body" sz="quarter" idx="136" hasCustomPrompt="1"/>
          </p:nvPr>
        </p:nvSpPr>
        <p:spPr>
          <a:xfrm>
            <a:off x="406400" y="913510"/>
            <a:ext cx="7514167" cy="470214"/>
          </a:xfrm>
          <a:prstGeom prst="rect">
            <a:avLst/>
          </a:prstGeom>
        </p:spPr>
        <p:txBody>
          <a:bodyPr wrap="square" lIns="0" tIns="0" rIns="0" bIns="0" anchor="t">
            <a:spAutoFit/>
          </a:bodyPr>
          <a:lstStyle>
            <a:lvl1pPr marL="0" indent="0">
              <a:lnSpc>
                <a:spcPts val="3654"/>
              </a:lnSpc>
              <a:buNone/>
              <a:defRPr sz="3200">
                <a:latin typeface="+mj-lt"/>
              </a:defRPr>
            </a:lvl1pPr>
          </a:lstStyle>
          <a:p>
            <a:pPr lvl="0"/>
            <a:r>
              <a:rPr lang="en-US"/>
              <a:t>Click to edit master title style</a:t>
            </a:r>
          </a:p>
        </p:txBody>
      </p:sp>
      <p:sp>
        <p:nvSpPr>
          <p:cNvPr id="13" name="Picture Placeholder 8">
            <a:extLst>
              <a:ext uri="{FF2B5EF4-FFF2-40B4-BE49-F238E27FC236}">
                <a16:creationId xmlns:a16="http://schemas.microsoft.com/office/drawing/2014/main" id="{EC83104C-BCB2-B66E-29C5-6CD4E89035A0}"/>
              </a:ext>
            </a:extLst>
          </p:cNvPr>
          <p:cNvSpPr>
            <a:spLocks noGrp="1"/>
          </p:cNvSpPr>
          <p:nvPr>
            <p:ph type="pic" sz="quarter" idx="163"/>
          </p:nvPr>
        </p:nvSpPr>
        <p:spPr>
          <a:xfrm>
            <a:off x="8307387" y="1056497"/>
            <a:ext cx="3289300" cy="2286000"/>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Click icon to add picture</a:t>
            </a:r>
          </a:p>
        </p:txBody>
      </p:sp>
      <p:cxnSp>
        <p:nvCxnSpPr>
          <p:cNvPr id="8" name="Straight Connector 7">
            <a:extLst>
              <a:ext uri="{FF2B5EF4-FFF2-40B4-BE49-F238E27FC236}">
                <a16:creationId xmlns:a16="http://schemas.microsoft.com/office/drawing/2014/main" id="{E37D7387-1543-C4E3-141C-4CC1DF7FA95C}"/>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809BACA3-2E0A-39F6-130F-D5AE7D77E2DE}"/>
              </a:ext>
            </a:extLst>
          </p:cNvPr>
          <p:cNvSpPr>
            <a:spLocks noGrp="1"/>
          </p:cNvSpPr>
          <p:nvPr>
            <p:ph type="body" idx="106" hasCustomPrompt="1"/>
          </p:nvPr>
        </p:nvSpPr>
        <p:spPr>
          <a:xfrm>
            <a:off x="406400" y="408053"/>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lide Number Placeholder 4">
            <a:extLst>
              <a:ext uri="{FF2B5EF4-FFF2-40B4-BE49-F238E27FC236}">
                <a16:creationId xmlns:a16="http://schemas.microsoft.com/office/drawing/2014/main" id="{25302047-ABAD-0CD7-8E86-1057A5595EFB}"/>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5" name="Symbol zastępczy stopki 1">
            <a:extLst>
              <a:ext uri="{FF2B5EF4-FFF2-40B4-BE49-F238E27FC236}">
                <a16:creationId xmlns:a16="http://schemas.microsoft.com/office/drawing/2014/main" id="{BC270ADE-93B0-C3AD-86D2-FBED009528C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1858646659"/>
      </p:ext>
    </p:extLst>
  </p:cSld>
  <p:clrMapOvr>
    <a:masterClrMapping/>
  </p:clrMapOvr>
  <p:extLst>
    <p:ext uri="{DCECCB84-F9BA-43D5-87BE-67443E8EF086}">
      <p15:sldGuideLst xmlns:p15="http://schemas.microsoft.com/office/powerpoint/2012/main">
        <p15:guide id="1" orient="horz" pos="382">
          <p15:clr>
            <a:srgbClr val="A4A3A4"/>
          </p15:clr>
        </p15:guide>
        <p15:guide id="2" pos="6758">
          <p15:clr>
            <a:srgbClr val="C35EA4"/>
          </p15:clr>
        </p15:guide>
        <p15:guide id="3" pos="5851">
          <p15:clr>
            <a:srgbClr val="C35EA4"/>
          </p15:clr>
        </p15:guide>
        <p15:guide id="4" pos="5669">
          <p15:clr>
            <a:srgbClr val="C35EA4"/>
          </p15:clr>
        </p15:guide>
        <p15:guide id="5" pos="6576">
          <p15:clr>
            <a:srgbClr val="C35EA4"/>
          </p15:clr>
        </p15:guide>
        <p15:guide id="6" pos="4944">
          <p15:clr>
            <a:srgbClr val="C35EA4"/>
          </p15:clr>
        </p15:guide>
        <p15:guide id="7" pos="4762">
          <p15:clr>
            <a:srgbClr val="C35EA4"/>
          </p15:clr>
        </p15:guide>
        <p15:guide id="9" pos="7484">
          <p15:clr>
            <a:srgbClr val="C35EA4"/>
          </p15:clr>
        </p15:guide>
        <p15:guide id="11" pos="7665">
          <p15:clr>
            <a:srgbClr val="C35EA4"/>
          </p15:clr>
        </p15:guide>
        <p15:guide id="12" pos="8391">
          <p15:clr>
            <a:srgbClr val="C35EA4"/>
          </p15:clr>
        </p15:guide>
        <p15:guide id="13" pos="3129">
          <p15:clr>
            <a:srgbClr val="C35EA4"/>
          </p15:clr>
        </p15:guide>
        <p15:guide id="14" pos="2948">
          <p15:clr>
            <a:srgbClr val="C35EA4"/>
          </p15:clr>
        </p15:guide>
        <p15:guide id="15" pos="8572">
          <p15:clr>
            <a:srgbClr val="C35EA4"/>
          </p15:clr>
        </p15:guide>
        <p15:guide id="16" pos="9298">
          <p15:clr>
            <a:srgbClr val="C35EA4"/>
          </p15:clr>
        </p15:guide>
        <p15:guide id="18" pos="2041">
          <p15:clr>
            <a:srgbClr val="C35EA4"/>
          </p15:clr>
        </p15:guide>
        <p15:guide id="19" pos="9479">
          <p15:clr>
            <a:srgbClr val="C35EA4"/>
          </p15:clr>
        </p15:guide>
        <p15:guide id="20" pos="10205">
          <p15:clr>
            <a:srgbClr val="C35EA4"/>
          </p15:clr>
        </p15:guide>
        <p15:guide id="21" pos="1315">
          <p15:clr>
            <a:srgbClr val="C35EA4"/>
          </p15:clr>
        </p15:guide>
        <p15:guide id="22" pos="1133">
          <p15:clr>
            <a:srgbClr val="C35EA4"/>
          </p15:clr>
        </p15:guide>
        <p15:guide id="23" pos="10387">
          <p15:clr>
            <a:srgbClr val="C35EA4"/>
          </p15:clr>
        </p15:guide>
        <p15:guide id="24" pos="11135">
          <p15:clr>
            <a:srgbClr val="A4A3A4"/>
          </p15:clr>
        </p15:guide>
        <p15:guide id="25" pos="385">
          <p15:clr>
            <a:srgbClr val="A4A3A4"/>
          </p15:clr>
        </p15:guide>
        <p15:guide id="26" orient="horz" pos="6098">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76C1-61C2-2372-9AF7-D3A278D92431}"/>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7C26E1D7-24EE-D778-3FF2-083998A9C381}"/>
              </a:ext>
            </a:extLst>
          </p:cNvPr>
          <p:cNvSpPr>
            <a:spLocks noGrp="1"/>
          </p:cNvSpPr>
          <p:nvPr>
            <p:ph type="body" sz="quarter" idx="136"/>
          </p:nvPr>
        </p:nvSpPr>
        <p:spPr>
          <a:xfrm>
            <a:off x="435897" y="766026"/>
            <a:ext cx="7514167" cy="425886"/>
          </a:xfrm>
        </p:spPr>
        <p:txBody>
          <a:bodyPr/>
          <a:lstStyle/>
          <a:p>
            <a:r>
              <a:rPr lang="en-US" sz="2400" noProof="1">
                <a:solidFill>
                  <a:schemeClr val="accent6"/>
                </a:solidFill>
              </a:rPr>
              <a:t>End-to-end Energy Consumption Platform</a:t>
            </a:r>
          </a:p>
        </p:txBody>
      </p:sp>
      <p:sp>
        <p:nvSpPr>
          <p:cNvPr id="5" name="Text Placeholder 4">
            <a:extLst>
              <a:ext uri="{FF2B5EF4-FFF2-40B4-BE49-F238E27FC236}">
                <a16:creationId xmlns:a16="http://schemas.microsoft.com/office/drawing/2014/main" id="{343A9027-0ADE-B824-23C4-2D47B7E985AD}"/>
              </a:ext>
            </a:extLst>
          </p:cNvPr>
          <p:cNvSpPr>
            <a:spLocks noGrp="1"/>
          </p:cNvSpPr>
          <p:nvPr>
            <p:ph type="body" idx="106"/>
          </p:nvPr>
        </p:nvSpPr>
        <p:spPr>
          <a:xfrm>
            <a:off x="331244" y="-218249"/>
            <a:ext cx="7514167" cy="779381"/>
          </a:xfrm>
        </p:spPr>
        <p:txBody>
          <a:bodyPr/>
          <a:lstStyle/>
          <a:p>
            <a:r>
              <a:rPr lang="en-US" noProof="1">
                <a:solidFill>
                  <a:srgbClr val="595959"/>
                </a:solidFill>
                <a:latin typeface="Arial"/>
                <a:cs typeface="Arial"/>
              </a:rPr>
              <a:t>Xebia response to Zeppelin Power EMS RFP</a:t>
            </a:r>
          </a:p>
          <a:p>
            <a:endParaRPr lang="en-US" noProof="1">
              <a:solidFill>
                <a:srgbClr val="595959"/>
              </a:solidFill>
              <a:latin typeface="Arial" panose="020B0604020202020204" pitchFamily="34" charset="0"/>
            </a:endParaRPr>
          </a:p>
          <a:p>
            <a:endParaRPr lang="en-US" noProof="1"/>
          </a:p>
        </p:txBody>
      </p:sp>
      <p:sp>
        <p:nvSpPr>
          <p:cNvPr id="2" name="Slide Number Placeholder 1">
            <a:extLst>
              <a:ext uri="{FF2B5EF4-FFF2-40B4-BE49-F238E27FC236}">
                <a16:creationId xmlns:a16="http://schemas.microsoft.com/office/drawing/2014/main" id="{55B862BA-8B49-E42D-1A9F-D052B271F83C}"/>
              </a:ext>
            </a:extLst>
          </p:cNvPr>
          <p:cNvSpPr>
            <a:spLocks noGrp="1"/>
          </p:cNvSpPr>
          <p:nvPr>
            <p:ph type="sldNum" sz="quarter" idx="12"/>
          </p:nvPr>
        </p:nvSpPr>
        <p:spPr/>
        <p:txBody>
          <a:bodyPr/>
          <a:lstStyle/>
          <a:p>
            <a:fld id="{C1F56866-D47B-47B9-9D95-BB9706FB23C1}" type="slidenum">
              <a:rPr lang="en-US" noProof="1" smtClean="0"/>
              <a:pPr/>
              <a:t>1</a:t>
            </a:fld>
            <a:endParaRPr lang="en-US" noProof="1"/>
          </a:p>
        </p:txBody>
      </p:sp>
      <p:sp>
        <p:nvSpPr>
          <p:cNvPr id="3" name="Symbol zastępczy stopki 2">
            <a:extLst>
              <a:ext uri="{FF2B5EF4-FFF2-40B4-BE49-F238E27FC236}">
                <a16:creationId xmlns:a16="http://schemas.microsoft.com/office/drawing/2014/main" id="{84688AB9-D366-6EB2-8E52-AB75F6E5C0FD}"/>
              </a:ext>
            </a:extLst>
          </p:cNvPr>
          <p:cNvSpPr>
            <a:spLocks noGrp="1"/>
          </p:cNvSpPr>
          <p:nvPr>
            <p:ph type="ftr" sz="quarter" idx="3"/>
          </p:nvPr>
        </p:nvSpPr>
        <p:spPr>
          <a:xfrm>
            <a:off x="168406" y="6633229"/>
            <a:ext cx="3673475" cy="123111"/>
          </a:xfrm>
        </p:spPr>
        <p:txBody>
          <a:bodyPr/>
          <a:lstStyle/>
          <a:p>
            <a:r>
              <a:rPr lang="en-US" noProof="1"/>
              <a:t>Copyright © 2025 Xebia. All rights reserved</a:t>
            </a:r>
          </a:p>
        </p:txBody>
      </p:sp>
      <p:sp>
        <p:nvSpPr>
          <p:cNvPr id="19" name="Google Shape;11530;p246">
            <a:extLst>
              <a:ext uri="{FF2B5EF4-FFF2-40B4-BE49-F238E27FC236}">
                <a16:creationId xmlns:a16="http://schemas.microsoft.com/office/drawing/2014/main" id="{27476060-DCF8-6700-3BAC-1A1019B480E0}"/>
              </a:ext>
            </a:extLst>
          </p:cNvPr>
          <p:cNvSpPr txBox="1"/>
          <p:nvPr/>
        </p:nvSpPr>
        <p:spPr>
          <a:xfrm>
            <a:off x="349946" y="1547676"/>
            <a:ext cx="7313418" cy="5636000"/>
          </a:xfrm>
          <a:prstGeom prst="rect">
            <a:avLst/>
          </a:prstGeom>
          <a:noFill/>
          <a:ln>
            <a:noFill/>
          </a:ln>
        </p:spPr>
        <p:txBody>
          <a:bodyPr spcFirstLastPara="1" wrap="square" lIns="91425" tIns="91425" rIns="91425" bIns="91425" anchor="t" anchorCtr="0">
            <a:normAutofit/>
          </a:bodyPr>
          <a:lstStyle/>
          <a:p>
            <a:pPr marL="0" marR="0" lvl="0" indent="0" algn="just" rtl="0">
              <a:lnSpc>
                <a:spcPct val="100000"/>
              </a:lnSpc>
              <a:spcBef>
                <a:spcPts val="0"/>
              </a:spcBef>
              <a:spcAft>
                <a:spcPts val="0"/>
              </a:spcAft>
              <a:buClr>
                <a:srgbClr val="000000"/>
              </a:buClr>
              <a:buSzPct val="73333"/>
              <a:buFont typeface="Arial"/>
              <a:buNone/>
            </a:pPr>
            <a:r>
              <a:rPr lang="en-US" sz="1200" b="1" noProof="1">
                <a:solidFill>
                  <a:schemeClr val="accent6"/>
                </a:solidFill>
                <a:ea typeface="Proxima Nova Rg"/>
                <a:cs typeface="Proxima Nova Rg"/>
                <a:sym typeface="Proxima Nova"/>
              </a:rPr>
              <a:t>Challenge</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ANWB Energie faced a critical deadline: the launch of their updated app at the end of the year, which needed to include the long-awaited functionality for customers to view their energy consumption data (daily, weekly, monthly, per source, self-generation, etc.).</a:t>
            </a:r>
          </a:p>
          <a:p>
            <a:pPr marL="0" marR="0" lvl="0" indent="0" algn="just" rtl="0">
              <a:lnSpc>
                <a:spcPct val="100000"/>
              </a:lnSpc>
              <a:spcBef>
                <a:spcPts val="0"/>
              </a:spcBef>
              <a:spcAft>
                <a:spcPts val="0"/>
              </a:spcAft>
              <a:buClr>
                <a:srgbClr val="000000"/>
              </a:buClr>
              <a:buSzPct val="73333"/>
              <a:buFont typeface="Arial"/>
              <a:buNone/>
            </a:pPr>
            <a:endParaRPr lang="en-US" sz="1000" noProof="1">
              <a:solidFill>
                <a:schemeClr val="accent6"/>
              </a:solidFill>
              <a:ea typeface="Proxima Nova Rg"/>
              <a:cs typeface="Proxima Nova Rg"/>
              <a:sym typeface="Proxima Nova"/>
            </a:endParaRP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The data came from their new CRM billing system, Kraken, stored in an S3 data lake. Unfortunately, the raw data proved unsuitable for direct use in the app, leading to unacceptable load times exceeding 30 seconds. This put the critical app release in jeopardy. ANWB Energie urgently needed a robust solution to save the launch.</a:t>
            </a:r>
          </a:p>
          <a:p>
            <a:pPr marL="0" marR="0" lvl="0" indent="0" algn="just" rtl="0">
              <a:lnSpc>
                <a:spcPct val="100000"/>
              </a:lnSpc>
              <a:spcBef>
                <a:spcPts val="0"/>
              </a:spcBef>
              <a:spcAft>
                <a:spcPts val="0"/>
              </a:spcAft>
              <a:buClr>
                <a:srgbClr val="000000"/>
              </a:buClr>
              <a:buSzPct val="73333"/>
              <a:buFont typeface="Arial"/>
              <a:buNone/>
            </a:pPr>
            <a:endParaRPr lang="en-US" sz="1000" b="1" noProof="1">
              <a:solidFill>
                <a:schemeClr val="accent6"/>
              </a:solidFill>
              <a:ea typeface="Proxima Nova Rg"/>
              <a:cs typeface="Proxima Nova Rg"/>
              <a:sym typeface="Proxima Nova"/>
            </a:endParaRPr>
          </a:p>
          <a:p>
            <a:pPr marL="0" marR="0" lvl="0" indent="0" algn="just" rtl="0">
              <a:lnSpc>
                <a:spcPct val="100000"/>
              </a:lnSpc>
              <a:spcBef>
                <a:spcPts val="0"/>
              </a:spcBef>
              <a:spcAft>
                <a:spcPts val="0"/>
              </a:spcAft>
              <a:buClr>
                <a:srgbClr val="000000"/>
              </a:buClr>
              <a:buSzPct val="73333"/>
              <a:buFont typeface="Arial"/>
              <a:buNone/>
            </a:pPr>
            <a:r>
              <a:rPr lang="en-US" sz="1200" b="1" noProof="1">
                <a:solidFill>
                  <a:schemeClr val="accent6"/>
                </a:solidFill>
                <a:ea typeface="Proxima Nova Rg"/>
                <a:cs typeface="Proxima Nova Rg"/>
                <a:sym typeface="Proxima Nova"/>
              </a:rPr>
              <a:t>Our Solution: Speed and Scale</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A multidisciplinary team of 5 Xebians was engaged to quickly remediate and optimize the data architecture and pipeline. Our team delivered an end-to-end solution, which included:</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Data Engineering: Setting up a new, robust synchronization pipeline between S3, Snowflake, dbt, and DynamoDB, including efficient orchestration.</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Analytics Engineering: Applying complex data aggregations and transformations (using dbt) to the Kraken data to create all the required consumption views (day/week/month, per source) and validating the business logic.</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Product Management: Providing effective alignment and tight coordination among ANWB, Kraken, and Xebia to meet the tight deadline.</a:t>
            </a:r>
          </a:p>
          <a:p>
            <a:pPr marL="0" marR="0" lvl="0" indent="0" algn="just" rtl="0">
              <a:lnSpc>
                <a:spcPct val="100000"/>
              </a:lnSpc>
              <a:spcBef>
                <a:spcPts val="0"/>
              </a:spcBef>
              <a:spcAft>
                <a:spcPts val="0"/>
              </a:spcAft>
              <a:buClr>
                <a:srgbClr val="000000"/>
              </a:buClr>
              <a:buSzPct val="73333"/>
              <a:buFont typeface="Arial"/>
              <a:buNone/>
            </a:pPr>
            <a:endParaRPr lang="en-US" sz="1000" b="1" noProof="1">
              <a:solidFill>
                <a:schemeClr val="accent6"/>
              </a:solidFill>
              <a:ea typeface="Proxima Nova Rg"/>
              <a:cs typeface="Proxima Nova Rg"/>
              <a:sym typeface="Proxima Nova"/>
            </a:endParaRPr>
          </a:p>
          <a:p>
            <a:pPr marL="0" marR="0" lvl="0" indent="0" algn="just" rtl="0">
              <a:lnSpc>
                <a:spcPct val="100000"/>
              </a:lnSpc>
              <a:spcBef>
                <a:spcPts val="0"/>
              </a:spcBef>
              <a:spcAft>
                <a:spcPts val="0"/>
              </a:spcAft>
              <a:buClr>
                <a:srgbClr val="000000"/>
              </a:buClr>
              <a:buSzPct val="73333"/>
              <a:buFont typeface="Arial"/>
              <a:buNone/>
            </a:pPr>
            <a:r>
              <a:rPr lang="en-US" sz="1200" b="1" noProof="1">
                <a:solidFill>
                  <a:schemeClr val="accent6"/>
                </a:solidFill>
                <a:ea typeface="Proxima Nova Rg"/>
                <a:cs typeface="Proxima Nova Rg"/>
                <a:sym typeface="Proxima Nova"/>
              </a:rPr>
              <a:t>The Result</a:t>
            </a: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By delivering the Kraken data pre-aggregated daily in Snowflake and subsequently in DynamoDB, the application is now able to access this optimized data directly via a new API.</a:t>
            </a:r>
          </a:p>
          <a:p>
            <a:pPr marL="0" marR="0" lvl="0" indent="0" algn="just" rtl="0">
              <a:lnSpc>
                <a:spcPct val="100000"/>
              </a:lnSpc>
              <a:spcBef>
                <a:spcPts val="0"/>
              </a:spcBef>
              <a:spcAft>
                <a:spcPts val="0"/>
              </a:spcAft>
              <a:buClr>
                <a:srgbClr val="000000"/>
              </a:buClr>
              <a:buSzPct val="73333"/>
              <a:buFont typeface="Arial"/>
              <a:buNone/>
            </a:pPr>
            <a:endParaRPr lang="en-US" sz="1000" noProof="1">
              <a:solidFill>
                <a:schemeClr val="accent6"/>
              </a:solidFill>
              <a:ea typeface="Proxima Nova Rg"/>
              <a:cs typeface="Proxima Nova Rg"/>
              <a:sym typeface="Proxima Nova"/>
            </a:endParaRPr>
          </a:p>
          <a:p>
            <a:pPr marL="0" marR="0" lvl="0" indent="0" algn="just" rtl="0">
              <a:lnSpc>
                <a:spcPct val="100000"/>
              </a:lnSpc>
              <a:spcBef>
                <a:spcPts val="0"/>
              </a:spcBef>
              <a:spcAft>
                <a:spcPts val="0"/>
              </a:spcAft>
              <a:buClr>
                <a:srgbClr val="000000"/>
              </a:buClr>
              <a:buSzPct val="73333"/>
              <a:buFont typeface="Arial"/>
              <a:buNone/>
            </a:pPr>
            <a:r>
              <a:rPr lang="en-US" sz="1000" noProof="1">
                <a:solidFill>
                  <a:schemeClr val="accent6"/>
                </a:solidFill>
                <a:ea typeface="Proxima Nova Rg"/>
                <a:cs typeface="Proxima Nova Rg"/>
                <a:sym typeface="Proxima Nova"/>
              </a:rPr>
              <a:t>The outcome: The substantial latencies in the app were eliminated, allowing ANWB Energie to release their essential new feature on time and provide customers with immediate access to fast, detailed insights into their energy consumption.</a:t>
            </a:r>
          </a:p>
        </p:txBody>
      </p:sp>
      <p:pic>
        <p:nvPicPr>
          <p:cNvPr id="3074" name="Picture 2" descr="Wind turbines in mountains">
            <a:extLst>
              <a:ext uri="{FF2B5EF4-FFF2-40B4-BE49-F238E27FC236}">
                <a16:creationId xmlns:a16="http://schemas.microsoft.com/office/drawing/2014/main" id="{CE2817B5-C428-AAC8-BFBB-30928B59E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8376782" y="1061883"/>
            <a:ext cx="3150611" cy="235974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NWB Energie | Tarieven, Beoordelingen &amp; Cashback | Easyswitch">
            <a:extLst>
              <a:ext uri="{FF2B5EF4-FFF2-40B4-BE49-F238E27FC236}">
                <a16:creationId xmlns:a16="http://schemas.microsoft.com/office/drawing/2014/main" id="{5871794F-E5EF-2B76-634A-E2D5FE9912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7155" y="3705667"/>
            <a:ext cx="285750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8896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391ACD-10A8-40A3-AC6D-59819B98626B}">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customXml/itemProps2.xml><?xml version="1.0" encoding="utf-8"?>
<ds:datastoreItem xmlns:ds="http://schemas.openxmlformats.org/officeDocument/2006/customXml" ds:itemID="{DE6319E5-F0BA-4F7E-A6C8-6BA241D52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E61FD-5C1E-4402-92FC-EE6AE6039C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cp:revision>
  <dcterms:created xsi:type="dcterms:W3CDTF">2026-01-23T11:38:46Z</dcterms:created>
  <dcterms:modified xsi:type="dcterms:W3CDTF">2026-01-23T11:39:14Z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