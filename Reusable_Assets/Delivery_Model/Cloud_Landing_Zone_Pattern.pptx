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6E08C-8224-A42A-05AD-DD6231689FB9}" v="2" dt="2026-01-23T11:31:31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8056E08C-8224-A42A-05AD-DD6231689FB9}"/>
    <pc:docChg chg="addSld delSld">
      <pc:chgData name="George Sereda" userId="S::george.sereda@xebia.com::5e824fc6-3a6a-482b-8597-f9374fb4b421" providerId="AD" clId="Web-{8056E08C-8224-A42A-05AD-DD6231689FB9}" dt="2026-01-23T11:31:31.139" v="1"/>
      <pc:docMkLst>
        <pc:docMk/>
      </pc:docMkLst>
      <pc:sldChg chg="del">
        <pc:chgData name="George Sereda" userId="S::george.sereda@xebia.com::5e824fc6-3a6a-482b-8597-f9374fb4b421" providerId="AD" clId="Web-{8056E08C-8224-A42A-05AD-DD6231689FB9}" dt="2026-01-23T11:31:31.139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8056E08C-8224-A42A-05AD-DD6231689FB9}" dt="2026-01-23T11:31:24.998" v="0"/>
        <pc:sldMkLst>
          <pc:docMk/>
          <pc:sldMk cId="653473717" sldId="260"/>
        </pc:sldMkLst>
      </pc:sldChg>
      <pc:sldMasterChg chg="addSldLayout">
        <pc:chgData name="George Sereda" userId="S::george.sereda@xebia.com::5e824fc6-3a6a-482b-8597-f9374fb4b421" providerId="AD" clId="Web-{8056E08C-8224-A42A-05AD-DD6231689FB9}" dt="2026-01-23T11:31:24.998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8056E08C-8224-A42A-05AD-DD6231689FB9}" dt="2026-01-23T11:31:24.998" v="0"/>
          <pc:sldLayoutMkLst>
            <pc:docMk/>
            <pc:sldMasterMk cId="2460954070" sldId="2147483660"/>
            <pc:sldLayoutMk cId="3792273151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79227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E289-193A-03E9-7CEE-7937244FC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D91D05-DAC7-338E-6384-88529C73FBCD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18400" y="408054"/>
            <a:ext cx="7513108" cy="232628"/>
          </a:xfrm>
        </p:spPr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3DA72-EE0B-A1EE-1415-46EEB7FE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09D4A-D7A1-3DEF-ABB8-A9FBE77B6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B047D60-A134-6513-3BBA-06F61DFC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pl-PL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Azure </a:t>
            </a:r>
            <a:r>
              <a:rPr lang="en-GB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Landing Zone</a:t>
            </a:r>
            <a:endParaRPr lang="en-US" sz="3200" b="0" kern="0" noProof="1">
              <a:solidFill>
                <a:srgbClr val="000000"/>
              </a:solidFill>
              <a:latin typeface="+mn-lt"/>
              <a:ea typeface="Suisse Int'l Regular" pitchFamily="34" charset="-122"/>
            </a:endParaRP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DD92D895-854B-D48D-265F-C9A1279B2FC9}"/>
              </a:ext>
            </a:extLst>
          </p:cNvPr>
          <p:cNvSpPr txBox="1">
            <a:spLocks/>
          </p:cNvSpPr>
          <p:nvPr/>
        </p:nvSpPr>
        <p:spPr>
          <a:xfrm>
            <a:off x="402011" y="1874681"/>
            <a:ext cx="5545138" cy="35701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accent6"/>
                </a:solidFill>
              </a:rPr>
              <a:t>Easily provision new resources</a:t>
            </a:r>
          </a:p>
          <a:p>
            <a:r>
              <a:rPr lang="en-US" sz="1200">
                <a:solidFill>
                  <a:schemeClr val="accent6"/>
                </a:solidFill>
              </a:rPr>
              <a:t>Review cost and environmental impact of each workload</a:t>
            </a:r>
          </a:p>
          <a:p>
            <a:r>
              <a:rPr lang="en-US" sz="1200">
                <a:solidFill>
                  <a:schemeClr val="accent6"/>
                </a:solidFill>
              </a:rPr>
              <a:t>Clearly and fully separate workloads</a:t>
            </a:r>
          </a:p>
          <a:p>
            <a:r>
              <a:rPr lang="en-US" sz="1200">
                <a:solidFill>
                  <a:schemeClr val="accent6"/>
                </a:solidFill>
              </a:rPr>
              <a:t>Consistently apply and update security policies</a:t>
            </a:r>
          </a:p>
          <a:p>
            <a:r>
              <a:rPr lang="en-US" sz="1200">
                <a:solidFill>
                  <a:schemeClr val="accent6"/>
                </a:solidFill>
              </a:rPr>
              <a:t>Create self-supporting application teams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EA2816E-4B1A-7A0D-1920-CD3D8B004EEA}"/>
              </a:ext>
            </a:extLst>
          </p:cNvPr>
          <p:cNvSpPr txBox="1">
            <a:spLocks/>
          </p:cNvSpPr>
          <p:nvPr/>
        </p:nvSpPr>
        <p:spPr>
          <a:xfrm>
            <a:off x="330891" y="1548527"/>
            <a:ext cx="5545138" cy="4445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200" b="1">
                <a:solidFill>
                  <a:schemeClr val="accent6"/>
                </a:solidFill>
              </a:rPr>
              <a:t>A well-</a:t>
            </a:r>
            <a:r>
              <a:rPr lang="nl-NL" sz="1200" b="1" err="1">
                <a:solidFill>
                  <a:schemeClr val="accent6"/>
                </a:solidFill>
              </a:rPr>
              <a:t>implemented</a:t>
            </a:r>
            <a:r>
              <a:rPr lang="nl-NL" sz="1200" b="1">
                <a:solidFill>
                  <a:schemeClr val="accent6"/>
                </a:solidFill>
              </a:rPr>
              <a:t> Landing Zone </a:t>
            </a:r>
            <a:r>
              <a:rPr lang="pl-PL" sz="1200" b="1" err="1">
                <a:solidFill>
                  <a:schemeClr val="accent6"/>
                </a:solidFill>
              </a:rPr>
              <a:t>allows</a:t>
            </a:r>
            <a:r>
              <a:rPr lang="nl-NL" sz="1200" b="1">
                <a:solidFill>
                  <a:schemeClr val="accent6"/>
                </a:solidFill>
              </a:rPr>
              <a:t> </a:t>
            </a:r>
            <a:r>
              <a:rPr lang="nl-NL" sz="1200" b="1" err="1">
                <a:solidFill>
                  <a:schemeClr val="accent6"/>
                </a:solidFill>
              </a:rPr>
              <a:t>you</a:t>
            </a:r>
            <a:r>
              <a:rPr lang="nl-NL" sz="1200" b="1">
                <a:solidFill>
                  <a:schemeClr val="accent6"/>
                </a:solidFill>
              </a:rPr>
              <a:t> </a:t>
            </a:r>
            <a:r>
              <a:rPr lang="nl-NL" sz="1200" b="1" err="1">
                <a:solidFill>
                  <a:schemeClr val="accent6"/>
                </a:solidFill>
              </a:rPr>
              <a:t>to</a:t>
            </a:r>
            <a:r>
              <a:rPr lang="pl-PL" sz="1200" b="1">
                <a:solidFill>
                  <a:schemeClr val="accent6"/>
                </a:solidFill>
              </a:rPr>
              <a:t>:</a:t>
            </a:r>
            <a:endParaRPr lang="en-US" sz="1200" b="1">
              <a:solidFill>
                <a:schemeClr val="accent6"/>
              </a:solidFill>
            </a:endParaRPr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14635747-E1F0-1D72-3126-4C48EDE29122}"/>
              </a:ext>
            </a:extLst>
          </p:cNvPr>
          <p:cNvSpPr txBox="1">
            <a:spLocks/>
          </p:cNvSpPr>
          <p:nvPr/>
        </p:nvSpPr>
        <p:spPr>
          <a:xfrm>
            <a:off x="9307830" y="3106420"/>
            <a:ext cx="2884170" cy="3619500"/>
          </a:xfrm>
          <a:prstGeom prst="rect">
            <a:avLst/>
          </a:prstGeom>
          <a:solidFill>
            <a:schemeClr val="bg2"/>
          </a:solidFill>
        </p:spPr>
        <p:txBody>
          <a:bodyPr vert="horz" lIns="180000" tIns="72000" rIns="14400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solidFill>
                  <a:schemeClr val="tx1"/>
                </a:solidFill>
              </a:rPr>
              <a:t>Cost Insights</a:t>
            </a:r>
          </a:p>
        </p:txBody>
      </p:sp>
      <p:pic>
        <p:nvPicPr>
          <p:cNvPr id="10" name="Afbeelding 2">
            <a:extLst>
              <a:ext uri="{FF2B5EF4-FFF2-40B4-BE49-F238E27FC236}">
                <a16:creationId xmlns:a16="http://schemas.microsoft.com/office/drawing/2014/main" id="{DF661CA4-EAB0-C125-7A0E-63B17F5CC9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32"/>
          <a:stretch/>
        </p:blipFill>
        <p:spPr>
          <a:xfrm>
            <a:off x="9432766" y="3523027"/>
            <a:ext cx="2646521" cy="3134948"/>
          </a:xfrm>
          <a:prstGeom prst="rect">
            <a:avLst/>
          </a:prstGeom>
        </p:spPr>
      </p:pic>
      <p:sp>
        <p:nvSpPr>
          <p:cNvPr id="11" name="Titel 3">
            <a:extLst>
              <a:ext uri="{FF2B5EF4-FFF2-40B4-BE49-F238E27FC236}">
                <a16:creationId xmlns:a16="http://schemas.microsoft.com/office/drawing/2014/main" id="{E7F2262A-EA79-28B1-0B44-C182D845DDDD}"/>
              </a:ext>
            </a:extLst>
          </p:cNvPr>
          <p:cNvSpPr txBox="1">
            <a:spLocks/>
          </p:cNvSpPr>
          <p:nvPr/>
        </p:nvSpPr>
        <p:spPr>
          <a:xfrm>
            <a:off x="5277644" y="0"/>
            <a:ext cx="6914356" cy="2931160"/>
          </a:xfrm>
          <a:prstGeom prst="rect">
            <a:avLst/>
          </a:prstGeom>
          <a:solidFill>
            <a:schemeClr val="bg2"/>
          </a:solidFill>
        </p:spPr>
        <p:txBody>
          <a:bodyPr vert="horz" lIns="180000" tIns="72000" rIns="14400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>
                <a:solidFill>
                  <a:schemeClr val="tx1"/>
                </a:solidFill>
              </a:rPr>
              <a:t>Service Catalog</a:t>
            </a:r>
          </a:p>
        </p:txBody>
      </p:sp>
      <p:pic>
        <p:nvPicPr>
          <p:cNvPr id="12" name="Picture 2" descr="Starting Phase 2: The Service Catalog | Backstage Software Catalog and  Developer Platform">
            <a:extLst>
              <a:ext uri="{FF2B5EF4-FFF2-40B4-BE49-F238E27FC236}">
                <a16:creationId xmlns:a16="http://schemas.microsoft.com/office/drawing/2014/main" id="{70335B91-A855-4D9F-9722-DB5C5B179A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04"/>
          <a:stretch/>
        </p:blipFill>
        <p:spPr bwMode="auto">
          <a:xfrm>
            <a:off x="5408258" y="452321"/>
            <a:ext cx="6633284" cy="2367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ep 16">
            <a:extLst>
              <a:ext uri="{FF2B5EF4-FFF2-40B4-BE49-F238E27FC236}">
                <a16:creationId xmlns:a16="http://schemas.microsoft.com/office/drawing/2014/main" id="{DCBA2B98-1DA8-B393-A13C-49C32532A883}"/>
              </a:ext>
            </a:extLst>
          </p:cNvPr>
          <p:cNvGrpSpPr/>
          <p:nvPr/>
        </p:nvGrpSpPr>
        <p:grpSpPr>
          <a:xfrm>
            <a:off x="6571695" y="3111500"/>
            <a:ext cx="2884170" cy="3619500"/>
            <a:chOff x="6250702" y="3111500"/>
            <a:chExt cx="2884170" cy="3619500"/>
          </a:xfrm>
        </p:grpSpPr>
        <p:sp>
          <p:nvSpPr>
            <p:cNvPr id="14" name="Titel 3">
              <a:extLst>
                <a:ext uri="{FF2B5EF4-FFF2-40B4-BE49-F238E27FC236}">
                  <a16:creationId xmlns:a16="http://schemas.microsoft.com/office/drawing/2014/main" id="{5EAF2605-F155-2713-834C-97F10685A36C}"/>
                </a:ext>
              </a:extLst>
            </p:cNvPr>
            <p:cNvSpPr txBox="1">
              <a:spLocks/>
            </p:cNvSpPr>
            <p:nvPr/>
          </p:nvSpPr>
          <p:spPr>
            <a:xfrm>
              <a:off x="6250702" y="3111500"/>
              <a:ext cx="2884170" cy="3619500"/>
            </a:xfrm>
            <a:prstGeom prst="rect">
              <a:avLst/>
            </a:prstGeom>
            <a:solidFill>
              <a:schemeClr val="bg2"/>
            </a:solidFill>
          </p:spPr>
          <p:txBody>
            <a:bodyPr vert="horz" lIns="180000" tIns="72000" rIns="144000" bIns="0" rtlCol="0" anchor="t">
              <a:norm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>
                  <a:solidFill>
                    <a:schemeClr val="tx1"/>
                  </a:solidFill>
                </a:rPr>
                <a:t>Security Insights</a:t>
              </a:r>
            </a:p>
          </p:txBody>
        </p:sp>
        <p:pic>
          <p:nvPicPr>
            <p:cNvPr id="15" name="Content Placeholder 5">
              <a:extLst>
                <a:ext uri="{FF2B5EF4-FFF2-40B4-BE49-F238E27FC236}">
                  <a16:creationId xmlns:a16="http://schemas.microsoft.com/office/drawing/2014/main" id="{EAD62153-49EF-F0D7-925F-3ECFA29F57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2643" r="54415" b="27954"/>
            <a:stretch/>
          </p:blipFill>
          <p:spPr>
            <a:xfrm>
              <a:off x="6375638" y="3523027"/>
              <a:ext cx="2634298" cy="3134948"/>
            </a:xfrm>
            <a:prstGeom prst="rect">
              <a:avLst/>
            </a:prstGeom>
          </p:spPr>
        </p:pic>
      </p:grpSp>
      <p:grpSp>
        <p:nvGrpSpPr>
          <p:cNvPr id="16" name="Groep 19">
            <a:extLst>
              <a:ext uri="{FF2B5EF4-FFF2-40B4-BE49-F238E27FC236}">
                <a16:creationId xmlns:a16="http://schemas.microsoft.com/office/drawing/2014/main" id="{F6782D1C-611E-33CE-F3CC-CDCE8E28B484}"/>
              </a:ext>
            </a:extLst>
          </p:cNvPr>
          <p:cNvGrpSpPr/>
          <p:nvPr/>
        </p:nvGrpSpPr>
        <p:grpSpPr>
          <a:xfrm>
            <a:off x="3835559" y="3111500"/>
            <a:ext cx="2884170" cy="3619500"/>
            <a:chOff x="3145552" y="3111500"/>
            <a:chExt cx="2884170" cy="3619500"/>
          </a:xfrm>
        </p:grpSpPr>
        <p:sp>
          <p:nvSpPr>
            <p:cNvPr id="18" name="Titel 3">
              <a:extLst>
                <a:ext uri="{FF2B5EF4-FFF2-40B4-BE49-F238E27FC236}">
                  <a16:creationId xmlns:a16="http://schemas.microsoft.com/office/drawing/2014/main" id="{CCEAB703-7D3F-C2AF-A2B7-BA4A9B34AB1E}"/>
                </a:ext>
              </a:extLst>
            </p:cNvPr>
            <p:cNvSpPr txBox="1">
              <a:spLocks/>
            </p:cNvSpPr>
            <p:nvPr/>
          </p:nvSpPr>
          <p:spPr>
            <a:xfrm>
              <a:off x="3145552" y="3111500"/>
              <a:ext cx="2884170" cy="3619500"/>
            </a:xfrm>
            <a:prstGeom prst="rect">
              <a:avLst/>
            </a:prstGeom>
            <a:solidFill>
              <a:schemeClr val="bg2"/>
            </a:solidFill>
          </p:spPr>
          <p:txBody>
            <a:bodyPr vert="horz" lIns="180000" tIns="72000" rIns="144000" bIns="0" rtlCol="0" anchor="t">
              <a:normAutofit/>
            </a:bodyPr>
            <a:lstStyle>
              <a:lvl1pPr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>
                  <a:solidFill>
                    <a:schemeClr val="tx1"/>
                  </a:solidFill>
                </a:rPr>
                <a:t>Pipeline Status</a:t>
              </a:r>
            </a:p>
          </p:txBody>
        </p:sp>
        <p:pic>
          <p:nvPicPr>
            <p:cNvPr id="19" name="Picture 1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4F0F1815-CE88-25DE-9E9B-3AE932AA4A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83" r="54332" b="28184"/>
            <a:stretch/>
          </p:blipFill>
          <p:spPr>
            <a:xfrm>
              <a:off x="3282712" y="3523027"/>
              <a:ext cx="2634298" cy="3134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347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442C2A-741B-4924-A234-65A5A45B9EDF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4EB41C86-EE84-4B4E-A925-7BCCB8FF6E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1DC47D-A79F-489A-9ACF-174D910BDB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Azure Landing Zone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2026-01-23T11:30:51Z</dcterms:created>
  <dcterms:modified xsi:type="dcterms:W3CDTF">2026-01-23T11:31:35Z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