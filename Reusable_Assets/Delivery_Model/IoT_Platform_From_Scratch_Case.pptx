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5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2948D-74E8-8388-BF85-68A7ED41ED3C}" v="2" dt="2026-01-23T11:40:12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B6F2948D-74E8-8388-BF85-68A7ED41ED3C}"/>
    <pc:docChg chg="addSld delSld">
      <pc:chgData name="George Sereda" userId="S::george.sereda@xebia.com::5e824fc6-3a6a-482b-8597-f9374fb4b421" providerId="AD" clId="Web-{B6F2948D-74E8-8388-BF85-68A7ED41ED3C}" dt="2026-01-23T11:40:12.422" v="1"/>
      <pc:docMkLst>
        <pc:docMk/>
      </pc:docMkLst>
      <pc:sldChg chg="del">
        <pc:chgData name="George Sereda" userId="S::george.sereda@xebia.com::5e824fc6-3a6a-482b-8597-f9374fb4b421" providerId="AD" clId="Web-{B6F2948D-74E8-8388-BF85-68A7ED41ED3C}" dt="2026-01-23T11:40:12.422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B6F2948D-74E8-8388-BF85-68A7ED41ED3C}" dt="2026-01-23T11:40:08.813" v="0"/>
        <pc:sldMkLst>
          <pc:docMk/>
          <pc:sldMk cId="3706416159" sldId="2147483572"/>
        </pc:sldMkLst>
      </pc:sldChg>
      <pc:sldMasterChg chg="addSldLayout">
        <pc:chgData name="George Sereda" userId="S::george.sereda@xebia.com::5e824fc6-3a6a-482b-8597-f9374fb4b421" providerId="AD" clId="Web-{B6F2948D-74E8-8388-BF85-68A7ED41ED3C}" dt="2026-01-23T11:40:08.813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B6F2948D-74E8-8388-BF85-68A7ED41ED3C}" dt="2026-01-23T11:40:08.813" v="0"/>
          <pc:sldLayoutMkLst>
            <pc:docMk/>
            <pc:sldMasterMk cId="2460954070" sldId="2147483660"/>
            <pc:sldLayoutMk cId="3961610080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8D89D3-9418-5FFE-0213-3AB34E69F3A5}"/>
              </a:ext>
            </a:extLst>
          </p:cNvPr>
          <p:cNvSpPr/>
          <p:nvPr userDrawn="1"/>
        </p:nvSpPr>
        <p:spPr>
          <a:xfrm>
            <a:off x="8112125" y="901698"/>
            <a:ext cx="3679824" cy="5365665"/>
          </a:xfrm>
          <a:prstGeom prst="roundRect">
            <a:avLst>
              <a:gd name="adj" fmla="val 960"/>
            </a:avLst>
          </a:prstGeom>
          <a:solidFill>
            <a:srgbClr val="150026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2" name="Xebia" descr="preencoded.png">
            <a:extLst>
              <a:ext uri="{FF2B5EF4-FFF2-40B4-BE49-F238E27FC236}">
                <a16:creationId xmlns:a16="http://schemas.microsoft.com/office/drawing/2014/main" id="{23AB0DDA-E341-A60B-77FA-C291FC0BD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pic>
        <p:nvPicPr>
          <p:cNvPr id="3" name="Line 14" descr="preencoded.png">
            <a:extLst>
              <a:ext uri="{FF2B5EF4-FFF2-40B4-BE49-F238E27FC236}">
                <a16:creationId xmlns:a16="http://schemas.microsoft.com/office/drawing/2014/main" id="{560300F8-41ED-CBFC-3171-ACD3C3396C20}"/>
              </a:ext>
            </a:extLst>
          </p:cNvPr>
          <p:cNvPicPr preferRelativeResize="0">
            <a:picLocks/>
          </p:cNvPicPr>
          <p:nvPr userDrawn="1"/>
        </p:nvPicPr>
        <p:blipFill>
          <a:blip r:embed="rId4"/>
          <a:srcRect/>
          <a:stretch/>
        </p:blipFill>
        <p:spPr>
          <a:xfrm>
            <a:off x="406400" y="526699"/>
            <a:ext cx="0" cy="2400"/>
          </a:xfrm>
          <a:prstGeom prst="rect">
            <a:avLst/>
          </a:prstGeom>
          <a:noFill/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8372643-3B7C-6294-FD18-89DDF20FE750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406400" y="2129101"/>
            <a:ext cx="7514167" cy="2597798"/>
          </a:xfrm>
          <a:prstGeom prst="rect">
            <a:avLst/>
          </a:prstGeom>
        </p:spPr>
        <p:txBody>
          <a:bodyPr wrap="square" lIns="0" tIns="0" rIns="0" bIns="0" numCol="2" spcCol="332640" anchor="t">
            <a:noAutofit/>
          </a:bodyPr>
          <a:lstStyle>
            <a:lvl1pPr marL="0" marR="0" indent="0" algn="l" defTabSz="609630" rtl="0" eaLnBrk="1" fontAlgn="auto" latinLnBrk="0" hangingPunct="1">
              <a:lnSpc>
                <a:spcPts val="1387"/>
              </a:lnSpc>
              <a:spcBef>
                <a:spcPts val="933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7">
                <a:solidFill>
                  <a:schemeClr val="tx1"/>
                </a:solidFill>
              </a:defRPr>
            </a:lvl1pPr>
            <a:lvl2pPr marL="304815" indent="0">
              <a:buFontTx/>
              <a:buNone/>
              <a:defRPr sz="1200">
                <a:solidFill>
                  <a:schemeClr val="tx1"/>
                </a:solidFill>
              </a:defRPr>
            </a:lvl2pPr>
            <a:lvl3pPr marL="609630" indent="0">
              <a:buFontTx/>
              <a:buNone/>
              <a:defRPr sz="1200">
                <a:solidFill>
                  <a:schemeClr val="tx1"/>
                </a:solidFill>
              </a:defRPr>
            </a:lvl3pPr>
            <a:lvl4pPr marL="914446" indent="0">
              <a:buFontTx/>
              <a:buNone/>
              <a:defRPr sz="1200">
                <a:solidFill>
                  <a:schemeClr val="tx1"/>
                </a:solidFill>
              </a:defRPr>
            </a:lvl4pPr>
            <a:lvl5pPr marL="1219261" indent="0">
              <a:buFontTx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ex </a:t>
            </a:r>
            <a:r>
              <a:rPr lang="en-US" err="1"/>
              <a:t>sapien</a:t>
            </a:r>
            <a:r>
              <a:rPr lang="en-US"/>
              <a:t> vitae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convallis. Tempus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sed diam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lacinia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. Ut </a:t>
            </a:r>
            <a:r>
              <a:rPr lang="en-US" err="1"/>
              <a:t>hendrerit</a:t>
            </a:r>
            <a:r>
              <a:rPr lang="en-US"/>
              <a:t> semper vel class </a:t>
            </a:r>
            <a:r>
              <a:rPr lang="en-US" err="1"/>
              <a:t>aptent</a:t>
            </a:r>
            <a:r>
              <a:rPr lang="en-US"/>
              <a:t> </a:t>
            </a:r>
            <a:r>
              <a:rPr lang="en-US" err="1"/>
              <a:t>taciti</a:t>
            </a:r>
            <a:r>
              <a:rPr lang="en-US"/>
              <a:t> </a:t>
            </a:r>
            <a:r>
              <a:rPr lang="en-US" err="1"/>
              <a:t>sociosqu</a:t>
            </a:r>
            <a:r>
              <a:rPr lang="en-US"/>
              <a:t>. Ad </a:t>
            </a:r>
            <a:r>
              <a:rPr lang="en-US" err="1"/>
              <a:t>litora</a:t>
            </a:r>
            <a:r>
              <a:rPr lang="en-US"/>
              <a:t> </a:t>
            </a:r>
            <a:r>
              <a:rPr lang="en-US" err="1"/>
              <a:t>torquent</a:t>
            </a:r>
            <a:r>
              <a:rPr lang="en-US"/>
              <a:t> per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ex </a:t>
            </a:r>
            <a:r>
              <a:rPr lang="en-US" err="1"/>
              <a:t>sapien</a:t>
            </a:r>
            <a:r>
              <a:rPr lang="en-US"/>
              <a:t> vitae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convallis. Tempus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sed diam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lacinia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. </a:t>
            </a:r>
          </a:p>
          <a:p>
            <a:pPr marL="0" marR="0" lvl="0" indent="0" algn="l" defTabSz="609630" rtl="0" eaLnBrk="1" fontAlgn="auto" latinLnBrk="0" hangingPunct="1">
              <a:lnSpc>
                <a:spcPts val="1387"/>
              </a:lnSpc>
              <a:spcBef>
                <a:spcPts val="9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Ut </a:t>
            </a:r>
            <a:r>
              <a:rPr lang="en-US" err="1"/>
              <a:t>hendrerit</a:t>
            </a:r>
            <a:r>
              <a:rPr lang="en-US"/>
              <a:t> semper vel class </a:t>
            </a:r>
            <a:r>
              <a:rPr lang="en-US" err="1"/>
              <a:t>aptent</a:t>
            </a:r>
            <a:r>
              <a:rPr lang="en-US"/>
              <a:t> </a:t>
            </a:r>
            <a:r>
              <a:rPr lang="en-US" err="1"/>
              <a:t>taciti</a:t>
            </a:r>
            <a:r>
              <a:rPr lang="en-US"/>
              <a:t> </a:t>
            </a:r>
            <a:r>
              <a:rPr lang="en-US" err="1"/>
              <a:t>sociosqu</a:t>
            </a:r>
            <a:r>
              <a:rPr lang="en-US"/>
              <a:t>. Ad </a:t>
            </a:r>
            <a:r>
              <a:rPr lang="en-US" err="1"/>
              <a:t>litora</a:t>
            </a:r>
            <a:r>
              <a:rPr lang="en-US"/>
              <a:t> </a:t>
            </a:r>
            <a:r>
              <a:rPr lang="en-US" err="1"/>
              <a:t>torquent</a:t>
            </a:r>
            <a:r>
              <a:rPr lang="en-US"/>
              <a:t> per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ex </a:t>
            </a:r>
            <a:r>
              <a:rPr lang="en-US" err="1"/>
              <a:t>sapien</a:t>
            </a:r>
            <a:r>
              <a:rPr lang="en-US"/>
              <a:t> vitae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convallis. Tempus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sed diam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lacinia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. Ut </a:t>
            </a:r>
            <a:r>
              <a:rPr lang="en-US" err="1"/>
              <a:t>hendrerit</a:t>
            </a:r>
            <a:r>
              <a:rPr lang="en-US"/>
              <a:t> semper vel class </a:t>
            </a:r>
            <a:r>
              <a:rPr lang="en-US" err="1"/>
              <a:t>aptent</a:t>
            </a:r>
            <a:r>
              <a:rPr lang="en-US"/>
              <a:t> </a:t>
            </a:r>
            <a:r>
              <a:rPr lang="en-US" err="1"/>
              <a:t>taciti</a:t>
            </a:r>
            <a:r>
              <a:rPr lang="en-US"/>
              <a:t> </a:t>
            </a:r>
            <a:r>
              <a:rPr lang="en-US" err="1"/>
              <a:t>sociosqu</a:t>
            </a:r>
            <a:r>
              <a:rPr lang="en-US"/>
              <a:t>. Ad </a:t>
            </a:r>
            <a:r>
              <a:rPr lang="en-US" err="1"/>
              <a:t>litora</a:t>
            </a:r>
            <a:r>
              <a:rPr lang="en-US"/>
              <a:t> </a:t>
            </a:r>
            <a:r>
              <a:rPr lang="en-US" err="1"/>
              <a:t>torquent</a:t>
            </a:r>
            <a:r>
              <a:rPr lang="en-US"/>
              <a:t> per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4AF30B4-85EB-A1D4-4010-2C61122E8753}"/>
              </a:ext>
            </a:extLst>
          </p:cNvPr>
          <p:cNvSpPr>
            <a:spLocks noGrp="1"/>
          </p:cNvSpPr>
          <p:nvPr>
            <p:ph type="body" sz="quarter" idx="158"/>
          </p:nvPr>
        </p:nvSpPr>
        <p:spPr>
          <a:xfrm>
            <a:off x="8310563" y="5417693"/>
            <a:ext cx="3282950" cy="16577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ts val="1387"/>
              </a:lnSpc>
              <a:spcBef>
                <a:spcPts val="933"/>
              </a:spcBef>
              <a:buFontTx/>
              <a:buNone/>
              <a:defRPr sz="1067">
                <a:solidFill>
                  <a:schemeClr val="bg1"/>
                </a:solidFill>
              </a:defRPr>
            </a:lvl1pPr>
            <a:lvl2pPr marL="304815" indent="0">
              <a:buFontTx/>
              <a:buNone/>
              <a:defRPr sz="1200">
                <a:solidFill>
                  <a:schemeClr val="tx1"/>
                </a:solidFill>
              </a:defRPr>
            </a:lvl2pPr>
            <a:lvl3pPr marL="609630" indent="0">
              <a:buFontTx/>
              <a:buNone/>
              <a:defRPr sz="1200">
                <a:solidFill>
                  <a:schemeClr val="tx1"/>
                </a:solidFill>
              </a:defRPr>
            </a:lvl3pPr>
            <a:lvl4pPr marL="914446" indent="0">
              <a:buFontTx/>
              <a:buNone/>
              <a:defRPr sz="1200">
                <a:solidFill>
                  <a:schemeClr val="tx1"/>
                </a:solidFill>
              </a:defRPr>
            </a:lvl4pPr>
            <a:lvl5pPr marL="1219261" indent="0">
              <a:buFontTx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7D90C75-4BCC-B42C-6837-2A69D363147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406400" y="913510"/>
            <a:ext cx="7514167" cy="47021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ts val="3654"/>
              </a:lnSpc>
              <a:buNone/>
              <a:defRPr sz="3200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C83104C-BCB2-B66E-29C5-6CD4E89035A0}"/>
              </a:ext>
            </a:extLst>
          </p:cNvPr>
          <p:cNvSpPr>
            <a:spLocks noGrp="1"/>
          </p:cNvSpPr>
          <p:nvPr>
            <p:ph type="pic" sz="quarter" idx="163"/>
          </p:nvPr>
        </p:nvSpPr>
        <p:spPr>
          <a:xfrm>
            <a:off x="8307387" y="1056497"/>
            <a:ext cx="3289300" cy="2286000"/>
          </a:xfrm>
          <a:prstGeom prst="roundRect">
            <a:avLst>
              <a:gd name="adj" fmla="val 1472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>
              <a:defRPr lang="en-US" sz="8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7D7387-1543-C4E3-141C-4CC1DF7FA95C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0">
            <a:extLst>
              <a:ext uri="{FF2B5EF4-FFF2-40B4-BE49-F238E27FC236}">
                <a16:creationId xmlns:a16="http://schemas.microsoft.com/office/drawing/2014/main" id="{809BACA3-2E0A-39F6-130F-D5AE7D77E2DE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3"/>
            <a:ext cx="7514167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5302047-ABAD-0CD7-8E86-1057A559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ymbol zastępczy stopki 1">
            <a:extLst>
              <a:ext uri="{FF2B5EF4-FFF2-40B4-BE49-F238E27FC236}">
                <a16:creationId xmlns:a16="http://schemas.microsoft.com/office/drawing/2014/main" id="{BC270ADE-93B0-C3AD-86D2-FBED00952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>
                <a:solidFill>
                  <a:schemeClr val="tx1"/>
                </a:solidFill>
              </a:defRPr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61610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2">
          <p15:clr>
            <a:srgbClr val="A4A3A4"/>
          </p15:clr>
        </p15:guide>
        <p15:guide id="2" pos="6758">
          <p15:clr>
            <a:srgbClr val="C35EA4"/>
          </p15:clr>
        </p15:guide>
        <p15:guide id="3" pos="5851">
          <p15:clr>
            <a:srgbClr val="C35EA4"/>
          </p15:clr>
        </p15:guide>
        <p15:guide id="4" pos="5669">
          <p15:clr>
            <a:srgbClr val="C35EA4"/>
          </p15:clr>
        </p15:guide>
        <p15:guide id="5" pos="6576">
          <p15:clr>
            <a:srgbClr val="C35EA4"/>
          </p15:clr>
        </p15:guide>
        <p15:guide id="6" pos="4944">
          <p15:clr>
            <a:srgbClr val="C35EA4"/>
          </p15:clr>
        </p15:guide>
        <p15:guide id="7" pos="4762">
          <p15:clr>
            <a:srgbClr val="C35EA4"/>
          </p15:clr>
        </p15:guide>
        <p15:guide id="9" pos="7484">
          <p15:clr>
            <a:srgbClr val="C35EA4"/>
          </p15:clr>
        </p15:guide>
        <p15:guide id="11" pos="7665">
          <p15:clr>
            <a:srgbClr val="C35EA4"/>
          </p15:clr>
        </p15:guide>
        <p15:guide id="12" pos="8391">
          <p15:clr>
            <a:srgbClr val="C35EA4"/>
          </p15:clr>
        </p15:guide>
        <p15:guide id="13" pos="3129">
          <p15:clr>
            <a:srgbClr val="C35EA4"/>
          </p15:clr>
        </p15:guide>
        <p15:guide id="14" pos="2948">
          <p15:clr>
            <a:srgbClr val="C35EA4"/>
          </p15:clr>
        </p15:guide>
        <p15:guide id="15" pos="8572">
          <p15:clr>
            <a:srgbClr val="C35EA4"/>
          </p15:clr>
        </p15:guide>
        <p15:guide id="16" pos="9298">
          <p15:clr>
            <a:srgbClr val="C35EA4"/>
          </p15:clr>
        </p15:guide>
        <p15:guide id="18" pos="2041">
          <p15:clr>
            <a:srgbClr val="C35EA4"/>
          </p15:clr>
        </p15:guide>
        <p15:guide id="19" pos="9479">
          <p15:clr>
            <a:srgbClr val="C35EA4"/>
          </p15:clr>
        </p15:guide>
        <p15:guide id="20" pos="10205">
          <p15:clr>
            <a:srgbClr val="C35EA4"/>
          </p15:clr>
        </p15:guide>
        <p15:guide id="21" pos="1315">
          <p15:clr>
            <a:srgbClr val="C35EA4"/>
          </p15:clr>
        </p15:guide>
        <p15:guide id="22" pos="1133">
          <p15:clr>
            <a:srgbClr val="C35EA4"/>
          </p15:clr>
        </p15:guide>
        <p15:guide id="23" pos="10387">
          <p15:clr>
            <a:srgbClr val="C35EA4"/>
          </p15:clr>
        </p15:guide>
        <p15:guide id="24" pos="11135">
          <p15:clr>
            <a:srgbClr val="A4A3A4"/>
          </p15:clr>
        </p15:guide>
        <p15:guide id="25" pos="385">
          <p15:clr>
            <a:srgbClr val="A4A3A4"/>
          </p15:clr>
        </p15:guide>
        <p15:guide id="26" orient="horz" pos="609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34FCC-8111-7A74-5E9F-00E5D271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57ED0F-A830-0DC3-F7B0-58F1E8949662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435897" y="766026"/>
            <a:ext cx="7514167" cy="425886"/>
          </a:xfrm>
        </p:spPr>
        <p:txBody>
          <a:bodyPr/>
          <a:lstStyle/>
          <a:p>
            <a:r>
              <a:rPr lang="en-US" sz="2400" noProof="1">
                <a:solidFill>
                  <a:schemeClr val="accent6"/>
                </a:solidFill>
              </a:rPr>
              <a:t>IoT platform from scratch </a:t>
            </a:r>
          </a:p>
        </p:txBody>
      </p:sp>
      <p:pic>
        <p:nvPicPr>
          <p:cNvPr id="10" name="Picture Placeholder 9" descr="Person holding Earth">
            <a:extLst>
              <a:ext uri="{FF2B5EF4-FFF2-40B4-BE49-F238E27FC236}">
                <a16:creationId xmlns:a16="http://schemas.microsoft.com/office/drawing/2014/main" id="{912F0476-83F8-D974-85A8-6DE4E8AB8435}"/>
              </a:ext>
            </a:extLst>
          </p:cNvPr>
          <p:cNvPicPr>
            <a:picLocks noGrp="1" noChangeAspect="1"/>
          </p:cNvPicPr>
          <p:nvPr>
            <p:ph type="pic" sz="quarter" idx="16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7" r="10127"/>
          <a:stretch/>
        </p:blipFill>
        <p:spPr>
          <a:xfrm>
            <a:off x="8336884" y="1115490"/>
            <a:ext cx="3289300" cy="2286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8746D8-0743-19AF-7E83-C2CD08A0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6866-D47B-47B9-9D95-BB9706FB23C1}" type="slidenum">
              <a:rPr lang="en-US" noProof="1" smtClean="0"/>
              <a:pPr/>
              <a:t>1</a:t>
            </a:fld>
            <a:endParaRPr lang="en-US" noProof="1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ACAAA85-5F3B-A7ED-D7A5-8AD8DCEC3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1"/>
              <a:t>Copyright © 2025 Xebia. All rights reserved</a:t>
            </a:r>
          </a:p>
        </p:txBody>
      </p:sp>
      <p:pic>
        <p:nvPicPr>
          <p:cNvPr id="12" name="Google Shape;11534;p246">
            <a:extLst>
              <a:ext uri="{FF2B5EF4-FFF2-40B4-BE49-F238E27FC236}">
                <a16:creationId xmlns:a16="http://schemas.microsoft.com/office/drawing/2014/main" id="{289476E6-C4EE-D070-E29E-DC77143542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5759" y="3577983"/>
            <a:ext cx="1961089" cy="4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1530;p246">
            <a:extLst>
              <a:ext uri="{FF2B5EF4-FFF2-40B4-BE49-F238E27FC236}">
                <a16:creationId xmlns:a16="http://schemas.microsoft.com/office/drawing/2014/main" id="{AB39CBD9-97F8-44EF-5616-2C3E9BF4FFA2}"/>
              </a:ext>
            </a:extLst>
          </p:cNvPr>
          <p:cNvSpPr txBox="1"/>
          <p:nvPr/>
        </p:nvSpPr>
        <p:spPr>
          <a:xfrm>
            <a:off x="296750" y="1331963"/>
            <a:ext cx="7313418" cy="5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3333"/>
              <a:buFont typeface="Arial"/>
              <a:buNone/>
            </a:pPr>
            <a:endParaRPr lang="en-US" sz="1000" noProof="1">
              <a:solidFill>
                <a:schemeClr val="accent6"/>
              </a:solidFill>
              <a:ea typeface="Proxima Nova Rg"/>
              <a:cs typeface="Proxima Nova Rg"/>
              <a:sym typeface="Proxima Nova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73F0FA-54A1-D765-DDD2-E0D69C468511}"/>
              </a:ext>
            </a:extLst>
          </p:cNvPr>
          <p:cNvSpPr>
            <a:spLocks noGrp="1"/>
          </p:cNvSpPr>
          <p:nvPr>
            <p:ph type="body" idx="106"/>
          </p:nvPr>
        </p:nvSpPr>
        <p:spPr>
          <a:xfrm>
            <a:off x="406400" y="408053"/>
            <a:ext cx="7514167" cy="471604"/>
          </a:xfrm>
        </p:spPr>
        <p:txBody>
          <a:bodyPr/>
          <a:lstStyle/>
          <a:p>
            <a:r>
              <a:rPr lang="en-US" noProof="1"/>
              <a:t>Xebia response to Zeppelin Power EMS RFP</a:t>
            </a:r>
          </a:p>
          <a:p>
            <a:endParaRPr lang="en-US" noProof="1"/>
          </a:p>
        </p:txBody>
      </p:sp>
      <p:sp>
        <p:nvSpPr>
          <p:cNvPr id="4" name="Google Shape;11530;p246">
            <a:extLst>
              <a:ext uri="{FF2B5EF4-FFF2-40B4-BE49-F238E27FC236}">
                <a16:creationId xmlns:a16="http://schemas.microsoft.com/office/drawing/2014/main" id="{FC900D3C-1EB8-11AF-07FB-6278831F1030}"/>
              </a:ext>
            </a:extLst>
          </p:cNvPr>
          <p:cNvSpPr txBox="1"/>
          <p:nvPr/>
        </p:nvSpPr>
        <p:spPr>
          <a:xfrm>
            <a:off x="337420" y="1407119"/>
            <a:ext cx="7313418" cy="5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200" b="1" noProof="1">
                <a:solidFill>
                  <a:schemeClr val="accent6"/>
                </a:solidFill>
              </a:rPr>
              <a:t>Challenge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Wavin, a market leader in building climate control and urban water resilience solutions, had multiple IoT-enabled products but lacked a central platform to manage all devices, data, and access. This fragmentation made it difficult to streamline existing products and quickly add new ones. With limited in-house cloud expertise, Wavin needed a partner to design and build a robust, scalable IoT platform to support its digital transformation ambitions. </a:t>
            </a:r>
            <a:br>
              <a:rPr lang="en-US" sz="1000" noProof="1">
                <a:solidFill>
                  <a:schemeClr val="accent6"/>
                </a:solidFill>
              </a:rPr>
            </a:br>
            <a:endParaRPr lang="en-US" sz="1000" noProof="1">
              <a:solidFill>
                <a:schemeClr val="accent6"/>
              </a:solidFill>
            </a:endParaRPr>
          </a:p>
          <a:p>
            <a:r>
              <a:rPr lang="en-US" sz="1200" b="1" noProof="1">
                <a:solidFill>
                  <a:schemeClr val="accent6"/>
                </a:solidFill>
              </a:rPr>
              <a:t>Solution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After a competitive RFP process, Wavin selected Xebia to deliver a multi-disciplinary team of cloud, software, and data engineers. Xebia’s approach included: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Proof-of-Concept: Developed a device management dashboard and backend as the foundation.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Platform Build: Leveraged serverless and managed Google Cloud products (e.g., Cloud Run, BigQuery, Identity Platform) to ensure scalability and minimize operational overhead.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Rapid Adaptation: When Google IoT Core was discontinued, Xebia quickly built a replacement capability using Cloud Run and Golang, integrating with Particle hardware.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Developer Enablement: Used Xebia Base GCP Landing Zone, Terragrunt, and YAML configuration to allow any engineer to deploy infrastructure components securely and efficiently—without the need for a dedicated SRE or cloud operations team. </a:t>
            </a:r>
            <a:br>
              <a:rPr lang="en-US" sz="1000" noProof="1">
                <a:solidFill>
                  <a:schemeClr val="accent6"/>
                </a:solidFill>
              </a:rPr>
            </a:br>
            <a:endParaRPr lang="en-US" sz="1000" noProof="1">
              <a:solidFill>
                <a:schemeClr val="accent6"/>
              </a:solidFill>
            </a:endParaRPr>
          </a:p>
          <a:p>
            <a:r>
              <a:rPr lang="en-US" sz="1200" b="1" noProof="1">
                <a:solidFill>
                  <a:schemeClr val="accent6"/>
                </a:solidFill>
              </a:rPr>
              <a:t>Business Benefits / Outcome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Fast Time-to-Market: The re-engineered Polderroof product was launched to end customers in just 8 months from project start.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Scalability: The new platform is easy to extend, enabling rapid onboarding of additional products (e.g., Sentio) with minimal friction.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Operational Efficiency: Serverless architecture and standardized deployment empower development teams to operate and scale the platform independently.</a:t>
            </a:r>
          </a:p>
          <a:p>
            <a:r>
              <a:rPr lang="en-US" sz="1000" noProof="1">
                <a:solidFill>
                  <a:schemeClr val="accent6"/>
                </a:solidFill>
              </a:rPr>
              <a:t>Future-Proofing: The platform’s modular design and use of managed services ensure Wavin can continue to innovate and expand its digital product portfolio without legacy constraints.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6B82F8-DCE5-196E-13E5-98E9AA0DC09B}"/>
              </a:ext>
            </a:extLst>
          </p:cNvPr>
          <p:cNvSpPr/>
          <p:nvPr/>
        </p:nvSpPr>
        <p:spPr>
          <a:xfrm>
            <a:off x="6676102" y="5742039"/>
            <a:ext cx="4630995" cy="99305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+mn-ea"/>
                <a:cs typeface="+mn-cs"/>
              </a:rPr>
              <a:t>“</a:t>
            </a:r>
            <a:r>
              <a:rPr kumimoji="0" lang="en-GB" sz="900" b="0" i="1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+mn-ea"/>
                <a:cs typeface="+mn-cs"/>
              </a:rPr>
              <a:t>The new platform empowers our teams to innovate and extend our digital product portfolio rapidly, without legacy constraints.”</a:t>
            </a:r>
            <a:endParaRPr kumimoji="0" lang="en-US" sz="900" b="0" i="1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+mn-ea"/>
                <a:cs typeface="+mn-cs"/>
              </a:rPr>
              <a:t>​	</a:t>
            </a:r>
            <a:r>
              <a:rPr kumimoji="0" lang="en-US" sz="900" b="1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+mn-ea"/>
                <a:cs typeface="+mn-cs"/>
              </a:rPr>
              <a:t>— Vasilis Paschos, Global Business Director Digital Services</a:t>
            </a:r>
          </a:p>
        </p:txBody>
      </p:sp>
    </p:spTree>
    <p:extLst>
      <p:ext uri="{BB962C8B-B14F-4D97-AF65-F5344CB8AC3E}">
        <p14:creationId xmlns:p14="http://schemas.microsoft.com/office/powerpoint/2010/main" val="370641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84DB024-468F-4AD2-8BD6-C4CF80F71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836943-869D-4C62-A33B-013B374683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EBEA37-7C1E-4749-AE8D-191C4EDBDE4D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2026-01-23T11:39:43Z</dcterms:created>
  <dcterms:modified xsi:type="dcterms:W3CDTF">2026-01-23T11:40:23Z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