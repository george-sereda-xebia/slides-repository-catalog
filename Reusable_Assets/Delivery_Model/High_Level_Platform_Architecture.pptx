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14748364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2BD2A41-69AE-4B97-1F3F-B97072CDEF7C}" v="2" dt="2026-01-23T11:30:08.90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orge Sereda" userId="S::george.sereda@xebia.com::5e824fc6-3a6a-482b-8597-f9374fb4b421" providerId="AD" clId="Web-{32BD2A41-69AE-4B97-1F3F-B97072CDEF7C}"/>
    <pc:docChg chg="addSld delSld">
      <pc:chgData name="George Sereda" userId="S::george.sereda@xebia.com::5e824fc6-3a6a-482b-8597-f9374fb4b421" providerId="AD" clId="Web-{32BD2A41-69AE-4B97-1F3F-B97072CDEF7C}" dt="2026-01-23T11:30:08.903" v="1"/>
      <pc:docMkLst>
        <pc:docMk/>
      </pc:docMkLst>
      <pc:sldChg chg="del">
        <pc:chgData name="George Sereda" userId="S::george.sereda@xebia.com::5e824fc6-3a6a-482b-8597-f9374fb4b421" providerId="AD" clId="Web-{32BD2A41-69AE-4B97-1F3F-B97072CDEF7C}" dt="2026-01-23T11:30:08.903" v="1"/>
        <pc:sldMkLst>
          <pc:docMk/>
          <pc:sldMk cId="109857222" sldId="256"/>
        </pc:sldMkLst>
      </pc:sldChg>
      <pc:sldChg chg="add">
        <pc:chgData name="George Sereda" userId="S::george.sereda@xebia.com::5e824fc6-3a6a-482b-8597-f9374fb4b421" providerId="AD" clId="Web-{32BD2A41-69AE-4B97-1F3F-B97072CDEF7C}" dt="2026-01-23T11:29:55.649" v="0"/>
        <pc:sldMkLst>
          <pc:docMk/>
          <pc:sldMk cId="3350477976" sldId="2147483642"/>
        </pc:sldMkLst>
      </pc:sldChg>
      <pc:sldMasterChg chg="addSldLayout">
        <pc:chgData name="George Sereda" userId="S::george.sereda@xebia.com::5e824fc6-3a6a-482b-8597-f9374fb4b421" providerId="AD" clId="Web-{32BD2A41-69AE-4B97-1F3F-B97072CDEF7C}" dt="2026-01-23T11:29:55.649" v="0"/>
        <pc:sldMasterMkLst>
          <pc:docMk/>
          <pc:sldMasterMk cId="2460954070" sldId="2147483660"/>
        </pc:sldMasterMkLst>
        <pc:sldLayoutChg chg="add">
          <pc:chgData name="George Sereda" userId="S::george.sereda@xebia.com::5e824fc6-3a6a-482b-8597-f9374fb4b421" providerId="AD" clId="Web-{32BD2A41-69AE-4B97-1F3F-B97072CDEF7C}" dt="2026-01-23T11:29:55.649" v="0"/>
          <pc:sldLayoutMkLst>
            <pc:docMk/>
            <pc:sldMasterMk cId="2460954070" sldId="2147483660"/>
            <pc:sldLayoutMk cId="3535190904" sldId="2147483672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/ 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0">
            <a:extLst>
              <a:ext uri="{FF2B5EF4-FFF2-40B4-BE49-F238E27FC236}">
                <a16:creationId xmlns:a16="http://schemas.microsoft.com/office/drawing/2014/main" id="{2BD1E98D-C6A7-1A86-D1DC-18C70ECE6DD7}"/>
              </a:ext>
            </a:extLst>
          </p:cNvPr>
          <p:cNvSpPr>
            <a:spLocks noGrp="1"/>
          </p:cNvSpPr>
          <p:nvPr>
            <p:ph type="body" idx="106" hasCustomPrompt="1"/>
          </p:nvPr>
        </p:nvSpPr>
        <p:spPr>
          <a:xfrm>
            <a:off x="406400" y="408054"/>
            <a:ext cx="7513108" cy="232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>
            <a:lvl1pPr marL="0" indent="0" algn="l">
              <a:lnSpc>
                <a:spcPts val="1400"/>
              </a:lnSpc>
              <a:buNone/>
              <a:defRPr lang="en-US" sz="1000" b="0" i="0" kern="0" spc="0" dirty="0">
                <a:solidFill>
                  <a:schemeClr val="tx1"/>
                </a:solidFill>
                <a:latin typeface="+mn-lt"/>
                <a:ea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indent="0" algn="l">
              <a:lnSpc>
                <a:spcPts val="2100"/>
              </a:lnSpc>
              <a:buNone/>
            </a:pPr>
            <a:r>
              <a:rPr lang="en-US" sz="1050"/>
              <a:t>[DD/MM/YYYY] • [Speaker Name] • [Presentation Title]</a:t>
            </a:r>
          </a:p>
        </p:txBody>
      </p:sp>
      <p:pic>
        <p:nvPicPr>
          <p:cNvPr id="3" name="Xebia" descr="preencoded.png">
            <a:extLst>
              <a:ext uri="{FF2B5EF4-FFF2-40B4-BE49-F238E27FC236}">
                <a16:creationId xmlns:a16="http://schemas.microsoft.com/office/drawing/2014/main" id="{7D652B89-16D3-A81D-A924-8E3B84071E3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1112500" y="292100"/>
            <a:ext cx="673101" cy="215900"/>
          </a:xfrm>
          <a:prstGeom prst="rect">
            <a:avLst/>
          </a:prstGeom>
        </p:spPr>
      </p:pic>
      <p:cxnSp>
        <p:nvCxnSpPr>
          <p:cNvPr id="141" name="Straight Connector 140">
            <a:extLst>
              <a:ext uri="{FF2B5EF4-FFF2-40B4-BE49-F238E27FC236}">
                <a16:creationId xmlns:a16="http://schemas.microsoft.com/office/drawing/2014/main" id="{BA2C4591-EAE8-5F38-8D57-8D069553CBC7}"/>
              </a:ext>
            </a:extLst>
          </p:cNvPr>
          <p:cNvCxnSpPr>
            <a:cxnSpLocks/>
          </p:cNvCxnSpPr>
          <p:nvPr userDrawn="1"/>
        </p:nvCxnSpPr>
        <p:spPr>
          <a:xfrm>
            <a:off x="407459" y="698500"/>
            <a:ext cx="1138449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022DD7D2-2E6F-65F9-2D7E-EF0C1A6F1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92909" y="6457865"/>
            <a:ext cx="799041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C1F56866-D47B-47B9-9D95-BB9706FB23C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9">
            <a:extLst>
              <a:ext uri="{FF2B5EF4-FFF2-40B4-BE49-F238E27FC236}">
                <a16:creationId xmlns:a16="http://schemas.microsoft.com/office/drawing/2014/main" id="{C7CD3809-B795-A666-BD74-62300D64F0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07459" y="919056"/>
            <a:ext cx="7512000" cy="369332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algn="l">
              <a:defRPr lang="en-US" sz="2400" dirty="0">
                <a:ea typeface="+mn-ea"/>
                <a:cs typeface="+mn-cs"/>
              </a:defRPr>
            </a:lvl1pPr>
          </a:lstStyle>
          <a:p>
            <a:pPr marL="0" marR="0" lvl="0" indent="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tabLst/>
            </a:pPr>
            <a:r>
              <a:rPr lang="en-US" noProof="0"/>
              <a:t>Click to edit master title style</a:t>
            </a:r>
            <a:endParaRPr lang="en-US"/>
          </a:p>
        </p:txBody>
      </p:sp>
      <p:sp>
        <p:nvSpPr>
          <p:cNvPr id="10" name="Symbol zastępczy stopki 1">
            <a:extLst>
              <a:ext uri="{FF2B5EF4-FFF2-40B4-BE49-F238E27FC236}">
                <a16:creationId xmlns:a16="http://schemas.microsoft.com/office/drawing/2014/main" id="{6EFA064F-CFBB-09FE-B82B-164C527D77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6401" y="6457865"/>
            <a:ext cx="3673475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lang="en-GB" sz="800"/>
            </a:lvl1pPr>
          </a:lstStyle>
          <a:p>
            <a:r>
              <a:rPr lang="en-US"/>
              <a:t>Copyright © 2025 Xebia.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535190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2219E-C427-AD34-6454-027400C49E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51ECFE7-A822-C530-98E7-DAE8C8D7EEAB}"/>
              </a:ext>
            </a:extLst>
          </p:cNvPr>
          <p:cNvSpPr>
            <a:spLocks noGrp="1"/>
          </p:cNvSpPr>
          <p:nvPr>
            <p:ph type="body" idx="106"/>
          </p:nvPr>
        </p:nvSpPr>
        <p:spPr>
          <a:xfrm>
            <a:off x="418400" y="408054"/>
            <a:ext cx="7513108" cy="232628"/>
          </a:xfrm>
        </p:spPr>
        <p:txBody>
          <a:bodyPr wrap="square" anchor="t">
            <a:normAutofit/>
          </a:bodyPr>
          <a:lstStyle/>
          <a:p>
            <a:r>
              <a:rPr lang="en-US" noProof="1">
                <a:solidFill>
                  <a:srgbClr val="595959"/>
                </a:solidFill>
                <a:latin typeface="Arial"/>
                <a:cs typeface="Arial"/>
              </a:rPr>
              <a:t>Xebia response to Zeppelin Power EMS RFP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35465B9-0CB1-9865-683A-35E645D91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wrap="square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fld id="{C1F56866-D47B-47B9-9D95-BB9706FB23C1}" type="slidenum">
              <a:rPr kumimoji="0" lang="en-US" sz="800" b="0" i="0" u="none" strike="noStrike" kern="1200" cap="none" spc="0" normalizeH="0" baseline="0" noProof="1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4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800" b="0" i="0" u="none" strike="noStrike" kern="1200" cap="none" spc="0" normalizeH="0" baseline="0" noProof="1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B4ECCC-BD57-5191-82E6-24F51EF266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 wrap="square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1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 panose="020B0604020202020204"/>
                <a:ea typeface="+mn-ea"/>
                <a:cs typeface="+mn-cs"/>
              </a:rPr>
              <a:t>Copyright © 2025 Xebia. All rights reserved</a:t>
            </a:r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A945121E-3D3D-D504-1880-97E99F2790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459" y="919056"/>
            <a:ext cx="2974568" cy="886397"/>
          </a:xfrm>
        </p:spPr>
        <p:txBody>
          <a:bodyPr/>
          <a:lstStyle/>
          <a:p>
            <a:r>
              <a:rPr lang="en-US" sz="3200" b="0" kern="0" noProof="1">
                <a:solidFill>
                  <a:srgbClr val="000000"/>
                </a:solidFill>
                <a:latin typeface="+mn-lt"/>
                <a:ea typeface="Suisse Int'l Regular" pitchFamily="34" charset="-122"/>
              </a:rPr>
              <a:t>High-level </a:t>
            </a:r>
            <a:br>
              <a:rPr lang="en-US" sz="3200" b="0" kern="0" noProof="1">
                <a:solidFill>
                  <a:srgbClr val="000000"/>
                </a:solidFill>
                <a:latin typeface="+mn-lt"/>
                <a:ea typeface="Suisse Int'l Regular" pitchFamily="34" charset="-122"/>
              </a:rPr>
            </a:br>
            <a:r>
              <a:rPr lang="en-US" sz="3200" b="0" kern="0" noProof="1">
                <a:solidFill>
                  <a:srgbClr val="000000"/>
                </a:solidFill>
                <a:latin typeface="+mn-lt"/>
                <a:ea typeface="Suisse Int'l Regular" pitchFamily="34" charset="-122"/>
              </a:rPr>
              <a:t>architecture</a:t>
            </a:r>
          </a:p>
        </p:txBody>
      </p:sp>
      <p:pic>
        <p:nvPicPr>
          <p:cNvPr id="4" name="Obraz 3">
            <a:extLst>
              <a:ext uri="{FF2B5EF4-FFF2-40B4-BE49-F238E27FC236}">
                <a16:creationId xmlns:a16="http://schemas.microsoft.com/office/drawing/2014/main" id="{CCB48DC8-5E5D-6444-C64F-3E7C6DCE1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876" y="745228"/>
            <a:ext cx="7638676" cy="6014161"/>
          </a:xfrm>
          <a:prstGeom prst="rect">
            <a:avLst/>
          </a:prstGeom>
        </p:spPr>
      </p:pic>
      <p:sp>
        <p:nvSpPr>
          <p:cNvPr id="6" name="pole tekstowe 5">
            <a:extLst>
              <a:ext uri="{FF2B5EF4-FFF2-40B4-BE49-F238E27FC236}">
                <a16:creationId xmlns:a16="http://schemas.microsoft.com/office/drawing/2014/main" id="{9C734951-9F49-5485-C02D-A6E37C296D51}"/>
              </a:ext>
            </a:extLst>
          </p:cNvPr>
          <p:cNvSpPr txBox="1"/>
          <p:nvPr/>
        </p:nvSpPr>
        <p:spPr>
          <a:xfrm>
            <a:off x="359736" y="2120022"/>
            <a:ext cx="352014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 b="1" noProof="1">
                <a:solidFill>
                  <a:schemeClr val="accent6"/>
                </a:solidFill>
              </a:rPr>
              <a:t>Data Integration Layer</a:t>
            </a:r>
            <a:r>
              <a:rPr lang="en-US" sz="1200" noProof="1">
                <a:solidFill>
                  <a:schemeClr val="accent6"/>
                </a:solidFill>
              </a:rPr>
              <a:t> – Manages communication with external devices and third-party services.</a:t>
            </a:r>
          </a:p>
          <a:p>
            <a:pPr algn="just"/>
            <a:r>
              <a:rPr lang="en-US" sz="1200" b="1" noProof="1">
                <a:solidFill>
                  <a:schemeClr val="accent6"/>
                </a:solidFill>
              </a:rPr>
              <a:t>Data Exchange Layer</a:t>
            </a:r>
            <a:r>
              <a:rPr lang="en-US" sz="1200" noProof="1">
                <a:solidFill>
                  <a:schemeClr val="accent6"/>
                </a:solidFill>
              </a:rPr>
              <a:t> – Facilitates efficient communication and data flow between internal system components.</a:t>
            </a:r>
          </a:p>
          <a:p>
            <a:pPr algn="just"/>
            <a:r>
              <a:rPr lang="en-US" sz="1200" b="1" noProof="1">
                <a:solidFill>
                  <a:schemeClr val="accent6"/>
                </a:solidFill>
              </a:rPr>
              <a:t>Processing Unit</a:t>
            </a:r>
            <a:r>
              <a:rPr lang="en-US" sz="1200" noProof="1">
                <a:solidFill>
                  <a:schemeClr val="accent6"/>
                </a:solidFill>
              </a:rPr>
              <a:t> – Performs (near) real-time data transformations and executes rule-based algorithms.</a:t>
            </a:r>
          </a:p>
          <a:p>
            <a:pPr algn="just"/>
            <a:r>
              <a:rPr lang="en-US" sz="1200" b="1" noProof="1">
                <a:solidFill>
                  <a:schemeClr val="accent6"/>
                </a:solidFill>
              </a:rPr>
              <a:t>User-Facing Application</a:t>
            </a:r>
            <a:r>
              <a:rPr lang="en-US" sz="1200" noProof="1">
                <a:solidFill>
                  <a:schemeClr val="accent6"/>
                </a:solidFill>
              </a:rPr>
              <a:t> – Provides clear visibility into the performance and status of clients’ microgrid systems.</a:t>
            </a:r>
          </a:p>
          <a:p>
            <a:pPr algn="just"/>
            <a:r>
              <a:rPr lang="en-US" sz="1200" b="1" noProof="1">
                <a:solidFill>
                  <a:schemeClr val="accent6"/>
                </a:solidFill>
              </a:rPr>
              <a:t>Data Access and Storage Layer</a:t>
            </a:r>
            <a:r>
              <a:rPr lang="en-US" sz="1200" noProof="1">
                <a:solidFill>
                  <a:schemeClr val="accent6"/>
                </a:solidFill>
              </a:rPr>
              <a:t> – Ensures secure data retention and delivers low-latency access for operational and analytical workloads.</a:t>
            </a:r>
          </a:p>
          <a:p>
            <a:pPr algn="just"/>
            <a:r>
              <a:rPr lang="en-US" sz="1200" b="1" noProof="1">
                <a:solidFill>
                  <a:schemeClr val="accent6"/>
                </a:solidFill>
              </a:rPr>
              <a:t>Machine Learning and Optimization Layer</a:t>
            </a:r>
            <a:r>
              <a:rPr lang="en-US" sz="1200" noProof="1">
                <a:solidFill>
                  <a:schemeClr val="accent6"/>
                </a:solidFill>
              </a:rPr>
              <a:t> – Supports advanced analytics, model training, and delivery of optimization insights.</a:t>
            </a:r>
          </a:p>
          <a:p>
            <a:pPr algn="just"/>
            <a:r>
              <a:rPr lang="en-US" sz="1200" b="1" noProof="1">
                <a:solidFill>
                  <a:schemeClr val="accent6"/>
                </a:solidFill>
              </a:rPr>
              <a:t>Data Exploration Layer</a:t>
            </a:r>
            <a:r>
              <a:rPr lang="en-US" sz="1200" noProof="1">
                <a:solidFill>
                  <a:schemeClr val="accent6"/>
                </a:solidFill>
              </a:rPr>
              <a:t> – Serves as an experimentation environment for research, simulations, and analysis.</a:t>
            </a:r>
          </a:p>
        </p:txBody>
      </p:sp>
    </p:spTree>
    <p:extLst>
      <p:ext uri="{BB962C8B-B14F-4D97-AF65-F5344CB8AC3E}">
        <p14:creationId xmlns:p14="http://schemas.microsoft.com/office/powerpoint/2010/main" val="33504779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0a0acd5-61c4-4018-b951-c082e5b75858" xsi:nil="true"/>
    <lcf76f155ced4ddcb4097134ff3c332f xmlns="c559e707-c4dc-481c-8f20-1390d9b1763d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8AB178B1C63764FB69DC687AF91F3C3" ma:contentTypeVersion="14" ma:contentTypeDescription="Een nieuw document maken." ma:contentTypeScope="" ma:versionID="34baedd750c5ac2de39e17369f75ff4a">
  <xsd:schema xmlns:xsd="http://www.w3.org/2001/XMLSchema" xmlns:xs="http://www.w3.org/2001/XMLSchema" xmlns:p="http://schemas.microsoft.com/office/2006/metadata/properties" xmlns:ns2="c559e707-c4dc-481c-8f20-1390d9b1763d" xmlns:ns3="20a0acd5-61c4-4018-b951-c082e5b75858" targetNamespace="http://schemas.microsoft.com/office/2006/metadata/properties" ma:root="true" ma:fieldsID="94b6d483c48ce3ecd8a1cc1f7c9283d7" ns2:_="" ns3:_="">
    <xsd:import namespace="c559e707-c4dc-481c-8f20-1390d9b1763d"/>
    <xsd:import namespace="20a0acd5-61c4-4018-b951-c082e5b758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59e707-c4dc-481c-8f20-1390d9b1763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6" nillable="true" ma:displayName="Location" ma:indexed="true" ma:internalName="MediaServiceLocation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Afbeeldingtags" ma:readOnly="false" ma:fieldId="{5cf76f15-5ced-4ddc-b409-7134ff3c332f}" ma:taxonomyMulti="true" ma:sspId="28eca5aa-3823-4333-92a0-adf3de86d96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a0acd5-61c4-4018-b951-c082e5b75858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426fe27f-2603-4c92-a102-685a412d01be}" ma:internalName="TaxCatchAll" ma:showField="CatchAllData" ma:web="20a0acd5-61c4-4018-b951-c082e5b7585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52B99CC-4D36-465F-AF14-0AF070C88720}">
  <ds:schemaRefs>
    <ds:schemaRef ds:uri="http://schemas.microsoft.com/office/2006/metadata/properties"/>
    <ds:schemaRef ds:uri="http://schemas.microsoft.com/office/infopath/2007/PartnerControls"/>
    <ds:schemaRef ds:uri="20a0acd5-61c4-4018-b951-c082e5b75858"/>
    <ds:schemaRef ds:uri="c559e707-c4dc-481c-8f20-1390d9b1763d"/>
  </ds:schemaRefs>
</ds:datastoreItem>
</file>

<file path=customXml/itemProps2.xml><?xml version="1.0" encoding="utf-8"?>
<ds:datastoreItem xmlns:ds="http://schemas.openxmlformats.org/officeDocument/2006/customXml" ds:itemID="{6A09D468-D65A-4235-904E-BD3B8138570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096E7F9-603D-4987-B39F-15C46D55D95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59e707-c4dc-481c-8f20-1390d9b1763d"/>
    <ds:schemaRef ds:uri="20a0acd5-61c4-4018-b951-c082e5b758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High-level  architecture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3</cp:revision>
  <dcterms:created xsi:type="dcterms:W3CDTF">2026-01-23T11:28:32Z</dcterms:created>
  <dcterms:modified xsi:type="dcterms:W3CDTF">2026-01-23T11:30:09Z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0x01010038AB178B1C63764FB69DC687AF91F3C3</vt:lpwstr>
  </property>
  <property fmtid="{D5CDD505-2E9C-101B-9397-08002B2CF9AE}" pid="3" name="MediaServiceImageTags">
    <vt:lpwstr/>
  </property>
</Properties>
</file>