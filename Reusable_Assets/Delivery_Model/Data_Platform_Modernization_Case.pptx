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83573" r:id="rId5"/>
    <p:sldId id="214748357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6D714E-ADB4-CF3F-1764-C9C34CAF0686}" v="3" dt="2026-01-23T11:40:52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406D714E-ADB4-CF3F-1764-C9C34CAF0686}"/>
    <pc:docChg chg="addSld delSld">
      <pc:chgData name="George Sereda" userId="S::george.sereda@xebia.com::5e824fc6-3a6a-482b-8597-f9374fb4b421" providerId="AD" clId="Web-{406D714E-ADB4-CF3F-1764-C9C34CAF0686}" dt="2026-01-23T11:40:52.432" v="2"/>
      <pc:docMkLst>
        <pc:docMk/>
      </pc:docMkLst>
      <pc:sldChg chg="del">
        <pc:chgData name="George Sereda" userId="S::george.sereda@xebia.com::5e824fc6-3a6a-482b-8597-f9374fb4b421" providerId="AD" clId="Web-{406D714E-ADB4-CF3F-1764-C9C34CAF0686}" dt="2026-01-23T11:40:52.432" v="2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406D714E-ADB4-CF3F-1764-C9C34CAF0686}" dt="2026-01-23T11:40:45.135" v="0"/>
        <pc:sldMkLst>
          <pc:docMk/>
          <pc:sldMk cId="872614303" sldId="2147483573"/>
        </pc:sldMkLst>
      </pc:sldChg>
      <pc:sldChg chg="add">
        <pc:chgData name="George Sereda" userId="S::george.sereda@xebia.com::5e824fc6-3a6a-482b-8597-f9374fb4b421" providerId="AD" clId="Web-{406D714E-ADB4-CF3F-1764-C9C34CAF0686}" dt="2026-01-23T11:40:46.276" v="1"/>
        <pc:sldMkLst>
          <pc:docMk/>
          <pc:sldMk cId="258369416" sldId="2147483579"/>
        </pc:sldMkLst>
      </pc:sldChg>
      <pc:sldMasterChg chg="addSldLayout">
        <pc:chgData name="George Sereda" userId="S::george.sereda@xebia.com::5e824fc6-3a6a-482b-8597-f9374fb4b421" providerId="AD" clId="Web-{406D714E-ADB4-CF3F-1764-C9C34CAF0686}" dt="2026-01-23T11:40:45.135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406D714E-ADB4-CF3F-1764-C9C34CAF0686}" dt="2026-01-23T11:40:45.135" v="0"/>
          <pc:sldLayoutMkLst>
            <pc:docMk/>
            <pc:sldMasterMk cId="2460954070" sldId="2147483660"/>
            <pc:sldLayoutMk cId="3202822038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08D89D3-9418-5FFE-0213-3AB34E69F3A5}"/>
              </a:ext>
            </a:extLst>
          </p:cNvPr>
          <p:cNvSpPr/>
          <p:nvPr userDrawn="1"/>
        </p:nvSpPr>
        <p:spPr>
          <a:xfrm>
            <a:off x="8112125" y="901698"/>
            <a:ext cx="3679824" cy="5365665"/>
          </a:xfrm>
          <a:prstGeom prst="roundRect">
            <a:avLst>
              <a:gd name="adj" fmla="val 960"/>
            </a:avLst>
          </a:prstGeom>
          <a:solidFill>
            <a:srgbClr val="150026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2" name="Xebia" descr="preencoded.png">
            <a:extLst>
              <a:ext uri="{FF2B5EF4-FFF2-40B4-BE49-F238E27FC236}">
                <a16:creationId xmlns:a16="http://schemas.microsoft.com/office/drawing/2014/main" id="{23AB0DDA-E341-A60B-77FA-C291FC0BD3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12500" y="292100"/>
            <a:ext cx="673101" cy="215900"/>
          </a:xfrm>
          <a:prstGeom prst="rect">
            <a:avLst/>
          </a:prstGeom>
        </p:spPr>
      </p:pic>
      <p:pic>
        <p:nvPicPr>
          <p:cNvPr id="3" name="Line 14" descr="preencoded.png">
            <a:extLst>
              <a:ext uri="{FF2B5EF4-FFF2-40B4-BE49-F238E27FC236}">
                <a16:creationId xmlns:a16="http://schemas.microsoft.com/office/drawing/2014/main" id="{560300F8-41ED-CBFC-3171-ACD3C3396C20}"/>
              </a:ext>
            </a:extLst>
          </p:cNvPr>
          <p:cNvPicPr preferRelativeResize="0">
            <a:picLocks/>
          </p:cNvPicPr>
          <p:nvPr userDrawn="1"/>
        </p:nvPicPr>
        <p:blipFill>
          <a:blip r:embed="rId4"/>
          <a:srcRect/>
          <a:stretch/>
        </p:blipFill>
        <p:spPr>
          <a:xfrm>
            <a:off x="406400" y="526699"/>
            <a:ext cx="0" cy="2400"/>
          </a:xfrm>
          <a:prstGeom prst="rect">
            <a:avLst/>
          </a:prstGeom>
          <a:noFill/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8372643-3B7C-6294-FD18-89DDF20FE750}"/>
              </a:ext>
            </a:extLst>
          </p:cNvPr>
          <p:cNvSpPr>
            <a:spLocks noGrp="1"/>
          </p:cNvSpPr>
          <p:nvPr>
            <p:ph type="body" sz="quarter" idx="147" hasCustomPrompt="1"/>
          </p:nvPr>
        </p:nvSpPr>
        <p:spPr>
          <a:xfrm>
            <a:off x="406400" y="2129101"/>
            <a:ext cx="7514167" cy="2597798"/>
          </a:xfrm>
          <a:prstGeom prst="rect">
            <a:avLst/>
          </a:prstGeom>
        </p:spPr>
        <p:txBody>
          <a:bodyPr wrap="square" lIns="0" tIns="0" rIns="0" bIns="0" numCol="2" spcCol="332640" anchor="t">
            <a:noAutofit/>
          </a:bodyPr>
          <a:lstStyle>
            <a:lvl1pPr marL="0" marR="0" indent="0" algn="l" defTabSz="609630" rtl="0" eaLnBrk="1" fontAlgn="auto" latinLnBrk="0" hangingPunct="1">
              <a:lnSpc>
                <a:spcPts val="1387"/>
              </a:lnSpc>
              <a:spcBef>
                <a:spcPts val="933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67">
                <a:solidFill>
                  <a:schemeClr val="tx1"/>
                </a:solidFill>
              </a:defRPr>
            </a:lvl1pPr>
            <a:lvl2pPr marL="304815" indent="0">
              <a:buFontTx/>
              <a:buNone/>
              <a:defRPr sz="1200">
                <a:solidFill>
                  <a:schemeClr val="tx1"/>
                </a:solidFill>
              </a:defRPr>
            </a:lvl2pPr>
            <a:lvl3pPr marL="609630" indent="0">
              <a:buFontTx/>
              <a:buNone/>
              <a:defRPr sz="1200">
                <a:solidFill>
                  <a:schemeClr val="tx1"/>
                </a:solidFill>
              </a:defRPr>
            </a:lvl3pPr>
            <a:lvl4pPr marL="914446" indent="0">
              <a:buFontTx/>
              <a:buNone/>
              <a:defRPr sz="1200">
                <a:solidFill>
                  <a:schemeClr val="tx1"/>
                </a:solidFill>
              </a:defRPr>
            </a:lvl4pPr>
            <a:lvl5pPr marL="1219261" indent="0">
              <a:buFontTx/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faucibus</a:t>
            </a:r>
            <a:r>
              <a:rPr lang="en-US"/>
              <a:t> ex </a:t>
            </a:r>
            <a:r>
              <a:rPr lang="en-US" err="1"/>
              <a:t>sapien</a:t>
            </a:r>
            <a:r>
              <a:rPr lang="en-US"/>
              <a:t> vitae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convallis. Tempus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sed diam </a:t>
            </a:r>
            <a:r>
              <a:rPr lang="en-US" err="1"/>
              <a:t>urna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lacinia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. Ut </a:t>
            </a:r>
            <a:r>
              <a:rPr lang="en-US" err="1"/>
              <a:t>hendrerit</a:t>
            </a:r>
            <a:r>
              <a:rPr lang="en-US"/>
              <a:t> semper vel class </a:t>
            </a:r>
            <a:r>
              <a:rPr lang="en-US" err="1"/>
              <a:t>aptent</a:t>
            </a:r>
            <a:r>
              <a:rPr lang="en-US"/>
              <a:t> </a:t>
            </a:r>
            <a:r>
              <a:rPr lang="en-US" err="1"/>
              <a:t>taciti</a:t>
            </a:r>
            <a:r>
              <a:rPr lang="en-US"/>
              <a:t> </a:t>
            </a:r>
            <a:r>
              <a:rPr lang="en-US" err="1"/>
              <a:t>sociosqu</a:t>
            </a:r>
            <a:r>
              <a:rPr lang="en-US"/>
              <a:t>. Ad </a:t>
            </a:r>
            <a:r>
              <a:rPr lang="en-US" err="1"/>
              <a:t>litora</a:t>
            </a:r>
            <a:r>
              <a:rPr lang="en-US"/>
              <a:t> </a:t>
            </a:r>
            <a:r>
              <a:rPr lang="en-US" err="1"/>
              <a:t>torquent</a:t>
            </a:r>
            <a:r>
              <a:rPr lang="en-US"/>
              <a:t> per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faucibus</a:t>
            </a:r>
            <a:r>
              <a:rPr lang="en-US"/>
              <a:t> ex </a:t>
            </a:r>
            <a:r>
              <a:rPr lang="en-US" err="1"/>
              <a:t>sapien</a:t>
            </a:r>
            <a:r>
              <a:rPr lang="en-US"/>
              <a:t> vitae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convallis. Tempus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sed diam </a:t>
            </a:r>
            <a:r>
              <a:rPr lang="en-US" err="1"/>
              <a:t>urna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lacinia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. </a:t>
            </a:r>
          </a:p>
          <a:p>
            <a:pPr marL="0" marR="0" lvl="0" indent="0" algn="l" defTabSz="609630" rtl="0" eaLnBrk="1" fontAlgn="auto" latinLnBrk="0" hangingPunct="1">
              <a:lnSpc>
                <a:spcPts val="1387"/>
              </a:lnSpc>
              <a:spcBef>
                <a:spcPts val="9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Ut </a:t>
            </a:r>
            <a:r>
              <a:rPr lang="en-US" err="1"/>
              <a:t>hendrerit</a:t>
            </a:r>
            <a:r>
              <a:rPr lang="en-US"/>
              <a:t> semper vel class </a:t>
            </a:r>
            <a:r>
              <a:rPr lang="en-US" err="1"/>
              <a:t>aptent</a:t>
            </a:r>
            <a:r>
              <a:rPr lang="en-US"/>
              <a:t> </a:t>
            </a:r>
            <a:r>
              <a:rPr lang="en-US" err="1"/>
              <a:t>taciti</a:t>
            </a:r>
            <a:r>
              <a:rPr lang="en-US"/>
              <a:t> </a:t>
            </a:r>
            <a:r>
              <a:rPr lang="en-US" err="1"/>
              <a:t>sociosqu</a:t>
            </a:r>
            <a:r>
              <a:rPr lang="en-US"/>
              <a:t>. Ad </a:t>
            </a:r>
            <a:r>
              <a:rPr lang="en-US" err="1"/>
              <a:t>litora</a:t>
            </a:r>
            <a:r>
              <a:rPr lang="en-US"/>
              <a:t> </a:t>
            </a:r>
            <a:r>
              <a:rPr lang="en-US" err="1"/>
              <a:t>torquent</a:t>
            </a:r>
            <a:r>
              <a:rPr lang="en-US"/>
              <a:t> per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. 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faucibus</a:t>
            </a:r>
            <a:r>
              <a:rPr lang="en-US"/>
              <a:t> ex </a:t>
            </a:r>
            <a:r>
              <a:rPr lang="en-US" err="1"/>
              <a:t>sapien</a:t>
            </a:r>
            <a:r>
              <a:rPr lang="en-US"/>
              <a:t> vitae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. In id cursus mi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duis</a:t>
            </a:r>
            <a:r>
              <a:rPr lang="en-US"/>
              <a:t> convallis. Tempus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sed diam </a:t>
            </a:r>
            <a:r>
              <a:rPr lang="en-US" err="1"/>
              <a:t>urna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 Pulvinar </a:t>
            </a:r>
            <a:r>
              <a:rPr lang="en-US" err="1"/>
              <a:t>vivamus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lacus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metus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.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lacinia integer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. Ut </a:t>
            </a:r>
            <a:r>
              <a:rPr lang="en-US" err="1"/>
              <a:t>hendrerit</a:t>
            </a:r>
            <a:r>
              <a:rPr lang="en-US"/>
              <a:t> semper vel class </a:t>
            </a:r>
            <a:r>
              <a:rPr lang="en-US" err="1"/>
              <a:t>aptent</a:t>
            </a:r>
            <a:r>
              <a:rPr lang="en-US"/>
              <a:t> </a:t>
            </a:r>
            <a:r>
              <a:rPr lang="en-US" err="1"/>
              <a:t>taciti</a:t>
            </a:r>
            <a:r>
              <a:rPr lang="en-US"/>
              <a:t> </a:t>
            </a:r>
            <a:r>
              <a:rPr lang="en-US" err="1"/>
              <a:t>sociosqu</a:t>
            </a:r>
            <a:r>
              <a:rPr lang="en-US"/>
              <a:t>. Ad </a:t>
            </a:r>
            <a:r>
              <a:rPr lang="en-US" err="1"/>
              <a:t>litora</a:t>
            </a:r>
            <a:r>
              <a:rPr lang="en-US"/>
              <a:t> </a:t>
            </a:r>
            <a:r>
              <a:rPr lang="en-US" err="1"/>
              <a:t>torquent</a:t>
            </a:r>
            <a:r>
              <a:rPr lang="en-US"/>
              <a:t> per </a:t>
            </a:r>
            <a:r>
              <a:rPr lang="en-US" err="1"/>
              <a:t>conubia</a:t>
            </a:r>
            <a:r>
              <a:rPr lang="en-US"/>
              <a:t> nostra </a:t>
            </a:r>
            <a:r>
              <a:rPr lang="en-US" err="1"/>
              <a:t>inceptos</a:t>
            </a:r>
            <a:r>
              <a:rPr lang="en-US"/>
              <a:t> </a:t>
            </a:r>
            <a:r>
              <a:rPr lang="en-US" err="1"/>
              <a:t>himenaeos</a:t>
            </a:r>
            <a:r>
              <a:rPr lang="en-US"/>
              <a:t>.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4AF30B4-85EB-A1D4-4010-2C61122E8753}"/>
              </a:ext>
            </a:extLst>
          </p:cNvPr>
          <p:cNvSpPr>
            <a:spLocks noGrp="1"/>
          </p:cNvSpPr>
          <p:nvPr>
            <p:ph type="body" sz="quarter" idx="158"/>
          </p:nvPr>
        </p:nvSpPr>
        <p:spPr>
          <a:xfrm>
            <a:off x="8310563" y="5417693"/>
            <a:ext cx="3282950" cy="16577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ts val="1387"/>
              </a:lnSpc>
              <a:spcBef>
                <a:spcPts val="933"/>
              </a:spcBef>
              <a:buFontTx/>
              <a:buNone/>
              <a:defRPr sz="1067">
                <a:solidFill>
                  <a:schemeClr val="bg1"/>
                </a:solidFill>
              </a:defRPr>
            </a:lvl1pPr>
            <a:lvl2pPr marL="304815" indent="0">
              <a:buFontTx/>
              <a:buNone/>
              <a:defRPr sz="1200">
                <a:solidFill>
                  <a:schemeClr val="tx1"/>
                </a:solidFill>
              </a:defRPr>
            </a:lvl2pPr>
            <a:lvl3pPr marL="609630" indent="0">
              <a:buFontTx/>
              <a:buNone/>
              <a:defRPr sz="1200">
                <a:solidFill>
                  <a:schemeClr val="tx1"/>
                </a:solidFill>
              </a:defRPr>
            </a:lvl3pPr>
            <a:lvl4pPr marL="914446" indent="0">
              <a:buFontTx/>
              <a:buNone/>
              <a:defRPr sz="1200">
                <a:solidFill>
                  <a:schemeClr val="tx1"/>
                </a:solidFill>
              </a:defRPr>
            </a:lvl4pPr>
            <a:lvl5pPr marL="1219261" indent="0">
              <a:buFontTx/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C7D90C75-4BCC-B42C-6837-2A69D363147E}"/>
              </a:ext>
            </a:extLst>
          </p:cNvPr>
          <p:cNvSpPr>
            <a:spLocks noGrp="1"/>
          </p:cNvSpPr>
          <p:nvPr>
            <p:ph type="body" sz="quarter" idx="136" hasCustomPrompt="1"/>
          </p:nvPr>
        </p:nvSpPr>
        <p:spPr>
          <a:xfrm>
            <a:off x="406400" y="913510"/>
            <a:ext cx="7514167" cy="47021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ts val="3654"/>
              </a:lnSpc>
              <a:buNone/>
              <a:defRPr sz="3200"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EC83104C-BCB2-B66E-29C5-6CD4E89035A0}"/>
              </a:ext>
            </a:extLst>
          </p:cNvPr>
          <p:cNvSpPr>
            <a:spLocks noGrp="1"/>
          </p:cNvSpPr>
          <p:nvPr>
            <p:ph type="pic" sz="quarter" idx="163"/>
          </p:nvPr>
        </p:nvSpPr>
        <p:spPr>
          <a:xfrm>
            <a:off x="8307387" y="1056497"/>
            <a:ext cx="3289300" cy="2286000"/>
          </a:xfrm>
          <a:prstGeom prst="roundRect">
            <a:avLst>
              <a:gd name="adj" fmla="val 1472"/>
            </a:avLst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>
              <a:defRPr lang="en-US" sz="80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7D7387-1543-C4E3-141C-4CC1DF7FA95C}"/>
              </a:ext>
            </a:extLst>
          </p:cNvPr>
          <p:cNvCxnSpPr>
            <a:cxnSpLocks/>
          </p:cNvCxnSpPr>
          <p:nvPr userDrawn="1"/>
        </p:nvCxnSpPr>
        <p:spPr>
          <a:xfrm>
            <a:off x="407459" y="698500"/>
            <a:ext cx="11384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0">
            <a:extLst>
              <a:ext uri="{FF2B5EF4-FFF2-40B4-BE49-F238E27FC236}">
                <a16:creationId xmlns:a16="http://schemas.microsoft.com/office/drawing/2014/main" id="{809BACA3-2E0A-39F6-130F-D5AE7D77E2DE}"/>
              </a:ext>
            </a:extLst>
          </p:cNvPr>
          <p:cNvSpPr>
            <a:spLocks noGrp="1"/>
          </p:cNvSpPr>
          <p:nvPr>
            <p:ph type="body" idx="106" hasCustomPrompt="1"/>
          </p:nvPr>
        </p:nvSpPr>
        <p:spPr>
          <a:xfrm>
            <a:off x="406400" y="408053"/>
            <a:ext cx="7514167" cy="23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 algn="l">
              <a:lnSpc>
                <a:spcPts val="1400"/>
              </a:lnSpc>
              <a:buNone/>
              <a:defRPr lang="en-US" sz="1000" b="0" i="0" kern="0" spc="0" dirty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[DD/MM/YYYY] • [Speaker Name] • [Presentation Title]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5302047-ABAD-0CD7-8E86-1057A559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909" y="6457865"/>
            <a:ext cx="799041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56866-D47B-47B9-9D95-BB9706FB23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ymbol zastępczy stopki 1">
            <a:extLst>
              <a:ext uri="{FF2B5EF4-FFF2-40B4-BE49-F238E27FC236}">
                <a16:creationId xmlns:a16="http://schemas.microsoft.com/office/drawing/2014/main" id="{BC270ADE-93B0-C3AD-86D2-FBED00952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1" y="6457865"/>
            <a:ext cx="367347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800">
                <a:solidFill>
                  <a:schemeClr val="tx1"/>
                </a:solidFill>
              </a:defRPr>
            </a:lvl1pPr>
          </a:lstStyle>
          <a:p>
            <a:r>
              <a:rPr lang="en-US"/>
              <a:t>Copyright © 2025 Xebia.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202822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2">
          <p15:clr>
            <a:srgbClr val="A4A3A4"/>
          </p15:clr>
        </p15:guide>
        <p15:guide id="2" pos="6758">
          <p15:clr>
            <a:srgbClr val="C35EA4"/>
          </p15:clr>
        </p15:guide>
        <p15:guide id="3" pos="5851">
          <p15:clr>
            <a:srgbClr val="C35EA4"/>
          </p15:clr>
        </p15:guide>
        <p15:guide id="4" pos="5669">
          <p15:clr>
            <a:srgbClr val="C35EA4"/>
          </p15:clr>
        </p15:guide>
        <p15:guide id="5" pos="6576">
          <p15:clr>
            <a:srgbClr val="C35EA4"/>
          </p15:clr>
        </p15:guide>
        <p15:guide id="6" pos="4944">
          <p15:clr>
            <a:srgbClr val="C35EA4"/>
          </p15:clr>
        </p15:guide>
        <p15:guide id="7" pos="4762">
          <p15:clr>
            <a:srgbClr val="C35EA4"/>
          </p15:clr>
        </p15:guide>
        <p15:guide id="9" pos="7484">
          <p15:clr>
            <a:srgbClr val="C35EA4"/>
          </p15:clr>
        </p15:guide>
        <p15:guide id="11" pos="7665">
          <p15:clr>
            <a:srgbClr val="C35EA4"/>
          </p15:clr>
        </p15:guide>
        <p15:guide id="12" pos="8391">
          <p15:clr>
            <a:srgbClr val="C35EA4"/>
          </p15:clr>
        </p15:guide>
        <p15:guide id="13" pos="3129">
          <p15:clr>
            <a:srgbClr val="C35EA4"/>
          </p15:clr>
        </p15:guide>
        <p15:guide id="14" pos="2948">
          <p15:clr>
            <a:srgbClr val="C35EA4"/>
          </p15:clr>
        </p15:guide>
        <p15:guide id="15" pos="8572">
          <p15:clr>
            <a:srgbClr val="C35EA4"/>
          </p15:clr>
        </p15:guide>
        <p15:guide id="16" pos="9298">
          <p15:clr>
            <a:srgbClr val="C35EA4"/>
          </p15:clr>
        </p15:guide>
        <p15:guide id="18" pos="2041">
          <p15:clr>
            <a:srgbClr val="C35EA4"/>
          </p15:clr>
        </p15:guide>
        <p15:guide id="19" pos="9479">
          <p15:clr>
            <a:srgbClr val="C35EA4"/>
          </p15:clr>
        </p15:guide>
        <p15:guide id="20" pos="10205">
          <p15:clr>
            <a:srgbClr val="C35EA4"/>
          </p15:clr>
        </p15:guide>
        <p15:guide id="21" pos="1315">
          <p15:clr>
            <a:srgbClr val="C35EA4"/>
          </p15:clr>
        </p15:guide>
        <p15:guide id="22" pos="1133">
          <p15:clr>
            <a:srgbClr val="C35EA4"/>
          </p15:clr>
        </p15:guide>
        <p15:guide id="23" pos="10387">
          <p15:clr>
            <a:srgbClr val="C35EA4"/>
          </p15:clr>
        </p15:guide>
        <p15:guide id="24" pos="11135">
          <p15:clr>
            <a:srgbClr val="A4A3A4"/>
          </p15:clr>
        </p15:guide>
        <p15:guide id="25" pos="385">
          <p15:clr>
            <a:srgbClr val="A4A3A4"/>
          </p15:clr>
        </p15:guide>
        <p15:guide id="26" orient="horz" pos="6098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07F0C-2F19-77AD-015A-F161088FF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AD4DD1-BB5D-69AD-55EC-F5AE30C9437E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>
          <a:xfrm>
            <a:off x="435897" y="766026"/>
            <a:ext cx="7514167" cy="425886"/>
          </a:xfrm>
        </p:spPr>
        <p:txBody>
          <a:bodyPr/>
          <a:lstStyle/>
          <a:p>
            <a:r>
              <a:rPr lang="en-US" sz="2400" noProof="1">
                <a:solidFill>
                  <a:schemeClr val="accent6"/>
                </a:solidFill>
              </a:rPr>
              <a:t>Unified Data Analytics Platform on AWS Infrastructure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B1143A-BDF5-3073-F99F-3ED88B4B16BB}"/>
              </a:ext>
            </a:extLst>
          </p:cNvPr>
          <p:cNvSpPr>
            <a:spLocks noGrp="1"/>
          </p:cNvSpPr>
          <p:nvPr>
            <p:ph type="body" idx="106"/>
          </p:nvPr>
        </p:nvSpPr>
        <p:spPr>
          <a:xfrm>
            <a:off x="406400" y="408053"/>
            <a:ext cx="7514167" cy="779381"/>
          </a:xfrm>
        </p:spPr>
        <p:txBody>
          <a:bodyPr/>
          <a:lstStyle/>
          <a:p>
            <a:r>
              <a:rPr lang="en-US" noProof="1">
                <a:solidFill>
                  <a:srgbClr val="595959"/>
                </a:solidFill>
                <a:latin typeface="Arial"/>
                <a:cs typeface="Arial"/>
              </a:rPr>
              <a:t>Xebia response to Zeppelin Power EMS RFP</a:t>
            </a:r>
          </a:p>
          <a:p>
            <a:endParaRPr lang="en-US" noProof="1">
              <a:solidFill>
                <a:srgbClr val="595959"/>
              </a:solidFill>
              <a:latin typeface="Arial" panose="020B0604020202020204" pitchFamily="34" charset="0"/>
            </a:endParaRPr>
          </a:p>
          <a:p>
            <a:endParaRPr lang="en-US" noProof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2FAC0F-2F6A-6B0C-EA31-C5167F972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56866-D47B-47B9-9D95-BB9706FB23C1}" type="slidenum">
              <a:rPr lang="en-US" noProof="1" smtClean="0"/>
              <a:pPr/>
              <a:t>1</a:t>
            </a:fld>
            <a:endParaRPr lang="en-US" noProof="1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D9260756-46D0-8D88-2D0A-230CC7CA5D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1"/>
              <a:t>Copyright © 2025 Xebia. All rights reserved</a:t>
            </a:r>
          </a:p>
        </p:txBody>
      </p:sp>
      <p:sp>
        <p:nvSpPr>
          <p:cNvPr id="19" name="Google Shape;11530;p246">
            <a:extLst>
              <a:ext uri="{FF2B5EF4-FFF2-40B4-BE49-F238E27FC236}">
                <a16:creationId xmlns:a16="http://schemas.microsoft.com/office/drawing/2014/main" id="{0DCF41A9-A226-A586-B132-955DE22F9E1A}"/>
              </a:ext>
            </a:extLst>
          </p:cNvPr>
          <p:cNvSpPr txBox="1"/>
          <p:nvPr/>
        </p:nvSpPr>
        <p:spPr>
          <a:xfrm>
            <a:off x="359380" y="1419645"/>
            <a:ext cx="7313418" cy="5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3333"/>
              <a:buFont typeface="Arial"/>
              <a:buNone/>
            </a:pPr>
            <a:r>
              <a:rPr lang="en-US" sz="1200" b="1" noProof="1">
                <a:solidFill>
                  <a:schemeClr val="accent6"/>
                </a:solidFill>
                <a:ea typeface="Proxima Nova Rg"/>
                <a:cs typeface="Proxima Nova Rg"/>
                <a:sym typeface="Proxima Nova"/>
              </a:rPr>
              <a:t>Business Challenge</a:t>
            </a:r>
            <a:endParaRPr lang="en-US" sz="1200" b="1" i="0" u="none" strike="noStrike" cap="none" noProof="1">
              <a:solidFill>
                <a:schemeClr val="accent6"/>
              </a:solidFill>
              <a:ea typeface="Proxima Nova Rg"/>
              <a:cs typeface="Proxima Nova Rg"/>
              <a:sym typeface="Proxima Nov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1000" noProof="1">
                <a:solidFill>
                  <a:schemeClr val="accent6"/>
                </a:solidFill>
                <a:ea typeface="Proxima Nova Rg"/>
                <a:cs typeface="Proxima Nova Rg"/>
                <a:sym typeface="Proxima Nova"/>
              </a:rPr>
              <a:t>The client was facing a challenge in implementing a scalable  &amp; flexible infrastructure​: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1000" noProof="1">
                <a:solidFill>
                  <a:schemeClr val="accent6"/>
                </a:solidFill>
                <a:ea typeface="Proxima Nova Rg"/>
                <a:cs typeface="Proxima Nova Rg"/>
                <a:sym typeface="Proxima Nova"/>
              </a:rPr>
              <a:t>The backend system for ‘the smart thermostat’ was running in an on-premises data centre in Amsterdam​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1000" noProof="1">
                <a:solidFill>
                  <a:schemeClr val="accent6"/>
                </a:solidFill>
                <a:ea typeface="Proxima Nova Rg"/>
                <a:cs typeface="Proxima Nova Rg"/>
                <a:sym typeface="Proxima Nova"/>
              </a:rPr>
              <a:t>To effectively roll-out smart thermostats and connected apps throughout Europe, it needed a flexible and scalable infrastructure that could be easily activated by its own operations teams​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1000" noProof="1">
                <a:solidFill>
                  <a:schemeClr val="accent6"/>
                </a:solidFill>
                <a:ea typeface="Proxima Nova Rg"/>
                <a:cs typeface="Proxima Nova Rg"/>
                <a:sym typeface="Proxima Nova"/>
              </a:rPr>
              <a:t>Become a data-driven organization that develops applications that help customers save energy, while respecting their privacy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66666"/>
              <a:buFont typeface="Arial"/>
              <a:buNone/>
            </a:pPr>
            <a:r>
              <a:rPr lang="en-US" sz="1200" b="1" i="0" u="none" strike="noStrike" cap="none" noProof="1">
                <a:solidFill>
                  <a:schemeClr val="accent6"/>
                </a:solidFill>
                <a:ea typeface="Proxima Nova Rg"/>
                <a:cs typeface="Proxima Nova Rg"/>
                <a:sym typeface="Proxima Nova"/>
              </a:rPr>
              <a:t>Solution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1000" noProof="1">
                <a:solidFill>
                  <a:schemeClr val="accent6"/>
                </a:solidFill>
                <a:ea typeface="Proxima Nova Rg"/>
                <a:cs typeface="Proxima Nova Rg"/>
                <a:sym typeface="Proxima Nova"/>
              </a:rPr>
              <a:t>Created an immutable infrastructure using AWS CloudFormation, Mesos &amp; Marathon and Docker​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1000" noProof="1">
                <a:solidFill>
                  <a:schemeClr val="accent6"/>
                </a:solidFill>
                <a:ea typeface="Proxima Nova Rg"/>
                <a:cs typeface="Proxima Nova Rg"/>
                <a:sym typeface="Proxima Nova"/>
              </a:rPr>
              <a:t>Evaluated cloud-based analytics solutions to improve infrastructure &amp; operations management while empowering data teams to drive better and more efficient collaboration.​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1000" noProof="1">
                <a:solidFill>
                  <a:schemeClr val="accent6"/>
                </a:solidFill>
                <a:ea typeface="Proxima Nova Rg"/>
                <a:cs typeface="Proxima Nova Rg"/>
                <a:sym typeface="Proxima Nova"/>
              </a:rPr>
              <a:t>Introduced smart data-driven solutions, using Databricks on Amazon Web Services by leading the development of production-ready data products, introducing a data science workflow, and sharing knowledge, both on the job and through intensive training programs.​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1000" noProof="1">
                <a:solidFill>
                  <a:schemeClr val="accent6"/>
                </a:solidFill>
                <a:ea typeface="Proxima Nova Rg"/>
                <a:cs typeface="Proxima Nova Rg"/>
                <a:sym typeface="Proxima Nova"/>
              </a:rPr>
              <a:t>Helped client to modernize its data center setup. Created an immutable infrastructure using AWS CloudFormation, Mesos &amp; Marathon, and Docker. ​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1000" noProof="1">
                <a:solidFill>
                  <a:schemeClr val="accent6"/>
                </a:solidFill>
                <a:ea typeface="Proxima Nova Rg"/>
                <a:cs typeface="Proxima Nova Rg"/>
                <a:sym typeface="Proxima Nova"/>
              </a:rPr>
              <a:t>The project activities encompassed design and migration, as well as training client’s operations staff to adapt to the new paradigm.​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1000" noProof="1">
                <a:solidFill>
                  <a:schemeClr val="accent6"/>
                </a:solidFill>
                <a:ea typeface="Proxima Nova Rg"/>
                <a:cs typeface="Proxima Nova Rg"/>
                <a:sym typeface="Proxima Nova"/>
              </a:rPr>
              <a:t>Client’s first data services from proof of concept (POC) to product took over 12 months; the second release took four months, followed by, Quby was able to release products to development within eight weeks.</a:t>
            </a:r>
          </a:p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6666"/>
              <a:buFont typeface="Arial"/>
              <a:buNone/>
            </a:pPr>
            <a:r>
              <a:rPr lang="en-US" sz="1200" b="1" noProof="1">
                <a:solidFill>
                  <a:schemeClr val="accent6"/>
                </a:solidFill>
                <a:ea typeface="Proxima Nova Rg"/>
                <a:cs typeface="Proxima Nova Rg"/>
                <a:sym typeface="Proxima Nova"/>
              </a:rPr>
              <a:t>Impact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1000" noProof="1">
                <a:solidFill>
                  <a:schemeClr val="accent6"/>
                </a:solidFill>
                <a:ea typeface="Proxima Nova Rg"/>
                <a:cs typeface="Proxima Nova Rg"/>
                <a:sym typeface="Proxima Nova"/>
              </a:rPr>
              <a:t>Flexible and automated set-up helped to add a new tenant in a few days &amp; completed production environment serving over 300.000 devices to the cloud within two hours after changing the DNS record​</a:t>
            </a: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endParaRPr lang="en-US" sz="1000" noProof="1">
              <a:solidFill>
                <a:schemeClr val="accent6"/>
              </a:solidFill>
              <a:ea typeface="Proxima Nova Rg"/>
              <a:cs typeface="Proxima Nova Rg"/>
              <a:sym typeface="Proxima Nova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2222"/>
              <a:buFont typeface="Arial"/>
              <a:buNone/>
            </a:pPr>
            <a:r>
              <a:rPr lang="en-US" sz="1000" noProof="1">
                <a:solidFill>
                  <a:schemeClr val="accent6"/>
                </a:solidFill>
                <a:ea typeface="Proxima Nova Rg"/>
                <a:cs typeface="Proxima Nova Rg"/>
                <a:sym typeface="Proxima Nova"/>
              </a:rPr>
              <a:t>Captured, stored, and processed ML algorithms in cloud and provided valuable data insights to customers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4AD99387-B3A0-D072-D899-7ACEFFFEC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8521" y="3569069"/>
            <a:ext cx="1450449" cy="560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See the source image">
            <a:extLst>
              <a:ext uri="{FF2B5EF4-FFF2-40B4-BE49-F238E27FC236}">
                <a16:creationId xmlns:a16="http://schemas.microsoft.com/office/drawing/2014/main" id="{D58F66E4-9213-9553-6228-F93702EC1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767" y="1061883"/>
            <a:ext cx="3464641" cy="2359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2614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DFC0B-CF27-D2A3-5B41-6BC4A4D38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34EAB8-F8BB-D811-CBED-58DFEABFB6F7}"/>
              </a:ext>
            </a:extLst>
          </p:cNvPr>
          <p:cNvSpPr>
            <a:spLocks noGrp="1"/>
          </p:cNvSpPr>
          <p:nvPr>
            <p:ph type="body" sz="quarter" idx="136"/>
          </p:nvPr>
        </p:nvSpPr>
        <p:spPr>
          <a:xfrm>
            <a:off x="435897" y="766026"/>
            <a:ext cx="7514167" cy="425886"/>
          </a:xfrm>
        </p:spPr>
        <p:txBody>
          <a:bodyPr/>
          <a:lstStyle/>
          <a:p>
            <a:r>
              <a:rPr lang="en-US" sz="2400" noProof="1">
                <a:solidFill>
                  <a:schemeClr val="accent6"/>
                </a:solidFill>
              </a:rPr>
              <a:t>Building a Scalable, Real-Time Data Platform </a:t>
            </a:r>
          </a:p>
        </p:txBody>
      </p:sp>
      <p:pic>
        <p:nvPicPr>
          <p:cNvPr id="10" name="Picture Placeholder 9" descr="Wind turbines in field">
            <a:extLst>
              <a:ext uri="{FF2B5EF4-FFF2-40B4-BE49-F238E27FC236}">
                <a16:creationId xmlns:a16="http://schemas.microsoft.com/office/drawing/2014/main" id="{8E7E4EA7-4C90-6B14-7E01-819B20ACB6B4}"/>
              </a:ext>
            </a:extLst>
          </p:cNvPr>
          <p:cNvPicPr>
            <a:picLocks noGrp="1" noChangeAspect="1"/>
          </p:cNvPicPr>
          <p:nvPr>
            <p:ph type="pic" sz="quarter" idx="16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2" r="1972"/>
          <a:stretch/>
        </p:blipFill>
        <p:spPr>
          <a:xfrm>
            <a:off x="8336884" y="1115490"/>
            <a:ext cx="3289300" cy="22860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F6EB03-E2A7-8C9A-F9E8-6D5735117AA8}"/>
              </a:ext>
            </a:extLst>
          </p:cNvPr>
          <p:cNvSpPr>
            <a:spLocks noGrp="1"/>
          </p:cNvSpPr>
          <p:nvPr>
            <p:ph type="body" idx="106"/>
          </p:nvPr>
        </p:nvSpPr>
        <p:spPr>
          <a:xfrm>
            <a:off x="406400" y="408053"/>
            <a:ext cx="7514167" cy="471604"/>
          </a:xfrm>
        </p:spPr>
        <p:txBody>
          <a:bodyPr/>
          <a:lstStyle/>
          <a:p>
            <a:r>
              <a:rPr lang="en-US" noProof="1">
                <a:solidFill>
                  <a:srgbClr val="595959"/>
                </a:solidFill>
                <a:latin typeface="Arial"/>
                <a:cs typeface="Arial"/>
              </a:rPr>
              <a:t>Xebia response to Zeppelin Power EMS RFP</a:t>
            </a:r>
          </a:p>
          <a:p>
            <a:endParaRPr lang="en-US" noProof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96AF7-BB34-C859-E653-EFD5E0BE8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56866-D47B-47B9-9D95-BB9706FB23C1}" type="slidenum">
              <a:rPr lang="en-US" noProof="1" smtClean="0"/>
              <a:pPr/>
              <a:t>2</a:t>
            </a:fld>
            <a:endParaRPr lang="en-US" noProof="1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3B117E95-E1C9-6865-11EB-048F561A7A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noProof="1"/>
              <a:t>Copyright © 2025 Xebia. All rights reserved</a:t>
            </a:r>
          </a:p>
        </p:txBody>
      </p:sp>
      <p:sp>
        <p:nvSpPr>
          <p:cNvPr id="19" name="Google Shape;11530;p246">
            <a:extLst>
              <a:ext uri="{FF2B5EF4-FFF2-40B4-BE49-F238E27FC236}">
                <a16:creationId xmlns:a16="http://schemas.microsoft.com/office/drawing/2014/main" id="{40771879-A49B-4CB0-32C7-34371FD7B835}"/>
              </a:ext>
            </a:extLst>
          </p:cNvPr>
          <p:cNvSpPr txBox="1"/>
          <p:nvPr/>
        </p:nvSpPr>
        <p:spPr>
          <a:xfrm>
            <a:off x="414737" y="1371292"/>
            <a:ext cx="6949624" cy="5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>
              <a:buClr>
                <a:srgbClr val="000000"/>
              </a:buClr>
              <a:buSzPct val="73333"/>
            </a:pPr>
            <a:r>
              <a:rPr lang="en-US" sz="1200" b="1" noProof="1">
                <a:solidFill>
                  <a:schemeClr val="accent6"/>
                </a:solidFill>
                <a:sym typeface="Arial" panose="020B0604020202020204" pitchFamily="34" charset="0"/>
              </a:rPr>
              <a:t>Business Challenge</a:t>
            </a:r>
          </a:p>
          <a:p>
            <a:pPr algn="just">
              <a:lnSpc>
                <a:spcPct val="115000"/>
              </a:lnSpc>
              <a:buClr>
                <a:schemeClr val="dk1"/>
              </a:buClr>
              <a:buSzPct val="122222"/>
            </a:pPr>
            <a:r>
              <a:rPr lang="en-US" sz="1000" noProof="1">
                <a:solidFill>
                  <a:schemeClr val="accent6"/>
                </a:solidFill>
                <a:sym typeface="Arial" panose="020B0604020202020204" pitchFamily="34" charset="0"/>
              </a:rPr>
              <a:t>Axpo sought to modernize its data infrastructure to support real-time analytics, cross-entity data collaboration, and scalable reporting across its international operations. The existing systems lacked the agility and integration capabilities required to meet evolving business demands and regulatory expectations</a:t>
            </a:r>
          </a:p>
          <a:p>
            <a:pPr algn="just">
              <a:spcBef>
                <a:spcPts val="600"/>
              </a:spcBef>
              <a:spcAft>
                <a:spcPts val="300"/>
              </a:spcAft>
              <a:buClr>
                <a:srgbClr val="000000"/>
              </a:buClr>
              <a:buSzPct val="73333"/>
            </a:pPr>
            <a:r>
              <a:rPr lang="en-US" sz="1200" b="1" noProof="1">
                <a:solidFill>
                  <a:schemeClr val="accent6"/>
                </a:solidFill>
                <a:sym typeface="Arial" panose="020B0604020202020204" pitchFamily="34" charset="0"/>
              </a:rPr>
              <a:t>Our Solution</a:t>
            </a:r>
          </a:p>
          <a:p>
            <a:pPr algn="just">
              <a:lnSpc>
                <a:spcPct val="115000"/>
              </a:lnSpc>
              <a:buClr>
                <a:schemeClr val="dk1"/>
              </a:buClr>
              <a:buSzPct val="122222"/>
            </a:pPr>
            <a:r>
              <a:rPr lang="en-US" sz="1000" noProof="1">
                <a:solidFill>
                  <a:schemeClr val="accent6"/>
                </a:solidFill>
                <a:sym typeface="Arial" panose="020B0604020202020204" pitchFamily="34" charset="0"/>
              </a:rPr>
              <a:t>We designed and delivered a modern data platform tailored to Axpo’s enterprise-scale needs. The solution was architected on Google Cloud Platform (GCP) with Snowflake as the central data warehouse and Power BI for business reporting. Key components included:</a:t>
            </a:r>
          </a:p>
          <a:p>
            <a:pPr marL="0" lvl="1" indent="-168275" algn="just">
              <a:lnSpc>
                <a:spcPct val="115000"/>
              </a:lnSpc>
              <a:buClr>
                <a:schemeClr val="dk1"/>
              </a:buClr>
              <a:buSzPct val="122222"/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accent6"/>
                </a:solidFill>
                <a:sym typeface="Arial" panose="020B0604020202020204" pitchFamily="34" charset="0"/>
              </a:rPr>
              <a:t>Data Transformation &amp; Orchestration: All transformations were implemented using dbt, orchestrated via Apache Airflow through Google Cloud Composer, ensuring modular, testable, and version-controlled pipelines.</a:t>
            </a:r>
          </a:p>
          <a:p>
            <a:pPr marL="0" lvl="1" indent="-168275" algn="just">
              <a:lnSpc>
                <a:spcPct val="115000"/>
              </a:lnSpc>
              <a:buClr>
                <a:schemeClr val="dk1"/>
              </a:buClr>
              <a:buSzPct val="122222"/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accent6"/>
                </a:solidFill>
                <a:sym typeface="Arial" panose="020B0604020202020204" pitchFamily="34" charset="0"/>
              </a:rPr>
              <a:t>Real-Time Data Integration: A real-time ingestion layer was built using Google Cloud’s Managed Service for Apache Kafka, enabling high-throughput, low-latency streaming</a:t>
            </a:r>
          </a:p>
          <a:p>
            <a:pPr marL="0" lvl="1" indent="-168275" algn="just">
              <a:lnSpc>
                <a:spcPct val="115000"/>
              </a:lnSpc>
              <a:buClr>
                <a:schemeClr val="dk1"/>
              </a:buClr>
              <a:buSzPct val="122222"/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accent6"/>
                </a:solidFill>
                <a:sym typeface="Arial" panose="020B0604020202020204" pitchFamily="34" charset="0"/>
              </a:rPr>
              <a:t>Data Lakehouse Architecture: Data was stored in Apache Iceberg tables on Google Cloud Storage, with Kafka Connect facilitating seamless data movement between systems.</a:t>
            </a:r>
          </a:p>
          <a:p>
            <a:pPr marL="0" lvl="1" indent="-168275" algn="just">
              <a:lnSpc>
                <a:spcPct val="115000"/>
              </a:lnSpc>
              <a:buClr>
                <a:schemeClr val="dk1"/>
              </a:buClr>
              <a:buSzPct val="122222"/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accent6"/>
                </a:solidFill>
                <a:sym typeface="Arial" panose="020B0604020202020204" pitchFamily="34" charset="0"/>
              </a:rPr>
              <a:t>Secure Data Sharing: Leveraging Snowflake’s Secure Data Sharing capabilities, </a:t>
            </a:r>
            <a:br>
              <a:rPr lang="en-US" sz="1000" noProof="1">
                <a:solidFill>
                  <a:schemeClr val="accent6"/>
                </a:solidFill>
                <a:sym typeface="Arial" panose="020B0604020202020204" pitchFamily="34" charset="0"/>
              </a:rPr>
            </a:br>
            <a:r>
              <a:rPr lang="en-US" sz="1000" noProof="1">
                <a:solidFill>
                  <a:schemeClr val="accent6"/>
                </a:solidFill>
                <a:sym typeface="Arial" panose="020B0604020202020204" pitchFamily="34" charset="0"/>
              </a:rPr>
              <a:t>Axpo can now collaborate securely with other entities within its corporate group, enabling federated analytics and governance.</a:t>
            </a:r>
          </a:p>
          <a:p>
            <a:pPr algn="just">
              <a:spcBef>
                <a:spcPts val="600"/>
              </a:spcBef>
              <a:spcAft>
                <a:spcPts val="300"/>
              </a:spcAft>
              <a:buClr>
                <a:srgbClr val="000000"/>
              </a:buClr>
              <a:buSzPct val="73333"/>
            </a:pPr>
            <a:r>
              <a:rPr lang="en-US" sz="1200" b="1" noProof="1">
                <a:solidFill>
                  <a:schemeClr val="accent6"/>
                </a:solidFill>
                <a:sym typeface="Arial" panose="020B0604020202020204" pitchFamily="34" charset="0"/>
              </a:rPr>
              <a:t>Business Impact</a:t>
            </a:r>
          </a:p>
          <a:p>
            <a:pPr marL="0" lvl="1" indent="-168275" algn="just">
              <a:lnSpc>
                <a:spcPct val="115000"/>
              </a:lnSpc>
              <a:buClr>
                <a:schemeClr val="dk1"/>
              </a:buClr>
              <a:buSzPct val="122222"/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accent6"/>
                </a:solidFill>
                <a:sym typeface="Arial" panose="020B0604020202020204" pitchFamily="34" charset="0"/>
              </a:rPr>
              <a:t>Accelerated Time-to-Insight: Real-time data availability and streamlined reporting workflows significantly reduced the time required to generate actionable insights.</a:t>
            </a:r>
          </a:p>
          <a:p>
            <a:pPr marL="0" lvl="1" indent="-168275" algn="just">
              <a:lnSpc>
                <a:spcPct val="115000"/>
              </a:lnSpc>
              <a:buClr>
                <a:schemeClr val="dk1"/>
              </a:buClr>
              <a:buSzPct val="122222"/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accent6"/>
                </a:solidFill>
                <a:sym typeface="Arial" panose="020B0604020202020204" pitchFamily="34" charset="0"/>
              </a:rPr>
              <a:t>Improved Data Governance: Centralized orchestration and transformation logic enhanced transparency, auditability, and compliance.</a:t>
            </a:r>
          </a:p>
          <a:p>
            <a:pPr marL="0" lvl="1" indent="-168275" algn="just">
              <a:lnSpc>
                <a:spcPct val="115000"/>
              </a:lnSpc>
              <a:buClr>
                <a:schemeClr val="dk1"/>
              </a:buClr>
              <a:buSzPct val="122222"/>
              <a:buFont typeface="Arial" panose="020B0604020202020204" pitchFamily="34" charset="0"/>
              <a:buChar char="•"/>
            </a:pPr>
            <a:r>
              <a:rPr lang="en-US" sz="1000" noProof="1">
                <a:solidFill>
                  <a:schemeClr val="accent6"/>
                </a:solidFill>
                <a:sym typeface="Arial" panose="020B0604020202020204" pitchFamily="34" charset="0"/>
              </a:rPr>
              <a:t>Scalable Collaboration: The platform supports secure, scalable data exchange across business units and partners, fostering innovation and operational efficiency.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123E89-689B-E4E7-F9D3-044C2B620FB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226956" y="3727897"/>
            <a:ext cx="1641009" cy="62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69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E4F8677-1618-458F-B925-C7DC9833F4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BA7583-B9A0-413D-9A11-FC0408D0299E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3.xml><?xml version="1.0" encoding="utf-8"?>
<ds:datastoreItem xmlns:ds="http://schemas.openxmlformats.org/officeDocument/2006/customXml" ds:itemID="{228ACA07-6092-40CF-A7B1-383B66FCE1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2026-01-23T11:40:28Z</dcterms:created>
  <dcterms:modified xsi:type="dcterms:W3CDTF">2026-01-23T11:41:02Z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