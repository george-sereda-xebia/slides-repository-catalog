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287" r:id="rId5"/>
    <p:sldId id="28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4F61"/>
    <a:srgbClr val="491E47"/>
    <a:srgbClr val="9D9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48927A-71BB-D7C2-BC33-C8A22DDDCF8B}" v="12" dt="2026-01-23T10:57:17.0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C748927A-71BB-D7C2-BC33-C8A22DDDCF8B}"/>
    <pc:docChg chg="addSld delSld modSld">
      <pc:chgData name="George Sereda" userId="S::george.sereda@xebia.com::5e824fc6-3a6a-482b-8597-f9374fb4b421" providerId="AD" clId="Web-{C748927A-71BB-D7C2-BC33-C8A22DDDCF8B}" dt="2026-01-23T10:57:17.033" v="6"/>
      <pc:docMkLst>
        <pc:docMk/>
      </pc:docMkLst>
      <pc:sldChg chg="del">
        <pc:chgData name="George Sereda" userId="S::george.sereda@xebia.com::5e824fc6-3a6a-482b-8597-f9374fb4b421" providerId="AD" clId="Web-{C748927A-71BB-D7C2-BC33-C8A22DDDCF8B}" dt="2026-01-23T10:57:17.033" v="6"/>
        <pc:sldMkLst>
          <pc:docMk/>
          <pc:sldMk cId="109857222" sldId="256"/>
        </pc:sldMkLst>
      </pc:sldChg>
      <pc:sldChg chg="modSp add">
        <pc:chgData name="George Sereda" userId="S::george.sereda@xebia.com::5e824fc6-3a6a-482b-8597-f9374fb4b421" providerId="AD" clId="Web-{C748927A-71BB-D7C2-BC33-C8A22DDDCF8B}" dt="2026-01-23T10:56:14.014" v="3"/>
        <pc:sldMkLst>
          <pc:docMk/>
          <pc:sldMk cId="3675373315" sldId="287"/>
        </pc:sldMkLst>
        <pc:spChg chg="mod">
          <ac:chgData name="George Sereda" userId="S::george.sereda@xebia.com::5e824fc6-3a6a-482b-8597-f9374fb4b421" providerId="AD" clId="Web-{C748927A-71BB-D7C2-BC33-C8A22DDDCF8B}" dt="2026-01-23T10:56:14.014" v="3"/>
          <ac:spMkLst>
            <pc:docMk/>
            <pc:sldMk cId="3675373315" sldId="287"/>
            <ac:spMk id="3" creationId="{6D951DD0-2064-FA8B-8ECD-F19EB60E020C}"/>
          </ac:spMkLst>
        </pc:spChg>
        <pc:spChg chg="mod">
          <ac:chgData name="George Sereda" userId="S::george.sereda@xebia.com::5e824fc6-3a6a-482b-8597-f9374fb4b421" providerId="AD" clId="Web-{C748927A-71BB-D7C2-BC33-C8A22DDDCF8B}" dt="2026-01-23T10:55:58.498" v="2"/>
          <ac:spMkLst>
            <pc:docMk/>
            <pc:sldMk cId="3675373315" sldId="287"/>
            <ac:spMk id="10" creationId="{396FD778-7DEE-F4EA-04F0-CCC26E852189}"/>
          </ac:spMkLst>
        </pc:spChg>
      </pc:sldChg>
      <pc:sldChg chg="modSp add">
        <pc:chgData name="George Sereda" userId="S::george.sereda@xebia.com::5e824fc6-3a6a-482b-8597-f9374fb4b421" providerId="AD" clId="Web-{C748927A-71BB-D7C2-BC33-C8A22DDDCF8B}" dt="2026-01-23T10:57:12.642" v="5"/>
        <pc:sldMkLst>
          <pc:docMk/>
          <pc:sldMk cId="3443614356" sldId="288"/>
        </pc:sldMkLst>
        <pc:spChg chg="mod">
          <ac:chgData name="George Sereda" userId="S::george.sereda@xebia.com::5e824fc6-3a6a-482b-8597-f9374fb4b421" providerId="AD" clId="Web-{C748927A-71BB-D7C2-BC33-C8A22DDDCF8B}" dt="2026-01-23T10:57:12.642" v="5"/>
          <ac:spMkLst>
            <pc:docMk/>
            <pc:sldMk cId="3443614356" sldId="288"/>
            <ac:spMk id="137" creationId="{76C4A006-9947-F1AC-5B2C-F7261D76C137}"/>
          </ac:spMkLst>
        </pc:spChg>
        <pc:spChg chg="mod">
          <ac:chgData name="George Sereda" userId="S::george.sereda@xebia.com::5e824fc6-3a6a-482b-8597-f9374fb4b421" providerId="AD" clId="Web-{C748927A-71BB-D7C2-BC33-C8A22DDDCF8B}" dt="2026-01-23T10:56:53.016" v="4"/>
          <ac:spMkLst>
            <pc:docMk/>
            <pc:sldMk cId="3443614356" sldId="288"/>
            <ac:spMk id="170" creationId="{3A00B32C-82CF-38CB-DE12-4A9C8CCDCDD6}"/>
          </ac:spMkLst>
        </pc:spChg>
      </pc:sldChg>
      <pc:sldMasterChg chg="addSldLayout">
        <pc:chgData name="George Sereda" userId="S::george.sereda@xebia.com::5e824fc6-3a6a-482b-8597-f9374fb4b421" providerId="AD" clId="Web-{C748927A-71BB-D7C2-BC33-C8A22DDDCF8B}" dt="2026-01-23T10:54:25.726" v="1"/>
        <pc:sldMasterMkLst>
          <pc:docMk/>
          <pc:sldMasterMk cId="2460954070" sldId="2147483660"/>
        </pc:sldMasterMkLst>
        <pc:sldLayoutChg chg="add">
          <pc:chgData name="George Sereda" userId="S::george.sereda@xebia.com::5e824fc6-3a6a-482b-8597-f9374fb4b421" providerId="AD" clId="Web-{C748927A-71BB-D7C2-BC33-C8A22DDDCF8B}" dt="2026-01-23T10:54:14.678" v="0"/>
          <pc:sldLayoutMkLst>
            <pc:docMk/>
            <pc:sldMasterMk cId="2460954070" sldId="2147483660"/>
            <pc:sldLayoutMk cId="3356666949" sldId="2147483672"/>
          </pc:sldLayoutMkLst>
        </pc:sldLayoutChg>
        <pc:sldLayoutChg chg="add">
          <pc:chgData name="George Sereda" userId="S::george.sereda@xebia.com::5e824fc6-3a6a-482b-8597-f9374fb4b421" providerId="AD" clId="Web-{C748927A-71BB-D7C2-BC33-C8A22DDDCF8B}" dt="2026-01-23T10:54:25.726" v="1"/>
          <pc:sldLayoutMkLst>
            <pc:docMk/>
            <pc:sldMasterMk cId="2460954070" sldId="2147483660"/>
            <pc:sldLayoutMk cId="3340426028" sldId="2147483673"/>
          </pc:sldLayoutMkLst>
        </pc:sldLayoutChg>
      </pc:sldMasterChg>
    </pc:docChg>
  </pc:docChgLst>
  <pc:docChgLst>
    <pc:chgData clId="Web-{C748927A-71BB-D7C2-BC33-C8A22DDDCF8B}"/>
    <pc:docChg chg="modSld">
      <pc:chgData name="" userId="" providerId="" clId="Web-{C748927A-71BB-D7C2-BC33-C8A22DDDCF8B}" dt="2026-01-23T10:53:57.052" v="1"/>
      <pc:docMkLst>
        <pc:docMk/>
      </pc:docMkLst>
      <pc:sldChg chg="addSp modSp">
        <pc:chgData name="" userId="" providerId="" clId="Web-{C748927A-71BB-D7C2-BC33-C8A22DDDCF8B}" dt="2026-01-23T10:53:57.052" v="1"/>
        <pc:sldMkLst>
          <pc:docMk/>
          <pc:sldMk cId="109857222" sldId="256"/>
        </pc:sldMkLst>
        <pc:spChg chg="add mod">
          <ac:chgData name="" userId="" providerId="" clId="Web-{C748927A-71BB-D7C2-BC33-C8A22DDDCF8B}" dt="2026-01-23T10:53:57.052" v="1"/>
          <ac:spMkLst>
            <pc:docMk/>
            <pc:sldMk cId="109857222" sldId="256"/>
            <ac:spMk id="4" creationId="{ED2D09FC-6206-09EB-C794-A1123000A00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B48E5F-BC75-4A8D-A042-DD35255966A3}" type="datetimeFigureOut">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A367F1-3033-4EC7-843F-C46F0583183A}" type="slidenum">
              <a:t>‹#›</a:t>
            </a:fld>
            <a:endParaRPr lang="en-US"/>
          </a:p>
        </p:txBody>
      </p:sp>
    </p:spTree>
    <p:extLst>
      <p:ext uri="{BB962C8B-B14F-4D97-AF65-F5344CB8AC3E}">
        <p14:creationId xmlns:p14="http://schemas.microsoft.com/office/powerpoint/2010/main" val="287647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1C46F-4358-D664-673B-531ED60FC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83111-7142-CD79-ECA4-E7133D6EB4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01C71D-31C7-1BF1-2A0C-C9ACA6A053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A88E3A-B6DC-EB3D-E5A7-78FD726ED83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1416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 Light">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4"/>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0"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59"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09" y="6457865"/>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1" y="6457865"/>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noChangeAspect="1"/>
          </p:cNvSpPr>
          <p:nvPr>
            <p:ph type="body" sz="quarter" idx="110"/>
          </p:nvPr>
        </p:nvSpPr>
        <p:spPr>
          <a:xfrm>
            <a:off x="431801" y="1666865"/>
            <a:ext cx="11384491" cy="184666"/>
          </a:xfrm>
          <a:prstGeom prst="rect">
            <a:avLst/>
          </a:prstGeom>
        </p:spPr>
        <p:txBody>
          <a:bodyPr wrap="square" lIns="0" tIns="0" rIns="0" bIns="0" anchor="t">
            <a:spAutoFit/>
          </a:bodyPr>
          <a:lstStyle>
            <a:lvl1pPr marL="0" marR="0" indent="0" algn="l" defTabSz="609630" rtl="0" eaLnBrk="1" fontAlgn="auto" latinLnBrk="0" hangingPunct="1">
              <a:lnSpc>
                <a:spcPct val="100000"/>
              </a:lnSpc>
              <a:spcBef>
                <a:spcPts val="933"/>
              </a:spcBef>
              <a:spcAft>
                <a:spcPts val="0"/>
              </a:spcAft>
              <a:buClrTx/>
              <a:buSzTx/>
              <a:buFontTx/>
              <a:buNone/>
              <a:tabLst/>
              <a:defRPr sz="1200">
                <a:solidFill>
                  <a:schemeClr val="tx1"/>
                </a:solidFill>
              </a:defRPr>
            </a:lvl1pPr>
            <a:lvl2pPr marL="304815" indent="0">
              <a:buFontTx/>
              <a:buNone/>
              <a:defRPr sz="1200">
                <a:solidFill>
                  <a:schemeClr val="tx1"/>
                </a:solidFill>
              </a:defRPr>
            </a:lvl2pPr>
            <a:lvl3pPr marL="609630" indent="0">
              <a:buFontTx/>
              <a:buNone/>
              <a:defRPr sz="1200">
                <a:solidFill>
                  <a:schemeClr val="tx1"/>
                </a:solidFill>
              </a:defRPr>
            </a:lvl3pPr>
            <a:lvl4pPr marL="914446" indent="0">
              <a:buFontTx/>
              <a:buNone/>
              <a:defRPr sz="1200">
                <a:solidFill>
                  <a:schemeClr val="tx1"/>
                </a:solidFill>
              </a:defRPr>
            </a:lvl4pPr>
            <a:lvl5pPr marL="1219261" indent="0">
              <a:buFontTx/>
              <a:buNone/>
              <a:defRPr sz="1200">
                <a:solidFill>
                  <a:schemeClr val="tx1"/>
                </a:solidFill>
              </a:defRPr>
            </a:lvl5pPr>
          </a:lstStyle>
          <a:p>
            <a:pPr lvl="0"/>
            <a:endParaRPr lang="en-US"/>
          </a:p>
        </p:txBody>
      </p:sp>
    </p:spTree>
    <p:extLst>
      <p:ext uri="{BB962C8B-B14F-4D97-AF65-F5344CB8AC3E}">
        <p14:creationId xmlns:p14="http://schemas.microsoft.com/office/powerpoint/2010/main" val="3356666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 Light">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4"/>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0"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59"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09" y="6457865"/>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1" y="6457865"/>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3340426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3.emf"/><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8.emf"/><Relationship Id="rId7" Type="http://schemas.openxmlformats.org/officeDocument/2006/relationships/image" Target="../media/image12.emf"/><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image" Target="../media/image7.emf"/><Relationship Id="rId16" Type="http://schemas.openxmlformats.org/officeDocument/2006/relationships/image" Target="../media/image21.png"/><Relationship Id="rId1" Type="http://schemas.openxmlformats.org/officeDocument/2006/relationships/slideLayout" Target="../slideLayouts/slideLayout13.xml"/><Relationship Id="rId6" Type="http://schemas.openxmlformats.org/officeDocument/2006/relationships/image" Target="../media/image11.emf"/><Relationship Id="rId11" Type="http://schemas.openxmlformats.org/officeDocument/2006/relationships/image" Target="../media/image16.emf"/><Relationship Id="rId5" Type="http://schemas.openxmlformats.org/officeDocument/2006/relationships/image" Target="../media/image10.emf"/><Relationship Id="rId15" Type="http://schemas.openxmlformats.org/officeDocument/2006/relationships/image" Target="../media/image20.svg"/><Relationship Id="rId10" Type="http://schemas.openxmlformats.org/officeDocument/2006/relationships/image" Target="../media/image15.emf"/><Relationship Id="rId19" Type="http://schemas.openxmlformats.org/officeDocument/2006/relationships/image" Target="../media/image24.svg"/><Relationship Id="rId4" Type="http://schemas.openxmlformats.org/officeDocument/2006/relationships/image" Target="../media/image9.emf"/><Relationship Id="rId9" Type="http://schemas.openxmlformats.org/officeDocument/2006/relationships/image" Target="../media/image14.emf"/><Relationship Id="rId1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74AD-A6C3-1686-D3D1-F6C79CA38BA8}"/>
            </a:ext>
          </a:extLst>
        </p:cNvPr>
        <p:cNvGrpSpPr/>
        <p:nvPr/>
      </p:nvGrpSpPr>
      <p:grpSpPr>
        <a:xfrm>
          <a:off x="0" y="0"/>
          <a:ext cx="0" cy="0"/>
          <a:chOff x="0" y="0"/>
          <a:chExt cx="0" cy="0"/>
        </a:xfrm>
      </p:grpSpPr>
      <p:sp>
        <p:nvSpPr>
          <p:cNvPr id="25" name="Prostokąt zaokrąglony 53">
            <a:extLst>
              <a:ext uri="{FF2B5EF4-FFF2-40B4-BE49-F238E27FC236}">
                <a16:creationId xmlns:a16="http://schemas.microsoft.com/office/drawing/2014/main" id="{3E23E948-C438-F4BB-A69E-8DD7E6A5BBFF}"/>
              </a:ext>
            </a:extLst>
          </p:cNvPr>
          <p:cNvSpPr/>
          <p:nvPr/>
        </p:nvSpPr>
        <p:spPr>
          <a:xfrm>
            <a:off x="409586" y="2773581"/>
            <a:ext cx="5619750" cy="3502548"/>
          </a:xfrm>
          <a:prstGeom prst="roundRect">
            <a:avLst>
              <a:gd name="adj" fmla="val 719"/>
            </a:avLst>
          </a:prstGeom>
          <a:solidFill>
            <a:srgbClr val="FBF7F7"/>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595959"/>
              </a:solidFill>
              <a:effectLst/>
              <a:uLnTx/>
              <a:uFillTx/>
              <a:latin typeface="Arial" panose="020B0604020202020204"/>
              <a:ea typeface="+mn-ea"/>
              <a:cs typeface="+mn-cs"/>
            </a:endParaRPr>
          </a:p>
        </p:txBody>
      </p:sp>
      <p:pic>
        <p:nvPicPr>
          <p:cNvPr id="61" name="layout" descr="preencoded.png">
            <a:extLst>
              <a:ext uri="{FF2B5EF4-FFF2-40B4-BE49-F238E27FC236}">
                <a16:creationId xmlns:a16="http://schemas.microsoft.com/office/drawing/2014/main" id="{71679019-0864-5911-C5C4-CADE7DF83D1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13700873" y="1267187"/>
            <a:ext cx="5619750" cy="4597400"/>
          </a:xfrm>
          <a:prstGeom prst="rect">
            <a:avLst/>
          </a:prstGeom>
        </p:spPr>
      </p:pic>
      <p:sp>
        <p:nvSpPr>
          <p:cNvPr id="8" name="We partner with our clients and across our ecosystem to design build manage and upskill organizations to not only survive -- but thrive -- in this AI era of digital transformation">
            <a:extLst>
              <a:ext uri="{FF2B5EF4-FFF2-40B4-BE49-F238E27FC236}">
                <a16:creationId xmlns:a16="http://schemas.microsoft.com/office/drawing/2014/main" id="{C819FB51-9430-EE02-FF0A-9BBBC7039FE0}"/>
              </a:ext>
            </a:extLst>
          </p:cNvPr>
          <p:cNvSpPr/>
          <p:nvPr/>
        </p:nvSpPr>
        <p:spPr>
          <a:xfrm>
            <a:off x="3657600" y="3137131"/>
            <a:ext cx="2204509" cy="1119671"/>
          </a:xfrm>
          <a:prstGeom prst="rect">
            <a:avLst/>
          </a:prstGeom>
          <a:noFill/>
          <a:ln/>
        </p:spPr>
        <p:txBody>
          <a:bodyPr wrap="square" lIns="0" tIns="0" rIns="0" bIns="0" rtlCol="0" anchor="t"/>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rPr>
              <a:t>Consulting | Engineering Training</a:t>
            </a:r>
          </a:p>
          <a:p>
            <a:pPr marL="0" marR="0" lvl="0" indent="0" algn="r" defTabSz="914446" rtl="0" eaLnBrk="1" fontAlgn="auto" latinLnBrk="0" hangingPunct="1">
              <a:lnSpc>
                <a:spcPct val="100000"/>
              </a:lnSpc>
              <a:spcBef>
                <a:spcPts val="0"/>
              </a:spcBef>
              <a:spcAft>
                <a:spcPts val="0"/>
              </a:spcAft>
              <a:buClrTx/>
              <a:buSzTx/>
              <a:buFontTx/>
              <a:buNone/>
              <a:tabLst/>
              <a:defRPr/>
            </a:pPr>
            <a:endParaRPr kumimoji="0" lang="en-US" sz="1067" b="0"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rPr>
              <a:t>We partner with clients and across our ecosystem to </a:t>
            </a:r>
            <a:r>
              <a:rPr kumimoji="0" lang="en-US" sz="933" b="1" i="0" u="none" strike="noStrike" kern="1200" cap="none" spc="0" normalizeH="0" baseline="0" noProof="1">
                <a:ln>
                  <a:noFill/>
                </a:ln>
                <a:solidFill>
                  <a:schemeClr val="accent6"/>
                </a:solidFill>
                <a:effectLst/>
                <a:uLnTx/>
                <a:uFillTx/>
                <a:latin typeface="Arial Bold" pitchFamily="34" charset="0"/>
                <a:ea typeface="Arial Bold" pitchFamily="34" charset="-122"/>
                <a:cs typeface="Arial Bold" pitchFamily="34" charset="-120"/>
              </a:rPr>
              <a:t>design</a:t>
            </a:r>
            <a:r>
              <a:rPr kumimoji="0" lang="en-US" sz="933" b="0"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rPr>
              <a:t>, </a:t>
            </a:r>
            <a:r>
              <a:rPr kumimoji="0" lang="en-US" sz="933" b="1" i="0" u="none" strike="noStrike" kern="1200" cap="none" spc="0" normalizeH="0" baseline="0" noProof="1">
                <a:ln>
                  <a:noFill/>
                </a:ln>
                <a:solidFill>
                  <a:schemeClr val="accent6"/>
                </a:solidFill>
                <a:effectLst/>
                <a:uLnTx/>
                <a:uFillTx/>
                <a:latin typeface="Arial Bold" pitchFamily="34" charset="0"/>
                <a:ea typeface="Arial Bold" pitchFamily="34" charset="-122"/>
                <a:cs typeface="Arial Bold" pitchFamily="34" charset="-120"/>
              </a:rPr>
              <a:t>build</a:t>
            </a:r>
            <a:r>
              <a:rPr kumimoji="0" lang="en-US" sz="933" b="0"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rPr>
              <a:t>, </a:t>
            </a:r>
            <a:r>
              <a:rPr kumimoji="0" lang="en-US" sz="933" b="1" i="0" u="none" strike="noStrike" kern="1200" cap="none" spc="0" normalizeH="0" baseline="0" noProof="1">
                <a:ln>
                  <a:noFill/>
                </a:ln>
                <a:solidFill>
                  <a:schemeClr val="accent6"/>
                </a:solidFill>
                <a:effectLst/>
                <a:uLnTx/>
                <a:uFillTx/>
                <a:latin typeface="Arial Bold" pitchFamily="34" charset="0"/>
                <a:ea typeface="Arial Bold" pitchFamily="34" charset="-122"/>
                <a:cs typeface="Arial Bold" pitchFamily="34" charset="-120"/>
              </a:rPr>
              <a:t>manage</a:t>
            </a:r>
            <a:r>
              <a:rPr kumimoji="0" lang="en-US" sz="933" b="0"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rPr>
              <a:t>, and </a:t>
            </a:r>
            <a:r>
              <a:rPr kumimoji="0" lang="en-US" sz="933" b="1" i="0" u="none" strike="noStrike" kern="1200" cap="none" spc="0" normalizeH="0" baseline="0" noProof="1">
                <a:ln>
                  <a:noFill/>
                </a:ln>
                <a:solidFill>
                  <a:schemeClr val="accent6"/>
                </a:solidFill>
                <a:effectLst/>
                <a:uLnTx/>
                <a:uFillTx/>
                <a:latin typeface="Arial Bold" pitchFamily="34" charset="0"/>
                <a:ea typeface="Arial Bold" pitchFamily="34" charset="-122"/>
                <a:cs typeface="Arial Bold" pitchFamily="34" charset="-120"/>
              </a:rPr>
              <a:t>upskill</a:t>
            </a:r>
            <a:r>
              <a:rPr kumimoji="0" lang="en-US" sz="933" b="0" i="0" u="none" strike="noStrike" kern="1200" cap="none" spc="0" normalizeH="0" baseline="0" noProof="1">
                <a:ln>
                  <a:noFill/>
                </a:ln>
                <a:solidFill>
                  <a:schemeClr val="accent6"/>
                </a:solidFill>
                <a:effectLst/>
                <a:uLnTx/>
                <a:uFillTx/>
                <a:latin typeface="Arial Regular" pitchFamily="34" charset="0"/>
                <a:ea typeface="Arial Regular" pitchFamily="34" charset="-122"/>
                <a:cs typeface="Arial Regular" pitchFamily="34" charset="-120"/>
              </a:rPr>
              <a:t> organizations to thrive in this AI era of digital transformation.</a:t>
            </a:r>
            <a:endParaRPr kumimoji="0" lang="en-US" sz="933" b="0" i="0" u="none" strike="noStrike" kern="1200" cap="none" spc="0" normalizeH="0" baseline="0" noProof="1">
              <a:ln>
                <a:noFill/>
              </a:ln>
              <a:solidFill>
                <a:schemeClr val="accent6"/>
              </a:solidFill>
              <a:effectLst/>
              <a:uLnTx/>
              <a:uFillTx/>
              <a:latin typeface="Arial" panose="020B0604020202020204"/>
              <a:ea typeface="+mn-ea"/>
              <a:cs typeface="+mn-cs"/>
            </a:endParaRPr>
          </a:p>
        </p:txBody>
      </p:sp>
      <p:sp>
        <p:nvSpPr>
          <p:cNvPr id="28" name="Symbol zastępczy tekstu 27">
            <a:extLst>
              <a:ext uri="{FF2B5EF4-FFF2-40B4-BE49-F238E27FC236}">
                <a16:creationId xmlns:a16="http://schemas.microsoft.com/office/drawing/2014/main" id="{A9F9F9D5-FF63-0376-B061-8E4291B0A343}"/>
              </a:ext>
            </a:extLst>
          </p:cNvPr>
          <p:cNvSpPr>
            <a:spLocks noGrp="1"/>
          </p:cNvSpPr>
          <p:nvPr>
            <p:ph type="body" sz="quarter" idx="110"/>
          </p:nvPr>
        </p:nvSpPr>
        <p:spPr>
          <a:xfrm>
            <a:off x="407459" y="1666866"/>
            <a:ext cx="5650437" cy="946033"/>
          </a:xfrm>
        </p:spPr>
        <p:txBody>
          <a:bodyPr/>
          <a:lstStyle/>
          <a:p>
            <a:r>
              <a:rPr lang="en-US" noProof="1">
                <a:solidFill>
                  <a:srgbClr val="222222"/>
                </a:solidFill>
                <a:latin typeface="Arial Regular"/>
                <a:ea typeface="Arial Regular"/>
                <a:cs typeface="Arial Regular" pitchFamily="34" charset="-120"/>
              </a:rPr>
              <a:t>A new AI-driven era of digital transformation has emerged. At Xebia, we’ve moved beyond the outdated definitions and siloed IT Services that served the last era of business transformation. Instead, we have redefined our consulting, engineering, and upskilling services to address five core areas of digital convergence that our clients have prioritized to ensure their success in the modern era of business.</a:t>
            </a:r>
            <a:endParaRPr lang="en-US" noProof="1">
              <a:solidFill>
                <a:srgbClr val="222222"/>
              </a:solidFill>
              <a:latin typeface="Arial Regular"/>
              <a:ea typeface="Arial Regular"/>
            </a:endParaRPr>
          </a:p>
        </p:txBody>
      </p:sp>
      <p:sp>
        <p:nvSpPr>
          <p:cNvPr id="31" name="Text Placeholder 1">
            <a:extLst>
              <a:ext uri="{FF2B5EF4-FFF2-40B4-BE49-F238E27FC236}">
                <a16:creationId xmlns:a16="http://schemas.microsoft.com/office/drawing/2014/main" id="{306ADFAD-9AEC-3C2B-BBFB-17E573A32481}"/>
              </a:ext>
            </a:extLst>
          </p:cNvPr>
          <p:cNvSpPr>
            <a:spLocks noGrp="1"/>
          </p:cNvSpPr>
          <p:nvPr>
            <p:ph type="body" idx="106"/>
          </p:nvPr>
        </p:nvSpPr>
        <p:spPr>
          <a:xfrm>
            <a:off x="406400" y="408054"/>
            <a:ext cx="7513108" cy="163849"/>
          </a:xfrm>
        </p:spPr>
        <p:txBody>
          <a:bodyPr/>
          <a:lstStyle/>
          <a:p>
            <a:r>
              <a:rPr lang="en-US" noProof="1">
                <a:solidFill>
                  <a:srgbClr val="595959"/>
                </a:solidFill>
                <a:latin typeface="Arial"/>
                <a:cs typeface="Arial"/>
              </a:rPr>
              <a:t>Xebia response to Zeppelin Power EMS RFP</a:t>
            </a:r>
          </a:p>
        </p:txBody>
      </p:sp>
      <p:sp>
        <p:nvSpPr>
          <p:cNvPr id="32" name="Slide Number Placeholder 2">
            <a:extLst>
              <a:ext uri="{FF2B5EF4-FFF2-40B4-BE49-F238E27FC236}">
                <a16:creationId xmlns:a16="http://schemas.microsoft.com/office/drawing/2014/main" id="{5BA3E76F-2AEE-29D9-38C1-F7C162727081}"/>
              </a:ext>
            </a:extLst>
          </p:cNvPr>
          <p:cNvSpPr>
            <a:spLocks noGrp="1"/>
          </p:cNvSpPr>
          <p:nvPr>
            <p:ph type="sldNum" sz="quarter" idx="12"/>
          </p:nvPr>
        </p:nvSpPr>
        <p:spPr>
          <a:xfrm>
            <a:off x="10992909" y="6457865"/>
            <a:ext cx="799041" cy="123111"/>
          </a:xfrm>
        </p:spPr>
        <p:txBody>
          <a:bodyPr/>
          <a:lstStyle/>
          <a:p>
            <a:pPr marL="0" marR="0" lvl="0" indent="0" algn="r" defTabSz="609630" rtl="0" eaLnBrk="1" fontAlgn="auto" latinLnBrk="0" hangingPunct="1">
              <a:lnSpc>
                <a:spcPct val="100000"/>
              </a:lnSpc>
              <a:spcBef>
                <a:spcPts val="0"/>
              </a:spcBef>
              <a:spcAft>
                <a:spcPts val="0"/>
              </a:spcAft>
              <a:buClrTx/>
              <a:buSzTx/>
              <a:buFontTx/>
              <a:buNone/>
              <a:tabLst/>
              <a:defRPr/>
            </a:pPr>
            <a:fld id="{C1F56866-D47B-47B9-9D95-BB9706FB23C1}" type="slidenum">
              <a:rPr kumimoji="0" lang="en-US" sz="800" b="0" i="0" u="none" strike="noStrike" kern="1200" cap="none" spc="0" normalizeH="0" baseline="0" noProof="1" smtClean="0">
                <a:ln>
                  <a:noFill/>
                </a:ln>
                <a:solidFill>
                  <a:srgbClr val="595959"/>
                </a:solidFill>
                <a:effectLst/>
                <a:uLnTx/>
                <a:uFillTx/>
                <a:latin typeface="Arial" panose="020B0604020202020204"/>
                <a:ea typeface="+mn-ea"/>
                <a:cs typeface="+mn-cs"/>
              </a:rPr>
              <a:pPr marL="0" marR="0" lvl="0" indent="0" algn="r" defTabSz="60963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1">
              <a:ln>
                <a:noFill/>
              </a:ln>
              <a:solidFill>
                <a:srgbClr val="595959"/>
              </a:solidFill>
              <a:effectLst/>
              <a:uLnTx/>
              <a:uFillTx/>
              <a:latin typeface="Arial" panose="020B0604020202020204"/>
              <a:ea typeface="+mn-ea"/>
              <a:cs typeface="+mn-cs"/>
            </a:endParaRPr>
          </a:p>
        </p:txBody>
      </p:sp>
      <p:sp>
        <p:nvSpPr>
          <p:cNvPr id="33" name="Footer Placeholder 4">
            <a:extLst>
              <a:ext uri="{FF2B5EF4-FFF2-40B4-BE49-F238E27FC236}">
                <a16:creationId xmlns:a16="http://schemas.microsoft.com/office/drawing/2014/main" id="{73E0F8FA-D8C2-D5CE-8B12-931816981424}"/>
              </a:ext>
            </a:extLst>
          </p:cNvPr>
          <p:cNvSpPr>
            <a:spLocks noGrp="1"/>
          </p:cNvSpPr>
          <p:nvPr>
            <p:ph type="ftr" sz="quarter" idx="3"/>
          </p:nvPr>
        </p:nvSpPr>
        <p:spPr>
          <a:xfrm>
            <a:off x="406401" y="6457865"/>
            <a:ext cx="3673475" cy="123111"/>
          </a:xfrm>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Copyright © 2025 Xebia. All rights reserved</a:t>
            </a:r>
          </a:p>
        </p:txBody>
      </p:sp>
      <p:sp>
        <p:nvSpPr>
          <p:cNvPr id="37" name="pole tekstowe 36">
            <a:extLst>
              <a:ext uri="{FF2B5EF4-FFF2-40B4-BE49-F238E27FC236}">
                <a16:creationId xmlns:a16="http://schemas.microsoft.com/office/drawing/2014/main" id="{A4C14A88-7A49-0311-75F3-F40EE9878EF6}"/>
              </a:ext>
            </a:extLst>
          </p:cNvPr>
          <p:cNvSpPr txBox="1"/>
          <p:nvPr/>
        </p:nvSpPr>
        <p:spPr>
          <a:xfrm>
            <a:off x="516734" y="2798945"/>
            <a:ext cx="2585003" cy="276999"/>
          </a:xfrm>
          <a:prstGeom prst="rect">
            <a:avLst/>
          </a:prstGeom>
          <a:noFill/>
        </p:spPr>
        <p:txBody>
          <a:bodyPr wrap="non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1">
                <a:ln>
                  <a:noFill/>
                </a:ln>
                <a:solidFill>
                  <a:schemeClr val="accent6"/>
                </a:solidFill>
                <a:effectLst/>
                <a:uLnTx/>
                <a:uFillTx/>
                <a:latin typeface="Arial Bold" pitchFamily="34" charset="0"/>
                <a:ea typeface="Arial Bold" pitchFamily="34" charset="-122"/>
                <a:cs typeface="Arial Bold" pitchFamily="34" charset="-120"/>
              </a:rPr>
              <a:t>AI-powered Industry Digitalization</a:t>
            </a:r>
            <a:endParaRPr kumimoji="0" lang="en-US" sz="1200" b="1" i="0" u="none" strike="noStrike" kern="1200" cap="none" spc="0" normalizeH="0" baseline="0" noProof="1">
              <a:ln>
                <a:noFill/>
              </a:ln>
              <a:solidFill>
                <a:schemeClr val="accent6"/>
              </a:solidFill>
              <a:effectLst/>
              <a:uLnTx/>
              <a:uFillTx/>
              <a:latin typeface="Arial" panose="020B0604020202020204"/>
              <a:ea typeface="+mn-ea"/>
              <a:cs typeface="+mn-cs"/>
            </a:endParaRPr>
          </a:p>
        </p:txBody>
      </p:sp>
      <p:pic>
        <p:nvPicPr>
          <p:cNvPr id="22" name="Graphic 21">
            <a:extLst>
              <a:ext uri="{FF2B5EF4-FFF2-40B4-BE49-F238E27FC236}">
                <a16:creationId xmlns:a16="http://schemas.microsoft.com/office/drawing/2014/main" id="{80A89C07-499F-6CC5-A522-A77A6DEE12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9122" y="3161159"/>
            <a:ext cx="3452299" cy="3001568"/>
          </a:xfrm>
          <a:prstGeom prst="rect">
            <a:avLst/>
          </a:prstGeom>
        </p:spPr>
      </p:pic>
      <p:sp>
        <p:nvSpPr>
          <p:cNvPr id="2" name="These areas of convergence in our expertise and client needs are built on 20 years of foundational experience in building software and partnering with our clients on their digital transformation journey">
            <a:extLst>
              <a:ext uri="{FF2B5EF4-FFF2-40B4-BE49-F238E27FC236}">
                <a16:creationId xmlns:a16="http://schemas.microsoft.com/office/drawing/2014/main" id="{DD3B22DE-AA07-7D30-98A6-510780FCC7B8}"/>
              </a:ext>
            </a:extLst>
          </p:cNvPr>
          <p:cNvSpPr/>
          <p:nvPr/>
        </p:nvSpPr>
        <p:spPr>
          <a:xfrm>
            <a:off x="6959600" y="1687570"/>
            <a:ext cx="4832349" cy="647700"/>
          </a:xfrm>
          <a:prstGeom prst="rect">
            <a:avLst/>
          </a:prstGeom>
          <a:noFill/>
          <a:ln/>
        </p:spPr>
        <p:txBody>
          <a:bodyPr wrap="square" lIns="0" tIns="0" rIns="0" bIns="0" rtlCol="0" anchor="t"/>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1">
                <a:ln>
                  <a:noFill/>
                </a:ln>
                <a:solidFill>
                  <a:schemeClr val="accent6"/>
                </a:solidFill>
                <a:effectLst/>
                <a:uLnTx/>
                <a:uFillTx/>
                <a:latin typeface="Arial Bold"/>
                <a:ea typeface="Arial Bold" pitchFamily="34" charset="-122"/>
                <a:cs typeface="Arial Bold"/>
              </a:rPr>
              <a:t>These areas of convergence in our expertise and client needs are built on 20+ years of foundational experience building software and partnering with our clients on their digital transformation journey.</a:t>
            </a:r>
            <a:endParaRPr kumimoji="0" lang="en-US" sz="1200" b="0" i="0" u="none" strike="noStrike" kern="1200" cap="none" spc="0" normalizeH="0" baseline="0" noProof="1">
              <a:ln>
                <a:noFill/>
              </a:ln>
              <a:solidFill>
                <a:schemeClr val="accent6"/>
              </a:solidFill>
              <a:effectLst/>
              <a:uLnTx/>
              <a:uFillTx/>
              <a:latin typeface="Arial Bold"/>
              <a:ea typeface="+mn-ea"/>
              <a:cs typeface="Arial Bold"/>
            </a:endParaRPr>
          </a:p>
        </p:txBody>
      </p:sp>
      <p:sp>
        <p:nvSpPr>
          <p:cNvPr id="3" name="Prostokąt zaokrąglony 34">
            <a:extLst>
              <a:ext uri="{FF2B5EF4-FFF2-40B4-BE49-F238E27FC236}">
                <a16:creationId xmlns:a16="http://schemas.microsoft.com/office/drawing/2014/main" id="{6D951DD0-2064-FA8B-8ECD-F19EB60E020C}"/>
              </a:ext>
            </a:extLst>
          </p:cNvPr>
          <p:cNvSpPr/>
          <p:nvPr/>
        </p:nvSpPr>
        <p:spPr>
          <a:xfrm>
            <a:off x="6959600" y="4850644"/>
            <a:ext cx="4822564" cy="1425485"/>
          </a:xfrm>
          <a:prstGeom prst="roundRect">
            <a:avLst>
              <a:gd name="adj" fmla="val 5787"/>
            </a:avLst>
          </a:prstGeom>
          <a:solidFill>
            <a:srgbClr val="491E47"/>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4" name="Partner Ecosystem">
            <a:extLst>
              <a:ext uri="{FF2B5EF4-FFF2-40B4-BE49-F238E27FC236}">
                <a16:creationId xmlns:a16="http://schemas.microsoft.com/office/drawing/2014/main" id="{21D07CBF-62EE-753A-4E70-186BB0847432}"/>
              </a:ext>
            </a:extLst>
          </p:cNvPr>
          <p:cNvSpPr/>
          <p:nvPr/>
        </p:nvSpPr>
        <p:spPr>
          <a:xfrm>
            <a:off x="7177570" y="5038972"/>
            <a:ext cx="4422194" cy="211699"/>
          </a:xfrm>
          <a:prstGeom prst="rect">
            <a:avLst/>
          </a:prstGeom>
          <a:noFill/>
          <a:ln/>
        </p:spPr>
        <p:txBody>
          <a:bodyPr wrap="square" lIns="0" tIns="0" rIns="0" bIns="0" rtlCol="0" anchor="t"/>
          <a:lstStyle/>
          <a:p>
            <a:pPr marL="0" marR="0" lvl="0" indent="0" algn="l" defTabSz="914446" rtl="0" eaLnBrk="1" fontAlgn="auto" latinLnBrk="0" hangingPunct="1">
              <a:lnSpc>
                <a:spcPts val="1700"/>
              </a:lnSpc>
              <a:spcBef>
                <a:spcPts val="0"/>
              </a:spcBef>
              <a:spcAft>
                <a:spcPts val="0"/>
              </a:spcAft>
              <a:buClrTx/>
              <a:buSzTx/>
              <a:buFontTx/>
              <a:buNone/>
              <a:tabLst/>
              <a:defRPr/>
            </a:pPr>
            <a:r>
              <a:rPr kumimoji="0" lang="en-US" sz="1067" b="1" i="0" u="none" strike="noStrike" kern="1200" cap="none" spc="0" normalizeH="0" baseline="0" noProof="1">
                <a:ln>
                  <a:noFill/>
                </a:ln>
                <a:solidFill>
                  <a:srgbClr val="FFFFFF"/>
                </a:solidFill>
                <a:effectLst/>
                <a:uLnTx/>
                <a:uFillTx/>
                <a:latin typeface="Arial" panose="020B0604020202020204"/>
                <a:ea typeface="Arial Bold" pitchFamily="34" charset="-122"/>
                <a:cs typeface="Arial Bold" pitchFamily="34" charset="-120"/>
              </a:rPr>
              <a:t>Partner Ecosystem</a:t>
            </a:r>
            <a:endParaRPr kumimoji="0" lang="en-US" sz="1067" b="1"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5" name="AWS Microsoft Google GitHub">
            <a:extLst>
              <a:ext uri="{FF2B5EF4-FFF2-40B4-BE49-F238E27FC236}">
                <a16:creationId xmlns:a16="http://schemas.microsoft.com/office/drawing/2014/main" id="{0E6EA17E-A8EC-3056-D79E-7F4A65767D5E}"/>
              </a:ext>
            </a:extLst>
          </p:cNvPr>
          <p:cNvSpPr/>
          <p:nvPr/>
        </p:nvSpPr>
        <p:spPr>
          <a:xfrm>
            <a:off x="7177572" y="5421627"/>
            <a:ext cx="1153100" cy="8636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AWS</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Regular" pitchFamily="34" charset="-120"/>
              </a:rPr>
              <a:t>Microsoft</a:t>
            </a:r>
            <a:endPar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Regular" pitchFamily="34" charset="-120"/>
              </a:rPr>
              <a:t>Google</a:t>
            </a:r>
            <a:endPar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Regular" pitchFamily="34" charset="-120"/>
              </a:rPr>
              <a:t>GitHub</a:t>
            </a:r>
            <a:endPar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endParaRPr>
          </a:p>
        </p:txBody>
      </p:sp>
      <p:sp>
        <p:nvSpPr>
          <p:cNvPr id="6" name="OutSystems Appian Mendix Salesforce">
            <a:extLst>
              <a:ext uri="{FF2B5EF4-FFF2-40B4-BE49-F238E27FC236}">
                <a16:creationId xmlns:a16="http://schemas.microsoft.com/office/drawing/2014/main" id="{DDE2AED8-C65C-29AF-2824-8D4BAA893E01}"/>
              </a:ext>
            </a:extLst>
          </p:cNvPr>
          <p:cNvSpPr/>
          <p:nvPr/>
        </p:nvSpPr>
        <p:spPr>
          <a:xfrm>
            <a:off x="8198247" y="5421627"/>
            <a:ext cx="1153100" cy="8636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OutSystems</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Appian</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Mendix</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Salesforce</a:t>
            </a:r>
          </a:p>
        </p:txBody>
      </p:sp>
      <p:sp>
        <p:nvSpPr>
          <p:cNvPr id="7" name="DataBricks ThoughtMachine UIPath Atlassian">
            <a:extLst>
              <a:ext uri="{FF2B5EF4-FFF2-40B4-BE49-F238E27FC236}">
                <a16:creationId xmlns:a16="http://schemas.microsoft.com/office/drawing/2014/main" id="{3C760DE6-B416-FD9E-9C26-93320B48971C}"/>
              </a:ext>
            </a:extLst>
          </p:cNvPr>
          <p:cNvSpPr/>
          <p:nvPr/>
        </p:nvSpPr>
        <p:spPr>
          <a:xfrm>
            <a:off x="9440203" y="5421627"/>
            <a:ext cx="1153100" cy="8636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DataBricks</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ThoughtMachine</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Regular" pitchFamily="34" charset="-120"/>
              </a:rPr>
              <a:t>UIPath</a:t>
            </a:r>
            <a:endPar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pitchFamily="34" charset="-122"/>
                <a:cs typeface="Arial Regular" pitchFamily="34" charset="-120"/>
              </a:rPr>
              <a:t>Atlassian</a:t>
            </a:r>
            <a:endParaRPr kumimoji="0" lang="en-US" sz="1050" b="0" i="0" u="none" strike="noStrike" kern="1200" cap="none" spc="0" normalizeH="0" baseline="0" noProof="1">
              <a:ln>
                <a:noFill/>
              </a:ln>
              <a:solidFill>
                <a:srgbClr val="FFFFFF"/>
              </a:solidFill>
              <a:effectLst/>
              <a:uLnTx/>
              <a:uFillTx/>
              <a:latin typeface="Arial" panose="020B0604020202020204"/>
              <a:ea typeface="+mn-ea"/>
              <a:cs typeface="Arial" panose="020B0604020202020204"/>
            </a:endParaRPr>
          </a:p>
        </p:txBody>
      </p:sp>
      <p:sp>
        <p:nvSpPr>
          <p:cNvPr id="9" name="DataStax Snowflake Mindware Backbase">
            <a:extLst>
              <a:ext uri="{FF2B5EF4-FFF2-40B4-BE49-F238E27FC236}">
                <a16:creationId xmlns:a16="http://schemas.microsoft.com/office/drawing/2014/main" id="{1A2526AF-C848-89D1-126A-6EC05219B683}"/>
              </a:ext>
            </a:extLst>
          </p:cNvPr>
          <p:cNvSpPr/>
          <p:nvPr/>
        </p:nvSpPr>
        <p:spPr>
          <a:xfrm>
            <a:off x="10842097" y="5421627"/>
            <a:ext cx="1153100" cy="8636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DataStax</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Snowflake</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Mindware</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rPr>
              <a:t>Backbase</a:t>
            </a:r>
          </a:p>
        </p:txBody>
      </p:sp>
      <p:sp>
        <p:nvSpPr>
          <p:cNvPr id="10" name="Prostokąt zaokrąglony 43">
            <a:extLst>
              <a:ext uri="{FF2B5EF4-FFF2-40B4-BE49-F238E27FC236}">
                <a16:creationId xmlns:a16="http://schemas.microsoft.com/office/drawing/2014/main" id="{396FD778-7DEE-F4EA-04F0-CCC26E852189}"/>
              </a:ext>
            </a:extLst>
          </p:cNvPr>
          <p:cNvSpPr/>
          <p:nvPr/>
        </p:nvSpPr>
        <p:spPr>
          <a:xfrm>
            <a:off x="6969386" y="2481055"/>
            <a:ext cx="2870998" cy="2323419"/>
          </a:xfrm>
          <a:prstGeom prst="roundRect">
            <a:avLst>
              <a:gd name="adj" fmla="val 2872"/>
            </a:avLst>
          </a:prstGeom>
          <a:solidFill>
            <a:srgbClr val="9D92B2"/>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595959"/>
              </a:solidFill>
              <a:effectLst/>
              <a:uLnTx/>
              <a:uFillTx/>
              <a:latin typeface="Arial" panose="020B0604020202020204"/>
              <a:ea typeface="+mn-ea"/>
              <a:cs typeface="+mn-cs"/>
            </a:endParaRPr>
          </a:p>
        </p:txBody>
      </p:sp>
      <p:sp>
        <p:nvSpPr>
          <p:cNvPr id="11" name="Partner Ecosystem">
            <a:extLst>
              <a:ext uri="{FF2B5EF4-FFF2-40B4-BE49-F238E27FC236}">
                <a16:creationId xmlns:a16="http://schemas.microsoft.com/office/drawing/2014/main" id="{A11207EA-FCD8-F6EC-097F-8276DAEACC54}"/>
              </a:ext>
            </a:extLst>
          </p:cNvPr>
          <p:cNvSpPr/>
          <p:nvPr/>
        </p:nvSpPr>
        <p:spPr>
          <a:xfrm>
            <a:off x="7140250" y="2609471"/>
            <a:ext cx="2607271" cy="348217"/>
          </a:xfrm>
          <a:prstGeom prst="rect">
            <a:avLst/>
          </a:prstGeom>
          <a:noFill/>
          <a:ln/>
        </p:spPr>
        <p:txBody>
          <a:bodyPr wrap="square" lIns="0" tIns="0" rIns="0" bIns="0" rtlCol="0" anchor="t"/>
          <a:lstStyle/>
          <a:p>
            <a:pPr marL="0" marR="0" lvl="0" indent="0" algn="l" defTabSz="914446" rtl="0" eaLnBrk="1" fontAlgn="auto" latinLnBrk="0" hangingPunct="1">
              <a:lnSpc>
                <a:spcPts val="1700"/>
              </a:lnSpc>
              <a:spcBef>
                <a:spcPts val="0"/>
              </a:spcBef>
              <a:spcAft>
                <a:spcPts val="0"/>
              </a:spcAft>
              <a:buClrTx/>
              <a:buSzTx/>
              <a:buFontTx/>
              <a:buNone/>
              <a:tabLst/>
              <a:defRPr/>
            </a:pPr>
            <a:r>
              <a:rPr kumimoji="0" lang="en-US" sz="1067" b="1" i="0" u="none" strike="noStrike" kern="1200" cap="none" spc="0" normalizeH="0" baseline="0" noProof="1">
                <a:ln>
                  <a:noFill/>
                </a:ln>
                <a:solidFill>
                  <a:srgbClr val="FFFFFF"/>
                </a:solidFill>
                <a:effectLst/>
                <a:uLnTx/>
                <a:uFillTx/>
                <a:latin typeface="Arial Bold" pitchFamily="34" charset="0"/>
                <a:ea typeface="Arial Bold" pitchFamily="34" charset="-122"/>
                <a:cs typeface="Arial Bold" pitchFamily="34" charset="-120"/>
              </a:rPr>
              <a:t>Foundational Competencies</a:t>
            </a:r>
            <a:endParaRPr kumimoji="0" lang="en-US" sz="1067" b="1"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12" name="Digital Strategy  CX Agile Ways of Working Enterprise Architecture Product Management Technology Strategy Change Management Design Thinking">
            <a:extLst>
              <a:ext uri="{FF2B5EF4-FFF2-40B4-BE49-F238E27FC236}">
                <a16:creationId xmlns:a16="http://schemas.microsoft.com/office/drawing/2014/main" id="{8FCFB163-D7A5-E6F7-4671-6FFEC972B169}"/>
              </a:ext>
            </a:extLst>
          </p:cNvPr>
          <p:cNvSpPr/>
          <p:nvPr/>
        </p:nvSpPr>
        <p:spPr>
          <a:xfrm>
            <a:off x="7160237" y="2975197"/>
            <a:ext cx="2587284" cy="15113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pitchFamily="34" charset="0"/>
                <a:ea typeface="Arial Regular"/>
                <a:cs typeface="Arial Regular" pitchFamily="34" charset="-120"/>
              </a:rPr>
              <a:t>Digital Strategy &amp; CX</a:t>
            </a:r>
            <a:endParaRPr kumimoji="0" lang="en-US" sz="1050" b="0" i="0" u="none" strike="noStrike" kern="1200" cap="none" spc="0" normalizeH="0" baseline="0" noProof="1">
              <a:ln>
                <a:noFill/>
              </a:ln>
              <a:solidFill>
                <a:srgbClr val="FFFFFF"/>
              </a:solidFill>
              <a:effectLst/>
              <a:uLnTx/>
              <a:uFillTx/>
              <a:latin typeface="Arial" panose="020B0604020202020204"/>
              <a:ea typeface="Arial Regular"/>
              <a:cs typeface="Arial" panose="020B0604020202020204"/>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Agile Ways of Working</a:t>
            </a:r>
            <a:endParaRPr kumimoji="0" lang="en-US" sz="1050" b="0" i="0" u="none" strike="noStrike" kern="1200" cap="none" spc="0" normalizeH="0" baseline="0" noProof="1">
              <a:ln>
                <a:noFill/>
              </a:ln>
              <a:solidFill>
                <a:srgbClr val="FFFFFF"/>
              </a:solidFill>
              <a:effectLst/>
              <a:uLnTx/>
              <a:uFillTx/>
              <a:latin typeface="Arial Regular"/>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Enterprise Architecture</a:t>
            </a:r>
            <a:endParaRPr kumimoji="0" lang="en-US" sz="1050" b="0" i="0" u="none" strike="noStrike" kern="1200" cap="none" spc="0" normalizeH="0" baseline="0" noProof="1">
              <a:ln>
                <a:noFill/>
              </a:ln>
              <a:solidFill>
                <a:srgbClr val="FFFFFF"/>
              </a:solidFill>
              <a:effectLst/>
              <a:uLnTx/>
              <a:uFillTx/>
              <a:latin typeface="Arial Regular"/>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Product Management</a:t>
            </a:r>
            <a:endParaRPr kumimoji="0" lang="en-US" sz="1050" b="0" i="0" u="none" strike="noStrike" kern="1200" cap="none" spc="0" normalizeH="0" baseline="0" noProof="1">
              <a:ln>
                <a:noFill/>
              </a:ln>
              <a:solidFill>
                <a:srgbClr val="FFFFFF"/>
              </a:solidFill>
              <a:effectLst/>
              <a:uLnTx/>
              <a:uFillTx/>
              <a:latin typeface="Arial Regular"/>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Technology Strategy</a:t>
            </a:r>
            <a:endParaRPr kumimoji="0" lang="en-US" sz="1050" b="0" i="0" u="none" strike="noStrike" kern="1200" cap="none" spc="0" normalizeH="0" baseline="0" noProof="1">
              <a:ln>
                <a:noFill/>
              </a:ln>
              <a:solidFill>
                <a:srgbClr val="FFFFFF"/>
              </a:solidFill>
              <a:effectLst/>
              <a:uLnTx/>
              <a:uFillTx/>
              <a:latin typeface="Arial Regular"/>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Change Management</a:t>
            </a:r>
            <a:endParaRPr kumimoji="0" lang="en-US" sz="1050" b="0" i="0" u="none" strike="noStrike" kern="1200" cap="none" spc="0" normalizeH="0" baseline="0" noProof="1">
              <a:ln>
                <a:noFill/>
              </a:ln>
              <a:solidFill>
                <a:srgbClr val="FFFFFF"/>
              </a:solidFill>
              <a:effectLst/>
              <a:uLnTx/>
              <a:uFillTx/>
              <a:latin typeface="Arial Regular"/>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Design</a:t>
            </a:r>
            <a:r>
              <a:rPr kumimoji="0" lang="en-US" sz="1050" b="0" i="0" u="none" strike="noStrike" kern="1200" cap="none" spc="0" normalizeH="0" baseline="0" noProof="1">
                <a:ln>
                  <a:noFill/>
                </a:ln>
                <a:solidFill>
                  <a:srgbClr val="FFFFFF"/>
                </a:solidFill>
                <a:effectLst/>
                <a:uLnTx/>
                <a:uFillTx/>
                <a:latin typeface="Arial Regular"/>
                <a:ea typeface="Arial Regular" pitchFamily="34" charset="-122"/>
                <a:cs typeface="Arial Regular" pitchFamily="34" charset="-120"/>
              </a:rPr>
              <a:t> Thinking</a:t>
            </a:r>
            <a:endParaRPr kumimoji="0" lang="en-US" sz="1050" b="0" i="0" u="none" strike="noStrike" kern="1200" cap="none" spc="0" normalizeH="0" baseline="0" noProof="1">
              <a:ln>
                <a:noFill/>
              </a:ln>
              <a:solidFill>
                <a:srgbClr val="FFFFFF"/>
              </a:solidFill>
              <a:effectLst/>
              <a:uLnTx/>
              <a:uFillTx/>
              <a:latin typeface="Arial Regular"/>
              <a:ea typeface="+mn-ea"/>
              <a:cs typeface="Arial"/>
            </a:endParaRPr>
          </a:p>
        </p:txBody>
      </p:sp>
      <p:sp>
        <p:nvSpPr>
          <p:cNvPr id="13" name="Prostokąt zaokrąglony 47">
            <a:extLst>
              <a:ext uri="{FF2B5EF4-FFF2-40B4-BE49-F238E27FC236}">
                <a16:creationId xmlns:a16="http://schemas.microsoft.com/office/drawing/2014/main" id="{14B8785A-CEB4-12EE-85C8-5C44D96A6322}"/>
              </a:ext>
            </a:extLst>
          </p:cNvPr>
          <p:cNvSpPr/>
          <p:nvPr/>
        </p:nvSpPr>
        <p:spPr>
          <a:xfrm>
            <a:off x="9884364" y="3667761"/>
            <a:ext cx="1901410" cy="1136713"/>
          </a:xfrm>
          <a:prstGeom prst="roundRect">
            <a:avLst>
              <a:gd name="adj" fmla="val 5107"/>
            </a:avLst>
          </a:prstGeom>
          <a:solidFill>
            <a:srgbClr val="130025"/>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14" name="Prostokąt zaokrąglony 48">
            <a:extLst>
              <a:ext uri="{FF2B5EF4-FFF2-40B4-BE49-F238E27FC236}">
                <a16:creationId xmlns:a16="http://schemas.microsoft.com/office/drawing/2014/main" id="{A5DEBCAC-83A7-5E9F-6F8B-5BA4514FD106}"/>
              </a:ext>
            </a:extLst>
          </p:cNvPr>
          <p:cNvSpPr/>
          <p:nvPr/>
        </p:nvSpPr>
        <p:spPr>
          <a:xfrm>
            <a:off x="9880044" y="2481054"/>
            <a:ext cx="1901410" cy="1127012"/>
          </a:xfrm>
          <a:prstGeom prst="roundRect">
            <a:avLst>
              <a:gd name="adj" fmla="val 5126"/>
            </a:avLst>
          </a:prstGeom>
          <a:solidFill>
            <a:srgbClr val="B75EB7"/>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595959"/>
              </a:solidFill>
              <a:effectLst/>
              <a:uLnTx/>
              <a:uFillTx/>
              <a:latin typeface="Arial" panose="020B0604020202020204"/>
              <a:ea typeface="+mn-ea"/>
              <a:cs typeface="+mn-cs"/>
            </a:endParaRPr>
          </a:p>
        </p:txBody>
      </p:sp>
      <p:sp>
        <p:nvSpPr>
          <p:cNvPr id="15" name="Industry Enterprise Function Technology">
            <a:extLst>
              <a:ext uri="{FF2B5EF4-FFF2-40B4-BE49-F238E27FC236}">
                <a16:creationId xmlns:a16="http://schemas.microsoft.com/office/drawing/2014/main" id="{44D0CA5E-2F86-1B88-F814-851318BA99D5}"/>
              </a:ext>
            </a:extLst>
          </p:cNvPr>
          <p:cNvSpPr/>
          <p:nvPr/>
        </p:nvSpPr>
        <p:spPr>
          <a:xfrm>
            <a:off x="10031236" y="2967901"/>
            <a:ext cx="1635704" cy="6477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Industry</a:t>
            </a:r>
            <a:endParaRPr kumimoji="0" lang="en-US" sz="1050" b="0" i="0" u="none" strike="noStrike" kern="1200" cap="none" spc="0" normalizeH="0" baseline="0" noProof="1">
              <a:ln>
                <a:noFill/>
              </a:ln>
              <a:solidFill>
                <a:srgbClr val="FFFFFF"/>
              </a:solidFill>
              <a:effectLst/>
              <a:uLnTx/>
              <a:uFillTx/>
              <a:latin typeface="Arial"/>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Enterprise Function</a:t>
            </a:r>
            <a:endParaRPr kumimoji="0" lang="en-US" sz="1050" b="0" i="0" u="none" strike="noStrike" kern="1200" cap="none" spc="0" normalizeH="0" baseline="0" noProof="1">
              <a:ln>
                <a:noFill/>
              </a:ln>
              <a:solidFill>
                <a:srgbClr val="FFFFFF"/>
              </a:solidFill>
              <a:effectLst/>
              <a:uLnTx/>
              <a:uFillTx/>
              <a:latin typeface="Arial"/>
              <a:ea typeface="Arial Regular"/>
              <a:cs typeface="Arial"/>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Regular" pitchFamily="34" charset="-120"/>
              </a:rPr>
              <a:t>Technology</a:t>
            </a:r>
            <a:endParaRPr kumimoji="0" lang="en-US" sz="1050" b="0" i="0" u="none" strike="noStrike" kern="1200" cap="none" spc="0" normalizeH="0" baseline="0" noProof="1">
              <a:ln>
                <a:noFill/>
              </a:ln>
              <a:solidFill>
                <a:srgbClr val="FFFFFF"/>
              </a:solidFill>
              <a:effectLst/>
              <a:uLnTx/>
              <a:uFillTx/>
              <a:latin typeface="Arial"/>
              <a:ea typeface="Arial Regular"/>
              <a:cs typeface="Arial"/>
            </a:endParaRPr>
          </a:p>
        </p:txBody>
      </p:sp>
      <p:sp>
        <p:nvSpPr>
          <p:cNvPr id="16" name="Academy Xccelerated University">
            <a:extLst>
              <a:ext uri="{FF2B5EF4-FFF2-40B4-BE49-F238E27FC236}">
                <a16:creationId xmlns:a16="http://schemas.microsoft.com/office/drawing/2014/main" id="{C642ECE9-3F76-BAEE-31F0-8F740914A213}"/>
              </a:ext>
            </a:extLst>
          </p:cNvPr>
          <p:cNvSpPr/>
          <p:nvPr/>
        </p:nvSpPr>
        <p:spPr>
          <a:xfrm>
            <a:off x="10031236" y="4144769"/>
            <a:ext cx="1635704" cy="647700"/>
          </a:xfrm>
          <a:prstGeom prst="rect">
            <a:avLst/>
          </a:prstGeom>
          <a:noFill/>
          <a:ln/>
        </p:spPr>
        <p:txBody>
          <a:bodyPr wrap="square" lIns="0" tIns="0" rIns="0" bIns="0" rtlCol="0" anchor="t"/>
          <a:lstStyle/>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Arial Regular"/>
                <a:cs typeface="Arial" panose="020B0604020202020204"/>
              </a:rPr>
              <a:t>Academy</a:t>
            </a: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mn-ea"/>
                <a:cs typeface="Arial" panose="020B0604020202020204"/>
              </a:rPr>
              <a:t>Xccelerated</a:t>
            </a:r>
            <a:endParaRPr kumimoji="0" lang="en-US" sz="1050" b="0" i="0" u="none" strike="noStrike" kern="1200" cap="none" spc="0" normalizeH="0" baseline="0" noProof="1">
              <a:ln>
                <a:noFill/>
              </a:ln>
              <a:solidFill>
                <a:srgbClr val="FFFFFF"/>
              </a:solidFill>
              <a:effectLst/>
              <a:uLnTx/>
              <a:uFillTx/>
              <a:latin typeface="Arial"/>
              <a:ea typeface="+mn-ea"/>
              <a:cs typeface="Arial" panose="020B0604020202020204"/>
            </a:endParaRPr>
          </a:p>
          <a:p>
            <a:pPr marL="152408" marR="0" lvl="0" indent="-152408" algn="l" defTabSz="914446" rtl="0" eaLnBrk="1" fontAlgn="auto" latinLnBrk="0" hangingPunct="1">
              <a:lnSpc>
                <a:spcPct val="100000"/>
              </a:lnSpc>
              <a:spcBef>
                <a:spcPts val="0"/>
              </a:spcBef>
              <a:spcAft>
                <a:spcPts val="0"/>
              </a:spcAft>
              <a:buClrTx/>
              <a:buSzPct val="100000"/>
              <a:buFontTx/>
              <a:buChar char="•"/>
              <a:tabLst/>
              <a:defRPr/>
            </a:pPr>
            <a:r>
              <a:rPr kumimoji="0" lang="en-US" sz="1050" b="0" i="0" u="none" strike="noStrike" kern="1200" cap="none" spc="0" normalizeH="0" baseline="0" noProof="1">
                <a:ln>
                  <a:noFill/>
                </a:ln>
                <a:solidFill>
                  <a:srgbClr val="FFFFFF"/>
                </a:solidFill>
                <a:effectLst/>
                <a:uLnTx/>
                <a:uFillTx/>
                <a:latin typeface="Arial Regular"/>
                <a:ea typeface="+mn-ea"/>
                <a:cs typeface="Arial" panose="020B0604020202020204"/>
              </a:rPr>
              <a:t>University</a:t>
            </a:r>
            <a:endParaRPr kumimoji="0" lang="en-US" sz="1050" b="0" i="0" u="none" strike="noStrike" kern="1200" cap="none" spc="0" normalizeH="0" baseline="0" noProof="1">
              <a:ln>
                <a:noFill/>
              </a:ln>
              <a:solidFill>
                <a:srgbClr val="FFFFFF"/>
              </a:solidFill>
              <a:effectLst/>
              <a:uLnTx/>
              <a:uFillTx/>
              <a:latin typeface="Arial"/>
              <a:ea typeface="+mn-ea"/>
              <a:cs typeface="Arial" panose="020B0604020202020204"/>
            </a:endParaRPr>
          </a:p>
        </p:txBody>
      </p:sp>
      <p:sp>
        <p:nvSpPr>
          <p:cNvPr id="17" name="Partner Ecosystem">
            <a:extLst>
              <a:ext uri="{FF2B5EF4-FFF2-40B4-BE49-F238E27FC236}">
                <a16:creationId xmlns:a16="http://schemas.microsoft.com/office/drawing/2014/main" id="{41C2FC23-89E8-B10F-0D76-B4CE3AA33DAD}"/>
              </a:ext>
            </a:extLst>
          </p:cNvPr>
          <p:cNvSpPr/>
          <p:nvPr/>
        </p:nvSpPr>
        <p:spPr>
          <a:xfrm>
            <a:off x="10011248" y="3781074"/>
            <a:ext cx="1655693" cy="348217"/>
          </a:xfrm>
          <a:prstGeom prst="rect">
            <a:avLst/>
          </a:prstGeom>
          <a:noFill/>
          <a:ln/>
        </p:spPr>
        <p:txBody>
          <a:bodyPr wrap="square" lIns="0" tIns="0" rIns="0" bIns="0" rtlCol="0" anchor="t"/>
          <a:lstStyle/>
          <a:p>
            <a:pPr marL="0" marR="0" lvl="0" indent="0" algn="l" defTabSz="914446" rtl="0" eaLnBrk="1" fontAlgn="auto" latinLnBrk="0" hangingPunct="1">
              <a:lnSpc>
                <a:spcPts val="1700"/>
              </a:lnSpc>
              <a:spcBef>
                <a:spcPts val="0"/>
              </a:spcBef>
              <a:spcAft>
                <a:spcPts val="0"/>
              </a:spcAft>
              <a:buClrTx/>
              <a:buSzTx/>
              <a:buFontTx/>
              <a:buNone/>
              <a:tabLst/>
              <a:defRPr/>
            </a:pPr>
            <a:r>
              <a:rPr kumimoji="0" lang="en-US" sz="1067" b="1" i="0" u="none" strike="noStrike" kern="1200" cap="none" spc="0" normalizeH="0" baseline="0" noProof="1">
                <a:ln>
                  <a:noFill/>
                </a:ln>
                <a:solidFill>
                  <a:srgbClr val="FFFFFF"/>
                </a:solidFill>
                <a:effectLst/>
                <a:uLnTx/>
                <a:uFillTx/>
                <a:latin typeface="Arial Bold" pitchFamily="34" charset="0"/>
                <a:ea typeface="Arial Bold" pitchFamily="34" charset="-122"/>
                <a:cs typeface="Arial Bold" pitchFamily="34" charset="-120"/>
              </a:rPr>
              <a:t>Upskilling &amp; Staffing</a:t>
            </a:r>
            <a:endParaRPr kumimoji="0" lang="en-US" sz="1067" b="1" i="0" u="none" strike="noStrike" kern="1200" cap="none" spc="0" normalizeH="0" baseline="0" noProof="1">
              <a:ln>
                <a:noFill/>
              </a:ln>
              <a:solidFill>
                <a:srgbClr val="FFFFFF"/>
              </a:solidFill>
              <a:effectLst/>
              <a:uLnTx/>
              <a:uFillTx/>
              <a:latin typeface="Arial" panose="020B0604020202020204"/>
              <a:ea typeface="+mn-ea"/>
              <a:cs typeface="+mn-cs"/>
            </a:endParaRPr>
          </a:p>
        </p:txBody>
      </p:sp>
      <p:pic>
        <p:nvPicPr>
          <p:cNvPr id="20" name="Obraz 19">
            <a:extLst>
              <a:ext uri="{FF2B5EF4-FFF2-40B4-BE49-F238E27FC236}">
                <a16:creationId xmlns:a16="http://schemas.microsoft.com/office/drawing/2014/main" id="{F9980CFA-B752-A2FA-CE05-DCEEBBD8D27E}"/>
              </a:ext>
            </a:extLst>
          </p:cNvPr>
          <p:cNvPicPr>
            <a:picLocks noChangeAspect="1"/>
          </p:cNvPicPr>
          <p:nvPr/>
        </p:nvPicPr>
        <p:blipFill>
          <a:blip r:embed="rId6"/>
          <a:stretch>
            <a:fillRect/>
          </a:stretch>
        </p:blipFill>
        <p:spPr>
          <a:xfrm>
            <a:off x="406400" y="958488"/>
            <a:ext cx="5181600" cy="327834"/>
          </a:xfrm>
          <a:prstGeom prst="rect">
            <a:avLst/>
          </a:prstGeom>
        </p:spPr>
      </p:pic>
    </p:spTree>
    <p:extLst>
      <p:ext uri="{BB962C8B-B14F-4D97-AF65-F5344CB8AC3E}">
        <p14:creationId xmlns:p14="http://schemas.microsoft.com/office/powerpoint/2010/main" val="3675373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9C70-991D-63F3-C079-894FC04353A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3E40791-2F4E-D3E3-DB45-B6AA6C7C318A}"/>
              </a:ext>
            </a:extLst>
          </p:cNvPr>
          <p:cNvSpPr>
            <a:spLocks noGrp="1"/>
          </p:cNvSpPr>
          <p:nvPr>
            <p:ph type="body" idx="106"/>
          </p:nvPr>
        </p:nvSpPr>
        <p:spPr>
          <a:xfrm>
            <a:off x="406400" y="408053"/>
            <a:ext cx="7513108" cy="165772"/>
          </a:xfrm>
        </p:spPr>
        <p:txBody>
          <a:bodyPr/>
          <a:lstStyle/>
          <a:p>
            <a:r>
              <a:rPr lang="en-US" noProof="1">
                <a:solidFill>
                  <a:srgbClr val="595959"/>
                </a:solidFill>
                <a:latin typeface="Arial"/>
                <a:cs typeface="Arial"/>
              </a:rPr>
              <a:t>Xebia response to Zeppelin Power EMS RFP</a:t>
            </a:r>
          </a:p>
        </p:txBody>
      </p:sp>
      <p:sp>
        <p:nvSpPr>
          <p:cNvPr id="3" name="Slide Number Placeholder 2">
            <a:extLst>
              <a:ext uri="{FF2B5EF4-FFF2-40B4-BE49-F238E27FC236}">
                <a16:creationId xmlns:a16="http://schemas.microsoft.com/office/drawing/2014/main" id="{98EDF84E-7294-CA80-B314-C67123ECEA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F56866-D47B-47B9-9D95-BB9706FB23C1}" type="slidenum">
              <a:rPr kumimoji="0" lang="en-US" sz="800" b="0" i="0" u="none" strike="noStrike" kern="1200" cap="none" spc="0" normalizeH="0" baseline="0" noProof="1" smtClean="0">
                <a:ln>
                  <a:noFill/>
                </a:ln>
                <a:solidFill>
                  <a:srgbClr val="595959"/>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1">
              <a:ln>
                <a:noFill/>
              </a:ln>
              <a:solidFill>
                <a:srgbClr val="595959"/>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5963E2CC-378C-752B-AADE-F6A7633BC8A8}"/>
              </a:ext>
            </a:extLst>
          </p:cNvPr>
          <p:cNvSpPr>
            <a:spLocks noGrp="1"/>
          </p:cNvSpPr>
          <p:nvPr>
            <p:ph type="title"/>
          </p:nvPr>
        </p:nvSpPr>
        <p:spPr>
          <a:xfrm>
            <a:off x="407459" y="919056"/>
            <a:ext cx="10784797" cy="1329595"/>
          </a:xfrm>
        </p:spPr>
        <p:txBody>
          <a:bodyPr/>
          <a:lstStyle/>
          <a:p>
            <a:r>
              <a:rPr lang="en-US" sz="3200" b="0" kern="0" noProof="1">
                <a:solidFill>
                  <a:srgbClr val="000000"/>
                </a:solidFill>
                <a:latin typeface="+mn-lt"/>
                <a:ea typeface="Suisse Int'l Regular" pitchFamily="34" charset="-122"/>
              </a:rPr>
              <a:t>At Xebia, we’ve reimagined our business to address a new AI-powered transformation agenda with our clients</a:t>
            </a:r>
            <a:br>
              <a:rPr lang="en-US" sz="3200" b="0" kern="0" noProof="1">
                <a:solidFill>
                  <a:srgbClr val="000000"/>
                </a:solidFill>
                <a:latin typeface="+mn-lt"/>
                <a:ea typeface="Suisse Int'l Regular" pitchFamily="34" charset="-122"/>
              </a:rPr>
            </a:br>
            <a:endParaRPr lang="en-US" sz="3200" b="0" kern="0" noProof="1">
              <a:solidFill>
                <a:srgbClr val="000000"/>
              </a:solidFill>
              <a:latin typeface="+mn-lt"/>
              <a:ea typeface="Suisse Int'l Regular" pitchFamily="34" charset="-122"/>
            </a:endParaRPr>
          </a:p>
        </p:txBody>
      </p:sp>
      <p:sp>
        <p:nvSpPr>
          <p:cNvPr id="5" name="Footer Placeholder 4">
            <a:extLst>
              <a:ext uri="{FF2B5EF4-FFF2-40B4-BE49-F238E27FC236}">
                <a16:creationId xmlns:a16="http://schemas.microsoft.com/office/drawing/2014/main" id="{AF3068C6-2D76-8E75-A547-E6E97A5FB27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595959"/>
                </a:solidFill>
                <a:effectLst/>
                <a:uLnTx/>
                <a:uFillTx/>
                <a:latin typeface="Arial" panose="020B0604020202020204"/>
                <a:ea typeface="+mn-ea"/>
                <a:cs typeface="+mn-cs"/>
              </a:rPr>
              <a:t>Copyright © 2025 Xebia. All rights reserved</a:t>
            </a:r>
          </a:p>
        </p:txBody>
      </p:sp>
      <p:sp>
        <p:nvSpPr>
          <p:cNvPr id="98" name="Rectangle 97">
            <a:extLst>
              <a:ext uri="{FF2B5EF4-FFF2-40B4-BE49-F238E27FC236}">
                <a16:creationId xmlns:a16="http://schemas.microsoft.com/office/drawing/2014/main" id="{72C6ECF1-6AC4-4289-C0A7-20E96CFEE795}"/>
              </a:ext>
            </a:extLst>
          </p:cNvPr>
          <p:cNvSpPr/>
          <p:nvPr/>
        </p:nvSpPr>
        <p:spPr>
          <a:xfrm>
            <a:off x="3493049" y="2906300"/>
            <a:ext cx="6502934" cy="2354113"/>
          </a:xfrm>
          <a:prstGeom prst="rect">
            <a:avLst/>
          </a:prstGeom>
          <a:solidFill>
            <a:srgbClr val="611563"/>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99" name="Right Arrow 98">
            <a:extLst>
              <a:ext uri="{FF2B5EF4-FFF2-40B4-BE49-F238E27FC236}">
                <a16:creationId xmlns:a16="http://schemas.microsoft.com/office/drawing/2014/main" id="{8DD0978E-80FC-6418-C173-7B656CA9092C}"/>
              </a:ext>
            </a:extLst>
          </p:cNvPr>
          <p:cNvSpPr/>
          <p:nvPr/>
        </p:nvSpPr>
        <p:spPr>
          <a:xfrm>
            <a:off x="1148778" y="4974288"/>
            <a:ext cx="8847204" cy="997101"/>
          </a:xfrm>
          <a:prstGeom prst="rightArrow">
            <a:avLst>
              <a:gd name="adj1" fmla="val 100000"/>
              <a:gd name="adj2" fmla="val 83732"/>
            </a:avLst>
          </a:prstGeom>
          <a:solidFill>
            <a:srgbClr val="611563"/>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wrap="none" lIns="0" rtlCol="0" anchor="ct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100" name="Right Arrow 99">
            <a:extLst>
              <a:ext uri="{FF2B5EF4-FFF2-40B4-BE49-F238E27FC236}">
                <a16:creationId xmlns:a16="http://schemas.microsoft.com/office/drawing/2014/main" id="{8062409B-9BA4-BD49-4C7C-3BE6C94265F8}"/>
              </a:ext>
            </a:extLst>
          </p:cNvPr>
          <p:cNvSpPr/>
          <p:nvPr/>
        </p:nvSpPr>
        <p:spPr>
          <a:xfrm>
            <a:off x="1148778" y="3836652"/>
            <a:ext cx="8847204" cy="997101"/>
          </a:xfrm>
          <a:prstGeom prst="rightArrow">
            <a:avLst>
              <a:gd name="adj1" fmla="val 100000"/>
              <a:gd name="adj2" fmla="val 83732"/>
            </a:avLst>
          </a:prstGeom>
          <a:solidFill>
            <a:srgbClr val="611563"/>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wrap="none" lIns="0" rtlCol="0" anchor="ct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101" name="Right Arrow 100">
            <a:extLst>
              <a:ext uri="{FF2B5EF4-FFF2-40B4-BE49-F238E27FC236}">
                <a16:creationId xmlns:a16="http://schemas.microsoft.com/office/drawing/2014/main" id="{FB3989DD-5E03-9B73-6E5A-201803565349}"/>
              </a:ext>
            </a:extLst>
          </p:cNvPr>
          <p:cNvSpPr/>
          <p:nvPr/>
        </p:nvSpPr>
        <p:spPr>
          <a:xfrm>
            <a:off x="1148778" y="2717044"/>
            <a:ext cx="8847204" cy="997101"/>
          </a:xfrm>
          <a:prstGeom prst="rightArrow">
            <a:avLst>
              <a:gd name="adj1" fmla="val 100000"/>
              <a:gd name="adj2" fmla="val 83732"/>
            </a:avLst>
          </a:prstGeom>
          <a:solidFill>
            <a:srgbClr val="611563"/>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wrap="none" lIns="0" rtlCol="0" anchor="ct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102" name="pole tekstowe 5">
            <a:extLst>
              <a:ext uri="{FF2B5EF4-FFF2-40B4-BE49-F238E27FC236}">
                <a16:creationId xmlns:a16="http://schemas.microsoft.com/office/drawing/2014/main" id="{8EAD77D8-9516-C656-7B25-4DADD5448162}"/>
              </a:ext>
            </a:extLst>
          </p:cNvPr>
          <p:cNvSpPr txBox="1"/>
          <p:nvPr/>
        </p:nvSpPr>
        <p:spPr>
          <a:xfrm>
            <a:off x="2173967" y="2334366"/>
            <a:ext cx="1571143" cy="3781173"/>
          </a:xfrm>
          <a:prstGeom prst="roundRect">
            <a:avLst>
              <a:gd name="adj" fmla="val 3179"/>
            </a:avLst>
          </a:prstGeom>
          <a:solidFill>
            <a:schemeClr val="bg1"/>
          </a:solidFill>
          <a:ln w="25400">
            <a:solidFill>
              <a:schemeClr val="accent2"/>
            </a:solid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Partner </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Ecosystem</a:t>
            </a:r>
          </a:p>
        </p:txBody>
      </p:sp>
      <p:pic>
        <p:nvPicPr>
          <p:cNvPr id="103" name="Picture 3">
            <a:extLst>
              <a:ext uri="{FF2B5EF4-FFF2-40B4-BE49-F238E27FC236}">
                <a16:creationId xmlns:a16="http://schemas.microsoft.com/office/drawing/2014/main" id="{3519EBEE-4035-FA69-42E9-6530C62C34F0}"/>
              </a:ext>
            </a:extLst>
          </p:cNvPr>
          <p:cNvPicPr>
            <a:picLocks noChangeAspect="1"/>
          </p:cNvPicPr>
          <p:nvPr/>
        </p:nvPicPr>
        <p:blipFill>
          <a:blip r:embed="rId2"/>
          <a:stretch>
            <a:fillRect/>
          </a:stretch>
        </p:blipFill>
        <p:spPr>
          <a:xfrm>
            <a:off x="2387775" y="4536423"/>
            <a:ext cx="758163" cy="131854"/>
          </a:xfrm>
          <a:prstGeom prst="rect">
            <a:avLst/>
          </a:prstGeom>
        </p:spPr>
      </p:pic>
      <p:pic>
        <p:nvPicPr>
          <p:cNvPr id="104" name="Picture 9">
            <a:extLst>
              <a:ext uri="{FF2B5EF4-FFF2-40B4-BE49-F238E27FC236}">
                <a16:creationId xmlns:a16="http://schemas.microsoft.com/office/drawing/2014/main" id="{55B53E05-B45A-4ADB-870A-D8611C449C47}"/>
              </a:ext>
            </a:extLst>
          </p:cNvPr>
          <p:cNvPicPr>
            <a:picLocks noChangeAspect="1"/>
          </p:cNvPicPr>
          <p:nvPr/>
        </p:nvPicPr>
        <p:blipFill>
          <a:blip r:embed="rId3"/>
          <a:stretch>
            <a:fillRect/>
          </a:stretch>
        </p:blipFill>
        <p:spPr>
          <a:xfrm>
            <a:off x="2387774" y="4812192"/>
            <a:ext cx="514537" cy="160793"/>
          </a:xfrm>
          <a:prstGeom prst="rect">
            <a:avLst/>
          </a:prstGeom>
        </p:spPr>
      </p:pic>
      <p:pic>
        <p:nvPicPr>
          <p:cNvPr id="105" name="Picture 11">
            <a:extLst>
              <a:ext uri="{FF2B5EF4-FFF2-40B4-BE49-F238E27FC236}">
                <a16:creationId xmlns:a16="http://schemas.microsoft.com/office/drawing/2014/main" id="{38B98069-0ADE-46C5-599B-4737F3CD32DB}"/>
              </a:ext>
            </a:extLst>
          </p:cNvPr>
          <p:cNvPicPr>
            <a:picLocks noChangeAspect="1"/>
          </p:cNvPicPr>
          <p:nvPr/>
        </p:nvPicPr>
        <p:blipFill>
          <a:blip r:embed="rId4"/>
          <a:stretch>
            <a:fillRect/>
          </a:stretch>
        </p:blipFill>
        <p:spPr>
          <a:xfrm>
            <a:off x="2387774" y="5116899"/>
            <a:ext cx="673410" cy="143514"/>
          </a:xfrm>
          <a:prstGeom prst="rect">
            <a:avLst/>
          </a:prstGeom>
        </p:spPr>
      </p:pic>
      <p:pic>
        <p:nvPicPr>
          <p:cNvPr id="106" name="Picture 12">
            <a:extLst>
              <a:ext uri="{FF2B5EF4-FFF2-40B4-BE49-F238E27FC236}">
                <a16:creationId xmlns:a16="http://schemas.microsoft.com/office/drawing/2014/main" id="{6A56A476-39C5-189F-FF74-38126F3F9889}"/>
              </a:ext>
            </a:extLst>
          </p:cNvPr>
          <p:cNvPicPr>
            <a:picLocks noChangeAspect="1"/>
          </p:cNvPicPr>
          <p:nvPr/>
        </p:nvPicPr>
        <p:blipFill>
          <a:blip r:embed="rId5"/>
          <a:stretch>
            <a:fillRect/>
          </a:stretch>
        </p:blipFill>
        <p:spPr>
          <a:xfrm>
            <a:off x="2387774" y="5404327"/>
            <a:ext cx="741595" cy="145983"/>
          </a:xfrm>
          <a:prstGeom prst="rect">
            <a:avLst/>
          </a:prstGeom>
        </p:spPr>
      </p:pic>
      <p:pic>
        <p:nvPicPr>
          <p:cNvPr id="107" name="Picture 38">
            <a:extLst>
              <a:ext uri="{FF2B5EF4-FFF2-40B4-BE49-F238E27FC236}">
                <a16:creationId xmlns:a16="http://schemas.microsoft.com/office/drawing/2014/main" id="{BF53B692-4D32-64F6-66B4-1325B1A4635B}"/>
              </a:ext>
            </a:extLst>
          </p:cNvPr>
          <p:cNvPicPr>
            <a:picLocks noChangeAspect="1"/>
          </p:cNvPicPr>
          <p:nvPr/>
        </p:nvPicPr>
        <p:blipFill>
          <a:blip r:embed="rId6"/>
          <a:stretch>
            <a:fillRect/>
          </a:stretch>
        </p:blipFill>
        <p:spPr>
          <a:xfrm>
            <a:off x="2387775" y="5694225"/>
            <a:ext cx="359599" cy="250971"/>
          </a:xfrm>
          <a:prstGeom prst="rect">
            <a:avLst/>
          </a:prstGeom>
        </p:spPr>
      </p:pic>
      <p:pic>
        <p:nvPicPr>
          <p:cNvPr id="108" name="Picture 107">
            <a:extLst>
              <a:ext uri="{FF2B5EF4-FFF2-40B4-BE49-F238E27FC236}">
                <a16:creationId xmlns:a16="http://schemas.microsoft.com/office/drawing/2014/main" id="{DEDCFD71-6AA4-4C34-EB82-F99716C304D0}"/>
              </a:ext>
            </a:extLst>
          </p:cNvPr>
          <p:cNvPicPr>
            <a:picLocks noChangeAspect="1"/>
          </p:cNvPicPr>
          <p:nvPr/>
        </p:nvPicPr>
        <p:blipFill>
          <a:blip r:embed="rId7"/>
          <a:stretch>
            <a:fillRect/>
          </a:stretch>
        </p:blipFill>
        <p:spPr>
          <a:xfrm>
            <a:off x="2387774" y="3043990"/>
            <a:ext cx="422613" cy="164073"/>
          </a:xfrm>
          <a:prstGeom prst="rect">
            <a:avLst/>
          </a:prstGeom>
        </p:spPr>
      </p:pic>
      <p:pic>
        <p:nvPicPr>
          <p:cNvPr id="109" name="Picture 108">
            <a:extLst>
              <a:ext uri="{FF2B5EF4-FFF2-40B4-BE49-F238E27FC236}">
                <a16:creationId xmlns:a16="http://schemas.microsoft.com/office/drawing/2014/main" id="{A6926220-974D-2D9E-DEFF-F252910CAB2F}"/>
              </a:ext>
            </a:extLst>
          </p:cNvPr>
          <p:cNvPicPr>
            <a:picLocks noChangeAspect="1"/>
          </p:cNvPicPr>
          <p:nvPr/>
        </p:nvPicPr>
        <p:blipFill>
          <a:blip r:embed="rId8"/>
          <a:stretch>
            <a:fillRect/>
          </a:stretch>
        </p:blipFill>
        <p:spPr>
          <a:xfrm>
            <a:off x="2387774" y="3351979"/>
            <a:ext cx="331737" cy="198051"/>
          </a:xfrm>
          <a:prstGeom prst="rect">
            <a:avLst/>
          </a:prstGeom>
        </p:spPr>
      </p:pic>
      <p:pic>
        <p:nvPicPr>
          <p:cNvPr id="110" name="Picture 109">
            <a:extLst>
              <a:ext uri="{FF2B5EF4-FFF2-40B4-BE49-F238E27FC236}">
                <a16:creationId xmlns:a16="http://schemas.microsoft.com/office/drawing/2014/main" id="{8C59D152-21E6-05F8-B8B0-105DA72D0549}"/>
              </a:ext>
            </a:extLst>
          </p:cNvPr>
          <p:cNvPicPr>
            <a:picLocks noChangeAspect="1"/>
          </p:cNvPicPr>
          <p:nvPr/>
        </p:nvPicPr>
        <p:blipFill>
          <a:blip r:embed="rId9"/>
          <a:stretch>
            <a:fillRect/>
          </a:stretch>
        </p:blipFill>
        <p:spPr>
          <a:xfrm>
            <a:off x="2387774" y="4266629"/>
            <a:ext cx="478338" cy="125879"/>
          </a:xfrm>
          <a:prstGeom prst="rect">
            <a:avLst/>
          </a:prstGeom>
        </p:spPr>
      </p:pic>
      <p:pic>
        <p:nvPicPr>
          <p:cNvPr id="111" name="Picture 42">
            <a:extLst>
              <a:ext uri="{FF2B5EF4-FFF2-40B4-BE49-F238E27FC236}">
                <a16:creationId xmlns:a16="http://schemas.microsoft.com/office/drawing/2014/main" id="{8A861801-40B8-EEE4-5200-47DD599C3168}"/>
              </a:ext>
            </a:extLst>
          </p:cNvPr>
          <p:cNvPicPr>
            <a:picLocks noChangeAspect="1"/>
          </p:cNvPicPr>
          <p:nvPr/>
        </p:nvPicPr>
        <p:blipFill>
          <a:blip r:embed="rId10"/>
          <a:stretch>
            <a:fillRect/>
          </a:stretch>
        </p:blipFill>
        <p:spPr>
          <a:xfrm>
            <a:off x="2387775" y="3960245"/>
            <a:ext cx="427063" cy="162469"/>
          </a:xfrm>
          <a:prstGeom prst="rect">
            <a:avLst/>
          </a:prstGeom>
        </p:spPr>
      </p:pic>
      <p:pic>
        <p:nvPicPr>
          <p:cNvPr id="112" name="Picture 43">
            <a:extLst>
              <a:ext uri="{FF2B5EF4-FFF2-40B4-BE49-F238E27FC236}">
                <a16:creationId xmlns:a16="http://schemas.microsoft.com/office/drawing/2014/main" id="{8C233A31-EB72-03EF-0553-23186C8F02DD}"/>
              </a:ext>
            </a:extLst>
          </p:cNvPr>
          <p:cNvPicPr>
            <a:picLocks noChangeAspect="1"/>
          </p:cNvPicPr>
          <p:nvPr/>
        </p:nvPicPr>
        <p:blipFill>
          <a:blip r:embed="rId11"/>
          <a:stretch>
            <a:fillRect/>
          </a:stretch>
        </p:blipFill>
        <p:spPr>
          <a:xfrm>
            <a:off x="2387775" y="3693943"/>
            <a:ext cx="770319" cy="122387"/>
          </a:xfrm>
          <a:prstGeom prst="rect">
            <a:avLst/>
          </a:prstGeom>
        </p:spPr>
      </p:pic>
      <p:sp>
        <p:nvSpPr>
          <p:cNvPr id="113" name="pole tekstowe 5">
            <a:extLst>
              <a:ext uri="{FF2B5EF4-FFF2-40B4-BE49-F238E27FC236}">
                <a16:creationId xmlns:a16="http://schemas.microsoft.com/office/drawing/2014/main" id="{FD982FA5-1A43-FFC3-0DBD-56BB076969AB}"/>
              </a:ext>
            </a:extLst>
          </p:cNvPr>
          <p:cNvSpPr txBox="1"/>
          <p:nvPr/>
        </p:nvSpPr>
        <p:spPr>
          <a:xfrm>
            <a:off x="3793572" y="2334366"/>
            <a:ext cx="1571144" cy="3781173"/>
          </a:xfrm>
          <a:prstGeom prst="roundRect">
            <a:avLst>
              <a:gd name="adj" fmla="val 3179"/>
            </a:avLst>
          </a:prstGeom>
          <a:solidFill>
            <a:schemeClr val="bg1"/>
          </a:solidFill>
          <a:ln w="25400">
            <a:solidFill>
              <a:schemeClr val="accent2"/>
            </a:solid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Banking, FS </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&amp; Insurance</a:t>
            </a:r>
          </a:p>
        </p:txBody>
      </p:sp>
      <p:sp>
        <p:nvSpPr>
          <p:cNvPr id="114" name="pole tekstowe 5">
            <a:extLst>
              <a:ext uri="{FF2B5EF4-FFF2-40B4-BE49-F238E27FC236}">
                <a16:creationId xmlns:a16="http://schemas.microsoft.com/office/drawing/2014/main" id="{9FB616D4-A53B-3D32-B608-5B79EDC6B913}"/>
              </a:ext>
            </a:extLst>
          </p:cNvPr>
          <p:cNvSpPr txBox="1"/>
          <p:nvPr/>
        </p:nvSpPr>
        <p:spPr>
          <a:xfrm>
            <a:off x="3900008" y="3033977"/>
            <a:ext cx="1374797" cy="2940886"/>
          </a:xfrm>
          <a:prstGeom prst="roundRect">
            <a:avLst>
              <a:gd name="adj" fmla="val 3179"/>
            </a:avLst>
          </a:prstGeom>
          <a:solidFill>
            <a:srgbClr val="FCF8F8"/>
          </a:solidFill>
          <a:ln w="6350">
            <a:no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867" b="0" i="0" u="none" strike="noStrike" kern="1200" cap="none" spc="0" normalizeH="0" baseline="0" noProof="1">
              <a:ln>
                <a:noFill/>
              </a:ln>
              <a:solidFill>
                <a:srgbClr val="000000"/>
              </a:solidFill>
              <a:effectLst/>
              <a:uLnTx/>
              <a:uFillTx/>
              <a:latin typeface="Arial" panose="020B0604020202020204"/>
              <a:ea typeface="+mn-ea"/>
              <a:cs typeface="+mn-cs"/>
            </a:endParaRPr>
          </a:p>
        </p:txBody>
      </p:sp>
      <p:cxnSp>
        <p:nvCxnSpPr>
          <p:cNvPr id="115" name="Straight Connector 114">
            <a:extLst>
              <a:ext uri="{FF2B5EF4-FFF2-40B4-BE49-F238E27FC236}">
                <a16:creationId xmlns:a16="http://schemas.microsoft.com/office/drawing/2014/main" id="{D1C2F244-7E11-6361-4035-5386D065A899}"/>
              </a:ext>
            </a:extLst>
          </p:cNvPr>
          <p:cNvCxnSpPr>
            <a:cxnSpLocks/>
          </p:cNvCxnSpPr>
          <p:nvPr/>
        </p:nvCxnSpPr>
        <p:spPr>
          <a:xfrm>
            <a:off x="3989634" y="357572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465979D-FEFB-842A-F076-D48572DC2B59}"/>
              </a:ext>
            </a:extLst>
          </p:cNvPr>
          <p:cNvCxnSpPr>
            <a:cxnSpLocks/>
          </p:cNvCxnSpPr>
          <p:nvPr/>
        </p:nvCxnSpPr>
        <p:spPr>
          <a:xfrm>
            <a:off x="3989634" y="399189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17BF833-40AC-CF14-61FA-73DC967F6B34}"/>
              </a:ext>
            </a:extLst>
          </p:cNvPr>
          <p:cNvCxnSpPr>
            <a:cxnSpLocks/>
          </p:cNvCxnSpPr>
          <p:nvPr/>
        </p:nvCxnSpPr>
        <p:spPr>
          <a:xfrm>
            <a:off x="3989634" y="440806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3E836EE-C1D8-9C69-BA76-5EDC15C377D9}"/>
              </a:ext>
            </a:extLst>
          </p:cNvPr>
          <p:cNvCxnSpPr>
            <a:cxnSpLocks/>
          </p:cNvCxnSpPr>
          <p:nvPr/>
        </p:nvCxnSpPr>
        <p:spPr>
          <a:xfrm>
            <a:off x="3989634" y="482423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9A23D9D4-FCC1-A444-4600-EEDAFDB61665}"/>
              </a:ext>
            </a:extLst>
          </p:cNvPr>
          <p:cNvSpPr txBox="1"/>
          <p:nvPr/>
        </p:nvSpPr>
        <p:spPr>
          <a:xfrm>
            <a:off x="3989634" y="3198367"/>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Smart Onboarding </a:t>
            </a:r>
            <a:b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b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and CX</a:t>
            </a:r>
          </a:p>
        </p:txBody>
      </p:sp>
      <p:sp>
        <p:nvSpPr>
          <p:cNvPr id="120" name="TextBox 119">
            <a:extLst>
              <a:ext uri="{FF2B5EF4-FFF2-40B4-BE49-F238E27FC236}">
                <a16:creationId xmlns:a16="http://schemas.microsoft.com/office/drawing/2014/main" id="{5695B0C4-34BE-D7D5-3494-1DE46290C401}"/>
              </a:ext>
            </a:extLst>
          </p:cNvPr>
          <p:cNvSpPr txBox="1"/>
          <p:nvPr/>
        </p:nvSpPr>
        <p:spPr>
          <a:xfrm>
            <a:off x="3989634" y="3676091"/>
            <a:ext cx="1146626" cy="21544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Future of Lending</a:t>
            </a:r>
          </a:p>
        </p:txBody>
      </p:sp>
      <p:sp>
        <p:nvSpPr>
          <p:cNvPr id="121" name="TextBox 120">
            <a:extLst>
              <a:ext uri="{FF2B5EF4-FFF2-40B4-BE49-F238E27FC236}">
                <a16:creationId xmlns:a16="http://schemas.microsoft.com/office/drawing/2014/main" id="{E4FEA736-6A75-BA3D-A1BE-1592D77CC32F}"/>
              </a:ext>
            </a:extLst>
          </p:cNvPr>
          <p:cNvSpPr txBox="1"/>
          <p:nvPr/>
        </p:nvSpPr>
        <p:spPr>
          <a:xfrm>
            <a:off x="3989634" y="403070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Supply Chain Management</a:t>
            </a:r>
          </a:p>
        </p:txBody>
      </p:sp>
      <p:sp>
        <p:nvSpPr>
          <p:cNvPr id="122" name="TextBox 121">
            <a:extLst>
              <a:ext uri="{FF2B5EF4-FFF2-40B4-BE49-F238E27FC236}">
                <a16:creationId xmlns:a16="http://schemas.microsoft.com/office/drawing/2014/main" id="{436C6B89-3B85-FC83-F528-6E1521FAA58E}"/>
              </a:ext>
            </a:extLst>
          </p:cNvPr>
          <p:cNvSpPr txBox="1"/>
          <p:nvPr/>
        </p:nvSpPr>
        <p:spPr>
          <a:xfrm>
            <a:off x="3989634" y="444687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Point of Sale Systems</a:t>
            </a:r>
          </a:p>
        </p:txBody>
      </p:sp>
      <p:sp>
        <p:nvSpPr>
          <p:cNvPr id="123" name="TextBox 122">
            <a:extLst>
              <a:ext uri="{FF2B5EF4-FFF2-40B4-BE49-F238E27FC236}">
                <a16:creationId xmlns:a16="http://schemas.microsoft.com/office/drawing/2014/main" id="{EE0A0190-B846-1A35-D264-9AE332F07C96}"/>
              </a:ext>
            </a:extLst>
          </p:cNvPr>
          <p:cNvSpPr txBox="1"/>
          <p:nvPr/>
        </p:nvSpPr>
        <p:spPr>
          <a:xfrm>
            <a:off x="3989634" y="4863045"/>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AI/ML &amp; Augmented Solutions</a:t>
            </a:r>
          </a:p>
        </p:txBody>
      </p:sp>
      <p:pic>
        <p:nvPicPr>
          <p:cNvPr id="124" name="Graphic 123">
            <a:extLst>
              <a:ext uri="{FF2B5EF4-FFF2-40B4-BE49-F238E27FC236}">
                <a16:creationId xmlns:a16="http://schemas.microsoft.com/office/drawing/2014/main" id="{FEACF9D3-86B1-06DA-7490-436203C12B2D}"/>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4970206" y="2501891"/>
            <a:ext cx="276352" cy="276352"/>
          </a:xfrm>
          <a:prstGeom prst="rect">
            <a:avLst/>
          </a:prstGeom>
        </p:spPr>
      </p:pic>
      <p:sp>
        <p:nvSpPr>
          <p:cNvPr id="125" name="pole tekstowe 5">
            <a:extLst>
              <a:ext uri="{FF2B5EF4-FFF2-40B4-BE49-F238E27FC236}">
                <a16:creationId xmlns:a16="http://schemas.microsoft.com/office/drawing/2014/main" id="{5BE21B3E-699C-F37F-DFBD-D5BA3E3485B7}"/>
              </a:ext>
            </a:extLst>
          </p:cNvPr>
          <p:cNvSpPr txBox="1"/>
          <p:nvPr/>
        </p:nvSpPr>
        <p:spPr>
          <a:xfrm>
            <a:off x="5413180" y="2334366"/>
            <a:ext cx="1571144" cy="3781173"/>
          </a:xfrm>
          <a:prstGeom prst="roundRect">
            <a:avLst>
              <a:gd name="adj" fmla="val 3179"/>
            </a:avLst>
          </a:prstGeom>
          <a:solidFill>
            <a:schemeClr val="bg1"/>
          </a:solidFill>
          <a:ln w="25400">
            <a:solidFill>
              <a:schemeClr val="accent2"/>
            </a:solid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Retail &amp; </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Consumer</a:t>
            </a:r>
          </a:p>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126" name="pole tekstowe 5">
            <a:extLst>
              <a:ext uri="{FF2B5EF4-FFF2-40B4-BE49-F238E27FC236}">
                <a16:creationId xmlns:a16="http://schemas.microsoft.com/office/drawing/2014/main" id="{74F83B10-1BBA-7726-886E-89761E2564FF}"/>
              </a:ext>
            </a:extLst>
          </p:cNvPr>
          <p:cNvSpPr txBox="1"/>
          <p:nvPr/>
        </p:nvSpPr>
        <p:spPr>
          <a:xfrm>
            <a:off x="5519334" y="3033977"/>
            <a:ext cx="1374797" cy="2940886"/>
          </a:xfrm>
          <a:prstGeom prst="roundRect">
            <a:avLst>
              <a:gd name="adj" fmla="val 3179"/>
            </a:avLst>
          </a:prstGeom>
          <a:solidFill>
            <a:srgbClr val="FCF8F8"/>
          </a:solidFill>
          <a:ln w="6350">
            <a:no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867" b="0" i="0" u="none" strike="noStrike" kern="1200" cap="none" spc="0" normalizeH="0" baseline="0" noProof="1">
              <a:ln>
                <a:noFill/>
              </a:ln>
              <a:solidFill>
                <a:srgbClr val="000000"/>
              </a:solidFill>
              <a:effectLst/>
              <a:uLnTx/>
              <a:uFillTx/>
              <a:latin typeface="Arial" panose="020B0604020202020204"/>
              <a:ea typeface="+mn-ea"/>
              <a:cs typeface="+mn-cs"/>
            </a:endParaRPr>
          </a:p>
        </p:txBody>
      </p:sp>
      <p:cxnSp>
        <p:nvCxnSpPr>
          <p:cNvPr id="127" name="Straight Connector 126">
            <a:extLst>
              <a:ext uri="{FF2B5EF4-FFF2-40B4-BE49-F238E27FC236}">
                <a16:creationId xmlns:a16="http://schemas.microsoft.com/office/drawing/2014/main" id="{E3DD6769-C1CC-AE00-5442-05950DDE7AE3}"/>
              </a:ext>
            </a:extLst>
          </p:cNvPr>
          <p:cNvCxnSpPr>
            <a:cxnSpLocks/>
          </p:cNvCxnSpPr>
          <p:nvPr/>
        </p:nvCxnSpPr>
        <p:spPr>
          <a:xfrm>
            <a:off x="5608959" y="357572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8730D722-A460-8C5E-2B63-CA5D857E12AD}"/>
              </a:ext>
            </a:extLst>
          </p:cNvPr>
          <p:cNvCxnSpPr>
            <a:cxnSpLocks/>
          </p:cNvCxnSpPr>
          <p:nvPr/>
        </p:nvCxnSpPr>
        <p:spPr>
          <a:xfrm>
            <a:off x="5608959" y="399189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4F273935-3D10-33D9-457B-8C8D1BF87150}"/>
              </a:ext>
            </a:extLst>
          </p:cNvPr>
          <p:cNvCxnSpPr>
            <a:cxnSpLocks/>
          </p:cNvCxnSpPr>
          <p:nvPr/>
        </p:nvCxnSpPr>
        <p:spPr>
          <a:xfrm>
            <a:off x="5608959" y="440806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FCBB0D9-5313-D59F-DFBA-88D2F741C4B6}"/>
              </a:ext>
            </a:extLst>
          </p:cNvPr>
          <p:cNvCxnSpPr>
            <a:cxnSpLocks/>
          </p:cNvCxnSpPr>
          <p:nvPr/>
        </p:nvCxnSpPr>
        <p:spPr>
          <a:xfrm>
            <a:off x="5608959" y="482423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2E0EBE9F-89F0-EF46-D024-08B188A61608}"/>
              </a:ext>
            </a:extLst>
          </p:cNvPr>
          <p:cNvSpPr txBox="1"/>
          <p:nvPr/>
        </p:nvSpPr>
        <p:spPr>
          <a:xfrm>
            <a:off x="5608959" y="319836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Ecommerce Solutions</a:t>
            </a:r>
          </a:p>
        </p:txBody>
      </p:sp>
      <p:sp>
        <p:nvSpPr>
          <p:cNvPr id="132" name="TextBox 131">
            <a:extLst>
              <a:ext uri="{FF2B5EF4-FFF2-40B4-BE49-F238E27FC236}">
                <a16:creationId xmlns:a16="http://schemas.microsoft.com/office/drawing/2014/main" id="{8F01A0D3-CE88-3AE5-26A8-F58CDFDED97E}"/>
              </a:ext>
            </a:extLst>
          </p:cNvPr>
          <p:cNvSpPr txBox="1"/>
          <p:nvPr/>
        </p:nvSpPr>
        <p:spPr>
          <a:xfrm>
            <a:off x="5608959" y="3552980"/>
            <a:ext cx="1146626" cy="461665"/>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Customer Relationship Management</a:t>
            </a:r>
          </a:p>
        </p:txBody>
      </p:sp>
      <p:sp>
        <p:nvSpPr>
          <p:cNvPr id="133" name="TextBox 132">
            <a:extLst>
              <a:ext uri="{FF2B5EF4-FFF2-40B4-BE49-F238E27FC236}">
                <a16:creationId xmlns:a16="http://schemas.microsoft.com/office/drawing/2014/main" id="{7EED6B89-2780-E387-E410-FE8A07FEBBE6}"/>
              </a:ext>
            </a:extLst>
          </p:cNvPr>
          <p:cNvSpPr txBox="1"/>
          <p:nvPr/>
        </p:nvSpPr>
        <p:spPr>
          <a:xfrm>
            <a:off x="5608959" y="403070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Supply Chain Management</a:t>
            </a:r>
          </a:p>
        </p:txBody>
      </p:sp>
      <p:sp>
        <p:nvSpPr>
          <p:cNvPr id="134" name="TextBox 133">
            <a:extLst>
              <a:ext uri="{FF2B5EF4-FFF2-40B4-BE49-F238E27FC236}">
                <a16:creationId xmlns:a16="http://schemas.microsoft.com/office/drawing/2014/main" id="{36E05C88-7497-6D3E-80C7-8FE8DD28CD10}"/>
              </a:ext>
            </a:extLst>
          </p:cNvPr>
          <p:cNvSpPr txBox="1"/>
          <p:nvPr/>
        </p:nvSpPr>
        <p:spPr>
          <a:xfrm>
            <a:off x="5608959" y="444687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Point of Sale Systems</a:t>
            </a:r>
          </a:p>
        </p:txBody>
      </p:sp>
      <p:sp>
        <p:nvSpPr>
          <p:cNvPr id="135" name="TextBox 134">
            <a:extLst>
              <a:ext uri="{FF2B5EF4-FFF2-40B4-BE49-F238E27FC236}">
                <a16:creationId xmlns:a16="http://schemas.microsoft.com/office/drawing/2014/main" id="{5B6C1AEE-90B9-7F23-C3AA-1878BD400142}"/>
              </a:ext>
            </a:extLst>
          </p:cNvPr>
          <p:cNvSpPr txBox="1"/>
          <p:nvPr/>
        </p:nvSpPr>
        <p:spPr>
          <a:xfrm>
            <a:off x="5608959" y="4863045"/>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AI/ML &amp; Augmented Solutions</a:t>
            </a:r>
          </a:p>
        </p:txBody>
      </p:sp>
      <p:pic>
        <p:nvPicPr>
          <p:cNvPr id="136" name="Graphic 135">
            <a:extLst>
              <a:ext uri="{FF2B5EF4-FFF2-40B4-BE49-F238E27FC236}">
                <a16:creationId xmlns:a16="http://schemas.microsoft.com/office/drawing/2014/main" id="{258F6D4B-6D95-E68B-9F69-5E1C4FD67132}"/>
              </a:ext>
            </a:extLst>
          </p:cNvPr>
          <p:cNvPicPr>
            <a:picLocks/>
          </p:cNvPicPr>
          <p:nvPr/>
        </p:nvPicPr>
        <p:blipFill>
          <a:blip r:embed="rId14">
            <a:extLst>
              <a:ext uri="{96DAC541-7B7A-43D3-8B79-37D633B846F1}">
                <asvg:svgBlip xmlns:asvg="http://schemas.microsoft.com/office/drawing/2016/SVG/main" r:embed="rId15"/>
              </a:ext>
            </a:extLst>
          </a:blip>
          <a:stretch>
            <a:fillRect/>
          </a:stretch>
        </p:blipFill>
        <p:spPr>
          <a:xfrm>
            <a:off x="6564189" y="2493095"/>
            <a:ext cx="277091" cy="276352"/>
          </a:xfrm>
          <a:prstGeom prst="rect">
            <a:avLst/>
          </a:prstGeom>
        </p:spPr>
      </p:pic>
      <p:sp>
        <p:nvSpPr>
          <p:cNvPr id="137" name="pole tekstowe 5">
            <a:extLst>
              <a:ext uri="{FF2B5EF4-FFF2-40B4-BE49-F238E27FC236}">
                <a16:creationId xmlns:a16="http://schemas.microsoft.com/office/drawing/2014/main" id="{76C4A006-9947-F1AC-5B2C-F7261D76C137}"/>
              </a:ext>
            </a:extLst>
          </p:cNvPr>
          <p:cNvSpPr txBox="1"/>
          <p:nvPr/>
        </p:nvSpPr>
        <p:spPr>
          <a:xfrm>
            <a:off x="7032787" y="2334366"/>
            <a:ext cx="1571144" cy="3781173"/>
          </a:xfrm>
          <a:prstGeom prst="roundRect">
            <a:avLst>
              <a:gd name="adj" fmla="val 3179"/>
            </a:avLst>
          </a:prstGeom>
          <a:solidFill>
            <a:schemeClr val="bg1"/>
          </a:solidFill>
          <a:ln w="25400">
            <a:solidFill>
              <a:srgbClr val="5C4F61"/>
            </a:solid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Travel &amp; </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Hospitality</a:t>
            </a:r>
          </a:p>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138" name="pole tekstowe 5">
            <a:extLst>
              <a:ext uri="{FF2B5EF4-FFF2-40B4-BE49-F238E27FC236}">
                <a16:creationId xmlns:a16="http://schemas.microsoft.com/office/drawing/2014/main" id="{3DB486A6-1E05-F345-A42D-2DBE733B0DD8}"/>
              </a:ext>
            </a:extLst>
          </p:cNvPr>
          <p:cNvSpPr txBox="1"/>
          <p:nvPr/>
        </p:nvSpPr>
        <p:spPr>
          <a:xfrm>
            <a:off x="7128876" y="3033977"/>
            <a:ext cx="1374797" cy="2940886"/>
          </a:xfrm>
          <a:prstGeom prst="roundRect">
            <a:avLst>
              <a:gd name="adj" fmla="val 3179"/>
            </a:avLst>
          </a:prstGeom>
          <a:solidFill>
            <a:srgbClr val="FCF8F8"/>
          </a:solidFill>
          <a:ln w="6350">
            <a:no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867" b="0" i="0" u="none" strike="noStrike" kern="1200" cap="none" spc="0" normalizeH="0" baseline="0" noProof="1">
              <a:ln>
                <a:noFill/>
              </a:ln>
              <a:solidFill>
                <a:srgbClr val="000000"/>
              </a:solidFill>
              <a:effectLst/>
              <a:uLnTx/>
              <a:uFillTx/>
              <a:latin typeface="Arial" panose="020B0604020202020204"/>
              <a:ea typeface="+mn-ea"/>
              <a:cs typeface="+mn-cs"/>
            </a:endParaRPr>
          </a:p>
        </p:txBody>
      </p:sp>
      <p:cxnSp>
        <p:nvCxnSpPr>
          <p:cNvPr id="139" name="Straight Connector 138">
            <a:extLst>
              <a:ext uri="{FF2B5EF4-FFF2-40B4-BE49-F238E27FC236}">
                <a16:creationId xmlns:a16="http://schemas.microsoft.com/office/drawing/2014/main" id="{24B10161-D0EC-8F2C-F240-6F08F8A04026}"/>
              </a:ext>
            </a:extLst>
          </p:cNvPr>
          <p:cNvCxnSpPr>
            <a:cxnSpLocks/>
          </p:cNvCxnSpPr>
          <p:nvPr/>
        </p:nvCxnSpPr>
        <p:spPr>
          <a:xfrm>
            <a:off x="7218501" y="357572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FB8F1F9-9A15-FC14-3110-0DAE3E525F2B}"/>
              </a:ext>
            </a:extLst>
          </p:cNvPr>
          <p:cNvCxnSpPr>
            <a:cxnSpLocks/>
          </p:cNvCxnSpPr>
          <p:nvPr/>
        </p:nvCxnSpPr>
        <p:spPr>
          <a:xfrm>
            <a:off x="7218501" y="399189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D93846F-1DE4-7F06-9974-EF703C8E7C06}"/>
              </a:ext>
            </a:extLst>
          </p:cNvPr>
          <p:cNvCxnSpPr>
            <a:cxnSpLocks/>
          </p:cNvCxnSpPr>
          <p:nvPr/>
        </p:nvCxnSpPr>
        <p:spPr>
          <a:xfrm>
            <a:off x="7218501" y="440806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D82EF79C-4CE9-F76F-D50C-F37382E78010}"/>
              </a:ext>
            </a:extLst>
          </p:cNvPr>
          <p:cNvSpPr txBox="1"/>
          <p:nvPr/>
        </p:nvSpPr>
        <p:spPr>
          <a:xfrm>
            <a:off x="7218501" y="319836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Intelligent Travel Merchandizing</a:t>
            </a:r>
          </a:p>
        </p:txBody>
      </p:sp>
      <p:sp>
        <p:nvSpPr>
          <p:cNvPr id="143" name="TextBox 142">
            <a:extLst>
              <a:ext uri="{FF2B5EF4-FFF2-40B4-BE49-F238E27FC236}">
                <a16:creationId xmlns:a16="http://schemas.microsoft.com/office/drawing/2014/main" id="{1C2EC49D-4DCF-B449-076A-33F5EE5F0F86}"/>
              </a:ext>
            </a:extLst>
          </p:cNvPr>
          <p:cNvSpPr txBox="1"/>
          <p:nvPr/>
        </p:nvSpPr>
        <p:spPr>
          <a:xfrm>
            <a:off x="7218501" y="361453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CX &amp; Loyalty Management</a:t>
            </a:r>
          </a:p>
        </p:txBody>
      </p:sp>
      <p:sp>
        <p:nvSpPr>
          <p:cNvPr id="144" name="TextBox 143">
            <a:extLst>
              <a:ext uri="{FF2B5EF4-FFF2-40B4-BE49-F238E27FC236}">
                <a16:creationId xmlns:a16="http://schemas.microsoft.com/office/drawing/2014/main" id="{CB11E220-532D-CC99-9051-4823318538AA}"/>
              </a:ext>
            </a:extLst>
          </p:cNvPr>
          <p:cNvSpPr txBox="1"/>
          <p:nvPr/>
        </p:nvSpPr>
        <p:spPr>
          <a:xfrm>
            <a:off x="7218501" y="403070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Personalization Engines</a:t>
            </a:r>
          </a:p>
        </p:txBody>
      </p:sp>
      <p:sp>
        <p:nvSpPr>
          <p:cNvPr id="145" name="TextBox 144">
            <a:extLst>
              <a:ext uri="{FF2B5EF4-FFF2-40B4-BE49-F238E27FC236}">
                <a16:creationId xmlns:a16="http://schemas.microsoft.com/office/drawing/2014/main" id="{2C8FF0C3-E883-B89D-2825-611BC3FA610B}"/>
              </a:ext>
            </a:extLst>
          </p:cNvPr>
          <p:cNvSpPr txBox="1"/>
          <p:nvPr/>
        </p:nvSpPr>
        <p:spPr>
          <a:xfrm>
            <a:off x="7218501" y="4385320"/>
            <a:ext cx="1146626" cy="461665"/>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Dynamic Pricing &amp; Revenue Management</a:t>
            </a:r>
          </a:p>
        </p:txBody>
      </p:sp>
      <p:pic>
        <p:nvPicPr>
          <p:cNvPr id="146" name="Graphic 145">
            <a:extLst>
              <a:ext uri="{FF2B5EF4-FFF2-40B4-BE49-F238E27FC236}">
                <a16:creationId xmlns:a16="http://schemas.microsoft.com/office/drawing/2014/main" id="{DA7AC29A-9BB0-5000-022B-C96050446CE5}"/>
              </a:ext>
            </a:extLst>
          </p:cNvPr>
          <p:cNvPicPr>
            <a:picLocks/>
          </p:cNvPicPr>
          <p:nvPr/>
        </p:nvPicPr>
        <p:blipFill>
          <a:blip r:embed="rId16">
            <a:extLst>
              <a:ext uri="{96DAC541-7B7A-43D3-8B79-37D633B846F1}">
                <asvg:svgBlip xmlns:asvg="http://schemas.microsoft.com/office/drawing/2016/SVG/main" r:embed="rId17"/>
              </a:ext>
            </a:extLst>
          </a:blip>
          <a:stretch>
            <a:fillRect/>
          </a:stretch>
        </p:blipFill>
        <p:spPr>
          <a:xfrm>
            <a:off x="8152302" y="2493029"/>
            <a:ext cx="276352" cy="276352"/>
          </a:xfrm>
          <a:prstGeom prst="rect">
            <a:avLst/>
          </a:prstGeom>
        </p:spPr>
      </p:pic>
      <p:sp>
        <p:nvSpPr>
          <p:cNvPr id="147" name="pole tekstowe 5">
            <a:extLst>
              <a:ext uri="{FF2B5EF4-FFF2-40B4-BE49-F238E27FC236}">
                <a16:creationId xmlns:a16="http://schemas.microsoft.com/office/drawing/2014/main" id="{8A0FBEFB-DF85-9640-B1A7-7FE8C5544D4A}"/>
              </a:ext>
            </a:extLst>
          </p:cNvPr>
          <p:cNvSpPr txBox="1"/>
          <p:nvPr/>
        </p:nvSpPr>
        <p:spPr>
          <a:xfrm>
            <a:off x="8652394" y="2334366"/>
            <a:ext cx="1571144" cy="3781173"/>
          </a:xfrm>
          <a:prstGeom prst="roundRect">
            <a:avLst>
              <a:gd name="adj" fmla="val 3179"/>
            </a:avLst>
          </a:prstGeom>
          <a:solidFill>
            <a:schemeClr val="bg1"/>
          </a:solidFill>
          <a:ln w="25400">
            <a:solidFill>
              <a:schemeClr val="accent2"/>
            </a:solid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Technology </a:t>
            </a:r>
          </a:p>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&amp; Media</a:t>
            </a:r>
          </a:p>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148" name="pole tekstowe 5">
            <a:extLst>
              <a:ext uri="{FF2B5EF4-FFF2-40B4-BE49-F238E27FC236}">
                <a16:creationId xmlns:a16="http://schemas.microsoft.com/office/drawing/2014/main" id="{89D89589-BF40-D8BE-E869-B2BEBA0C4391}"/>
              </a:ext>
            </a:extLst>
          </p:cNvPr>
          <p:cNvSpPr txBox="1"/>
          <p:nvPr/>
        </p:nvSpPr>
        <p:spPr>
          <a:xfrm>
            <a:off x="8759732" y="3033977"/>
            <a:ext cx="1374797" cy="2940886"/>
          </a:xfrm>
          <a:prstGeom prst="roundRect">
            <a:avLst>
              <a:gd name="adj" fmla="val 3179"/>
            </a:avLst>
          </a:prstGeom>
          <a:solidFill>
            <a:srgbClr val="FCF8F8"/>
          </a:solidFill>
          <a:ln w="6350">
            <a:noFill/>
          </a:ln>
        </p:spPr>
        <p:txBody>
          <a:bodyPr wrap="square" lIns="192000" tIns="96000" rIns="192000" bIns="96000" rtlCol="0">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867" b="0" i="0" u="none" strike="noStrike" kern="1200" cap="none" spc="0" normalizeH="0" baseline="0" noProof="1">
              <a:ln>
                <a:noFill/>
              </a:ln>
              <a:solidFill>
                <a:srgbClr val="000000"/>
              </a:solidFill>
              <a:effectLst/>
              <a:uLnTx/>
              <a:uFillTx/>
              <a:latin typeface="Arial" panose="020B0604020202020204"/>
              <a:ea typeface="+mn-ea"/>
              <a:cs typeface="+mn-cs"/>
            </a:endParaRPr>
          </a:p>
        </p:txBody>
      </p:sp>
      <p:cxnSp>
        <p:nvCxnSpPr>
          <p:cNvPr id="149" name="Straight Connector 148">
            <a:extLst>
              <a:ext uri="{FF2B5EF4-FFF2-40B4-BE49-F238E27FC236}">
                <a16:creationId xmlns:a16="http://schemas.microsoft.com/office/drawing/2014/main" id="{1E923315-0A91-B40F-DD36-E6657002D3EE}"/>
              </a:ext>
            </a:extLst>
          </p:cNvPr>
          <p:cNvCxnSpPr>
            <a:cxnSpLocks/>
          </p:cNvCxnSpPr>
          <p:nvPr/>
        </p:nvCxnSpPr>
        <p:spPr>
          <a:xfrm>
            <a:off x="8849357" y="357572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C25EF7D-69D8-EB9A-E645-E4396FB2578A}"/>
              </a:ext>
            </a:extLst>
          </p:cNvPr>
          <p:cNvCxnSpPr>
            <a:cxnSpLocks/>
          </p:cNvCxnSpPr>
          <p:nvPr/>
        </p:nvCxnSpPr>
        <p:spPr>
          <a:xfrm>
            <a:off x="8849357" y="399189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5D490687-07F6-98AC-97AF-2D21D190A139}"/>
              </a:ext>
            </a:extLst>
          </p:cNvPr>
          <p:cNvCxnSpPr>
            <a:cxnSpLocks/>
          </p:cNvCxnSpPr>
          <p:nvPr/>
        </p:nvCxnSpPr>
        <p:spPr>
          <a:xfrm>
            <a:off x="8849357" y="440806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C88C879A-5C9A-84E4-9193-1EAC0D79DF6E}"/>
              </a:ext>
            </a:extLst>
          </p:cNvPr>
          <p:cNvCxnSpPr>
            <a:cxnSpLocks/>
          </p:cNvCxnSpPr>
          <p:nvPr/>
        </p:nvCxnSpPr>
        <p:spPr>
          <a:xfrm>
            <a:off x="8849357" y="4824237"/>
            <a:ext cx="1146626"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8B058DA4-6CAD-BE72-A393-E1E752C2DB50}"/>
              </a:ext>
            </a:extLst>
          </p:cNvPr>
          <p:cNvSpPr txBox="1"/>
          <p:nvPr/>
        </p:nvSpPr>
        <p:spPr>
          <a:xfrm>
            <a:off x="8849357" y="3259921"/>
            <a:ext cx="1146626" cy="21544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AI Infused SDLC</a:t>
            </a:r>
          </a:p>
        </p:txBody>
      </p:sp>
      <p:sp>
        <p:nvSpPr>
          <p:cNvPr id="154" name="TextBox 153">
            <a:extLst>
              <a:ext uri="{FF2B5EF4-FFF2-40B4-BE49-F238E27FC236}">
                <a16:creationId xmlns:a16="http://schemas.microsoft.com/office/drawing/2014/main" id="{02E50C38-CCFF-E335-4179-6E525777914F}"/>
              </a:ext>
            </a:extLst>
          </p:cNvPr>
          <p:cNvSpPr txBox="1"/>
          <p:nvPr/>
        </p:nvSpPr>
        <p:spPr>
          <a:xfrm>
            <a:off x="8849357" y="4030707"/>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Data Management &amp; Analytics</a:t>
            </a:r>
          </a:p>
        </p:txBody>
      </p:sp>
      <p:sp>
        <p:nvSpPr>
          <p:cNvPr id="155" name="TextBox 154">
            <a:extLst>
              <a:ext uri="{FF2B5EF4-FFF2-40B4-BE49-F238E27FC236}">
                <a16:creationId xmlns:a16="http://schemas.microsoft.com/office/drawing/2014/main" id="{7D522644-7CB1-2E7C-4ADE-B3255F786BCA}"/>
              </a:ext>
            </a:extLst>
          </p:cNvPr>
          <p:cNvSpPr txBox="1"/>
          <p:nvPr/>
        </p:nvSpPr>
        <p:spPr>
          <a:xfrm>
            <a:off x="8849357" y="3614536"/>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Smart Cloud Services</a:t>
            </a:r>
          </a:p>
        </p:txBody>
      </p:sp>
      <p:sp>
        <p:nvSpPr>
          <p:cNvPr id="156" name="TextBox 155">
            <a:extLst>
              <a:ext uri="{FF2B5EF4-FFF2-40B4-BE49-F238E27FC236}">
                <a16:creationId xmlns:a16="http://schemas.microsoft.com/office/drawing/2014/main" id="{C0596AA5-480C-340B-54DE-2AD793A5D4DF}"/>
              </a:ext>
            </a:extLst>
          </p:cNvPr>
          <p:cNvSpPr txBox="1"/>
          <p:nvPr/>
        </p:nvSpPr>
        <p:spPr>
          <a:xfrm>
            <a:off x="8849357" y="4385320"/>
            <a:ext cx="1146626" cy="461665"/>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Digital Transformation Services</a:t>
            </a:r>
          </a:p>
        </p:txBody>
      </p:sp>
      <p:sp>
        <p:nvSpPr>
          <p:cNvPr id="157" name="TextBox 156">
            <a:extLst>
              <a:ext uri="{FF2B5EF4-FFF2-40B4-BE49-F238E27FC236}">
                <a16:creationId xmlns:a16="http://schemas.microsoft.com/office/drawing/2014/main" id="{5A1968D7-4523-9582-8BEC-FEA7FF123A94}"/>
              </a:ext>
            </a:extLst>
          </p:cNvPr>
          <p:cNvSpPr txBox="1"/>
          <p:nvPr/>
        </p:nvSpPr>
        <p:spPr>
          <a:xfrm>
            <a:off x="8849357" y="4863045"/>
            <a:ext cx="1146626" cy="338554"/>
          </a:xfrm>
          <a:prstGeom prst="rect">
            <a:avLst/>
          </a:prstGeom>
          <a:noFill/>
        </p:spPr>
        <p:txBody>
          <a:bodyPr wrap="square" anchor="ctr">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1">
                <a:ln>
                  <a:noFill/>
                </a:ln>
                <a:solidFill>
                  <a:srgbClr val="000000"/>
                </a:solidFill>
                <a:effectLst/>
                <a:uLnTx/>
                <a:uFillTx/>
                <a:latin typeface="Arial" panose="020B0604020202020204"/>
                <a:ea typeface="+mn-ea"/>
                <a:cs typeface="+mn-cs"/>
              </a:rPr>
              <a:t>Technical Support &amp; Maintenance</a:t>
            </a:r>
          </a:p>
        </p:txBody>
      </p:sp>
      <p:pic>
        <p:nvPicPr>
          <p:cNvPr id="158" name="Graphic 157">
            <a:extLst>
              <a:ext uri="{FF2B5EF4-FFF2-40B4-BE49-F238E27FC236}">
                <a16:creationId xmlns:a16="http://schemas.microsoft.com/office/drawing/2014/main" id="{8B0D233C-3A5F-9137-9778-88117F895EDA}"/>
              </a:ext>
            </a:extLst>
          </p:cNvPr>
          <p:cNvPicPr>
            <a:picLocks/>
          </p:cNvPicPr>
          <p:nvPr/>
        </p:nvPicPr>
        <p:blipFill>
          <a:blip r:embed="rId18">
            <a:extLst>
              <a:ext uri="{96DAC541-7B7A-43D3-8B79-37D633B846F1}">
                <asvg:svgBlip xmlns:asvg="http://schemas.microsoft.com/office/drawing/2016/SVG/main" r:embed="rId19"/>
              </a:ext>
            </a:extLst>
          </a:blip>
          <a:stretch>
            <a:fillRect/>
          </a:stretch>
        </p:blipFill>
        <p:spPr>
          <a:xfrm>
            <a:off x="9794022" y="2492127"/>
            <a:ext cx="276352" cy="276507"/>
          </a:xfrm>
          <a:prstGeom prst="rect">
            <a:avLst/>
          </a:prstGeom>
        </p:spPr>
      </p:pic>
      <p:sp>
        <p:nvSpPr>
          <p:cNvPr id="159" name="TextBox 158">
            <a:extLst>
              <a:ext uri="{FF2B5EF4-FFF2-40B4-BE49-F238E27FC236}">
                <a16:creationId xmlns:a16="http://schemas.microsoft.com/office/drawing/2014/main" id="{6C2965FF-583B-163F-7281-3BFF374616F7}"/>
              </a:ext>
            </a:extLst>
          </p:cNvPr>
          <p:cNvSpPr txBox="1"/>
          <p:nvPr/>
        </p:nvSpPr>
        <p:spPr>
          <a:xfrm>
            <a:off x="140677" y="3620855"/>
            <a:ext cx="806207" cy="1739284"/>
          </a:xfrm>
          <a:prstGeom prst="rect">
            <a:avLst/>
          </a:prstGeom>
          <a:noFill/>
        </p:spPr>
        <p:txBody>
          <a:bodyPr wrap="square">
            <a:noAutofit/>
          </a:bodyPr>
          <a:lstStyle/>
          <a:p>
            <a:pPr marL="0" marR="0" lvl="0" indent="0" algn="r" defTabSz="60966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1">
                <a:ln w="25400">
                  <a:noFill/>
                </a:ln>
                <a:solidFill>
                  <a:srgbClr val="000000"/>
                </a:solidFill>
                <a:effectLst/>
                <a:uLnTx/>
                <a:uFillTx/>
                <a:latin typeface="Arial" panose="020B0604020202020204"/>
                <a:ea typeface="+mn-ea"/>
                <a:cs typeface="+mn-cs"/>
              </a:rPr>
              <a:t>Digital Products &amp; Platforms</a:t>
            </a:r>
          </a:p>
          <a:p>
            <a:pPr marL="0" marR="0" lvl="0" indent="0" algn="r" defTabSz="609660" rtl="0" eaLnBrk="1" fontAlgn="auto" latinLnBrk="0" hangingPunct="1">
              <a:lnSpc>
                <a:spcPct val="100000"/>
              </a:lnSpc>
              <a:spcBef>
                <a:spcPts val="0"/>
              </a:spcBef>
              <a:spcAft>
                <a:spcPts val="0"/>
              </a:spcAft>
              <a:buClrTx/>
              <a:buSzTx/>
              <a:buFontTx/>
              <a:buNone/>
              <a:tabLst/>
              <a:defRPr/>
            </a:pPr>
            <a:br>
              <a:rPr kumimoji="0" lang="en-US" sz="867" b="0" i="0" u="none" strike="noStrike" kern="1200" cap="none" spc="0" normalizeH="0" baseline="0" noProof="1">
                <a:ln w="25400">
                  <a:noFill/>
                </a:ln>
                <a:solidFill>
                  <a:srgbClr val="000000"/>
                </a:solidFill>
                <a:effectLst/>
                <a:uLnTx/>
                <a:uFillTx/>
                <a:latin typeface="Arial" panose="020B0604020202020204"/>
                <a:ea typeface="+mn-ea"/>
                <a:cs typeface="+mn-cs"/>
              </a:rPr>
            </a:br>
            <a:endParaRPr kumimoji="0" lang="en-US" sz="867" b="0" i="0" u="none" strike="noStrike" kern="1200" cap="none" spc="0" normalizeH="0" baseline="0" noProof="1">
              <a:ln w="25400">
                <a:noFill/>
              </a:ln>
              <a:solidFill>
                <a:srgbClr val="000000"/>
              </a:solidFill>
              <a:effectLst/>
              <a:uLnTx/>
              <a:uFillTx/>
              <a:latin typeface="Arial" panose="020B0604020202020204"/>
              <a:ea typeface="+mn-ea"/>
              <a:cs typeface="+mn-cs"/>
            </a:endParaRPr>
          </a:p>
          <a:p>
            <a:pPr marL="0" marR="0" lvl="0" indent="0" algn="r" defTabSz="609660" rtl="0" eaLnBrk="1" fontAlgn="auto" latinLnBrk="0" hangingPunct="1">
              <a:lnSpc>
                <a:spcPct val="100000"/>
              </a:lnSpc>
              <a:spcBef>
                <a:spcPts val="0"/>
              </a:spcBef>
              <a:spcAft>
                <a:spcPts val="0"/>
              </a:spcAft>
              <a:buClrTx/>
              <a:buSzTx/>
              <a:buFontTx/>
              <a:buNone/>
              <a:tabLst/>
              <a:defRPr/>
            </a:pPr>
            <a:endParaRPr kumimoji="0" lang="en-US" sz="867" b="0" i="0" u="none" strike="noStrike" kern="1200" cap="none" spc="0" normalizeH="0" baseline="0" noProof="1">
              <a:ln w="25400">
                <a:noFill/>
              </a:ln>
              <a:solidFill>
                <a:srgbClr val="000000"/>
              </a:solidFill>
              <a:effectLst/>
              <a:uLnTx/>
              <a:uFillTx/>
              <a:latin typeface="Arial" panose="020B0604020202020204"/>
              <a:ea typeface="+mn-ea"/>
              <a:cs typeface="+mn-cs"/>
            </a:endParaRPr>
          </a:p>
          <a:p>
            <a:pPr marL="0" marR="0" lvl="0" indent="0" algn="r" defTabSz="609660" rtl="0" eaLnBrk="1" fontAlgn="auto" latinLnBrk="0" hangingPunct="1">
              <a:lnSpc>
                <a:spcPct val="100000"/>
              </a:lnSpc>
              <a:spcBef>
                <a:spcPts val="0"/>
              </a:spcBef>
              <a:spcAft>
                <a:spcPts val="0"/>
              </a:spcAft>
              <a:buClrTx/>
              <a:buSzTx/>
              <a:buFontTx/>
              <a:buNone/>
              <a:tabLst/>
              <a:defRPr/>
            </a:pPr>
            <a:endParaRPr kumimoji="0" lang="en-US" sz="867" b="0" i="0" u="none" strike="noStrike" kern="1200" cap="none" spc="0" normalizeH="0" baseline="0" noProof="1">
              <a:ln w="25400">
                <a:noFill/>
              </a:ln>
              <a:solidFill>
                <a:srgbClr val="000000"/>
              </a:solidFill>
              <a:effectLst/>
              <a:uLnTx/>
              <a:uFillTx/>
              <a:latin typeface="Arial" panose="020B0604020202020204"/>
              <a:ea typeface="+mn-ea"/>
              <a:cs typeface="+mn-cs"/>
            </a:endParaRPr>
          </a:p>
          <a:p>
            <a:pPr marL="0" marR="0" lvl="0" indent="0" algn="r" defTabSz="609660" rtl="0" eaLnBrk="1" fontAlgn="auto" latinLnBrk="0" hangingPunct="1">
              <a:lnSpc>
                <a:spcPct val="100000"/>
              </a:lnSpc>
              <a:spcBef>
                <a:spcPts val="0"/>
              </a:spcBef>
              <a:spcAft>
                <a:spcPts val="400"/>
              </a:spcAft>
              <a:buClrTx/>
              <a:buSzTx/>
              <a:buFontTx/>
              <a:buNone/>
              <a:tabLst/>
              <a:defRPr/>
            </a:pPr>
            <a:r>
              <a:rPr kumimoji="0" lang="en-US" sz="733" b="0" i="0" u="none" strike="noStrike" kern="1200" cap="none" spc="0" normalizeH="0" baseline="0" noProof="1">
                <a:ln w="25400">
                  <a:noFill/>
                </a:ln>
                <a:solidFill>
                  <a:srgbClr val="000000"/>
                </a:solidFill>
                <a:effectLst/>
                <a:uLnTx/>
                <a:uFillTx/>
                <a:latin typeface="Arial" panose="020B0604020202020204"/>
                <a:ea typeface="+mn-ea"/>
                <a:cs typeface="+mn-cs"/>
              </a:rPr>
              <a:t>Consulting</a:t>
            </a:r>
          </a:p>
          <a:p>
            <a:pPr marL="0" marR="0" lvl="0" indent="0" algn="r" defTabSz="609660" rtl="0" eaLnBrk="1" fontAlgn="auto" latinLnBrk="0" hangingPunct="1">
              <a:lnSpc>
                <a:spcPct val="100000"/>
              </a:lnSpc>
              <a:spcBef>
                <a:spcPts val="0"/>
              </a:spcBef>
              <a:spcAft>
                <a:spcPts val="400"/>
              </a:spcAft>
              <a:buClrTx/>
              <a:buSzTx/>
              <a:buFontTx/>
              <a:buNone/>
              <a:tabLst/>
              <a:defRPr/>
            </a:pPr>
            <a:r>
              <a:rPr kumimoji="0" lang="en-US" sz="733" b="0" i="0" u="none" strike="noStrike" kern="1200" cap="none" spc="0" normalizeH="0" baseline="0" noProof="1">
                <a:ln w="25400">
                  <a:noFill/>
                </a:ln>
                <a:solidFill>
                  <a:srgbClr val="000000"/>
                </a:solidFill>
                <a:effectLst/>
                <a:uLnTx/>
                <a:uFillTx/>
                <a:latin typeface="Arial" panose="020B0604020202020204"/>
                <a:ea typeface="+mn-ea"/>
                <a:cs typeface="+mn-cs"/>
              </a:rPr>
              <a:t>Engineering</a:t>
            </a:r>
          </a:p>
          <a:p>
            <a:pPr marL="0" marR="0" lvl="0" indent="0" algn="r" defTabSz="609660" rtl="0" eaLnBrk="1" fontAlgn="auto" latinLnBrk="0" hangingPunct="1">
              <a:lnSpc>
                <a:spcPct val="100000"/>
              </a:lnSpc>
              <a:spcBef>
                <a:spcPts val="0"/>
              </a:spcBef>
              <a:spcAft>
                <a:spcPts val="400"/>
              </a:spcAft>
              <a:buClrTx/>
              <a:buSzTx/>
              <a:buFontTx/>
              <a:buNone/>
              <a:tabLst/>
              <a:defRPr/>
            </a:pPr>
            <a:r>
              <a:rPr kumimoji="0" lang="en-US" sz="733" b="0" i="0" u="none" strike="noStrike" kern="1200" cap="none" spc="0" normalizeH="0" baseline="0" noProof="1">
                <a:ln w="25400">
                  <a:noFill/>
                </a:ln>
                <a:solidFill>
                  <a:srgbClr val="000000"/>
                </a:solidFill>
                <a:effectLst/>
                <a:uLnTx/>
                <a:uFillTx/>
                <a:latin typeface="Arial" panose="020B0604020202020204"/>
                <a:ea typeface="+mn-ea"/>
                <a:cs typeface="+mn-cs"/>
              </a:rPr>
              <a:t>Training</a:t>
            </a:r>
          </a:p>
        </p:txBody>
      </p:sp>
      <p:cxnSp>
        <p:nvCxnSpPr>
          <p:cNvPr id="160" name="Straight Connector 159">
            <a:extLst>
              <a:ext uri="{FF2B5EF4-FFF2-40B4-BE49-F238E27FC236}">
                <a16:creationId xmlns:a16="http://schemas.microsoft.com/office/drawing/2014/main" id="{604C490F-2A61-A6AD-2F90-395724EDFA18}"/>
              </a:ext>
            </a:extLst>
          </p:cNvPr>
          <p:cNvCxnSpPr>
            <a:cxnSpLocks/>
          </p:cNvCxnSpPr>
          <p:nvPr/>
        </p:nvCxnSpPr>
        <p:spPr>
          <a:xfrm>
            <a:off x="260918" y="4343589"/>
            <a:ext cx="780957"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A4F45EE1-2C67-37ED-7D8F-9A4394D1C766}"/>
              </a:ext>
            </a:extLst>
          </p:cNvPr>
          <p:cNvSpPr txBox="1"/>
          <p:nvPr/>
        </p:nvSpPr>
        <p:spPr>
          <a:xfrm>
            <a:off x="533318" y="2885832"/>
            <a:ext cx="184731" cy="276999"/>
          </a:xfrm>
          <a:prstGeom prst="rect">
            <a:avLst/>
          </a:prstGeom>
          <a:noFill/>
        </p:spPr>
        <p:txBody>
          <a:bodyPr wrap="none" rtlCol="0">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panose="020B0604020202020204"/>
              <a:ea typeface="+mn-ea"/>
              <a:cs typeface="+mn-cs"/>
            </a:endParaRPr>
          </a:p>
        </p:txBody>
      </p:sp>
      <p:cxnSp>
        <p:nvCxnSpPr>
          <p:cNvPr id="162" name="Straight Connector 161">
            <a:extLst>
              <a:ext uri="{FF2B5EF4-FFF2-40B4-BE49-F238E27FC236}">
                <a16:creationId xmlns:a16="http://schemas.microsoft.com/office/drawing/2014/main" id="{0B22AB93-5A9A-F943-0D9C-22A5FB0470B7}"/>
              </a:ext>
            </a:extLst>
          </p:cNvPr>
          <p:cNvCxnSpPr>
            <a:cxnSpLocks/>
          </p:cNvCxnSpPr>
          <p:nvPr/>
        </p:nvCxnSpPr>
        <p:spPr>
          <a:xfrm>
            <a:off x="1041874" y="2717043"/>
            <a:ext cx="0" cy="3254344"/>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246C665F-AD56-73DD-2388-7EB416A94C6A}"/>
              </a:ext>
            </a:extLst>
          </p:cNvPr>
          <p:cNvSpPr txBox="1"/>
          <p:nvPr/>
        </p:nvSpPr>
        <p:spPr>
          <a:xfrm>
            <a:off x="1286734" y="3042773"/>
            <a:ext cx="923416" cy="338554"/>
          </a:xfrm>
          <a:prstGeom prst="rect">
            <a:avLst/>
          </a:prstGeom>
          <a:noFill/>
        </p:spPr>
        <p:txBody>
          <a:bodyPr wrap="square">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srgbClr val="FFFFFF"/>
                </a:solidFill>
                <a:effectLst/>
                <a:uLnTx/>
                <a:uFillTx/>
                <a:latin typeface="Arial" panose="020B0604020202020204"/>
                <a:ea typeface="+mn-ea"/>
                <a:cs typeface="+mn-cs"/>
              </a:rPr>
              <a:t>Applied &amp; </a:t>
            </a:r>
            <a:br>
              <a:rPr kumimoji="0" lang="en-US" sz="800" b="1" i="0" u="none" strike="noStrike" kern="1200" cap="none" spc="0" normalizeH="0" baseline="0" noProof="1">
                <a:ln>
                  <a:noFill/>
                </a:ln>
                <a:solidFill>
                  <a:srgbClr val="FFFFFF"/>
                </a:solidFill>
                <a:effectLst/>
                <a:uLnTx/>
                <a:uFillTx/>
                <a:latin typeface="Arial" panose="020B0604020202020204"/>
                <a:ea typeface="+mn-ea"/>
                <a:cs typeface="+mn-cs"/>
              </a:rPr>
            </a:br>
            <a:r>
              <a:rPr kumimoji="0" lang="en-US" sz="800" b="1" i="0" u="none" strike="noStrike" kern="1200" cap="none" spc="0" normalizeH="0" baseline="0" noProof="1">
                <a:ln>
                  <a:noFill/>
                </a:ln>
                <a:solidFill>
                  <a:srgbClr val="FFFFFF"/>
                </a:solidFill>
                <a:effectLst/>
                <a:uLnTx/>
                <a:uFillTx/>
                <a:latin typeface="Arial" panose="020B0604020202020204"/>
                <a:ea typeface="+mn-ea"/>
                <a:cs typeface="+mn-cs"/>
              </a:rPr>
              <a:t>Generative AI</a:t>
            </a:r>
          </a:p>
        </p:txBody>
      </p:sp>
      <p:sp>
        <p:nvSpPr>
          <p:cNvPr id="164" name="TextBox 163">
            <a:extLst>
              <a:ext uri="{FF2B5EF4-FFF2-40B4-BE49-F238E27FC236}">
                <a16:creationId xmlns:a16="http://schemas.microsoft.com/office/drawing/2014/main" id="{9D52D6CB-5E2F-59A3-2F34-8807A67BEF8C}"/>
              </a:ext>
            </a:extLst>
          </p:cNvPr>
          <p:cNvSpPr txBox="1"/>
          <p:nvPr/>
        </p:nvSpPr>
        <p:spPr>
          <a:xfrm>
            <a:off x="1286734" y="4162381"/>
            <a:ext cx="886684" cy="338554"/>
          </a:xfrm>
          <a:prstGeom prst="rect">
            <a:avLst/>
          </a:prstGeom>
          <a:noFill/>
        </p:spPr>
        <p:txBody>
          <a:bodyPr wrap="square">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srgbClr val="FFFFFF"/>
                </a:solidFill>
                <a:effectLst/>
                <a:uLnTx/>
                <a:uFillTx/>
                <a:latin typeface="Arial" panose="020B0604020202020204"/>
                <a:ea typeface="+mn-ea"/>
                <a:cs typeface="+mn-cs"/>
              </a:rPr>
              <a:t>Intelligent Automation</a:t>
            </a:r>
          </a:p>
        </p:txBody>
      </p:sp>
      <p:sp>
        <p:nvSpPr>
          <p:cNvPr id="165" name="TextBox 164">
            <a:extLst>
              <a:ext uri="{FF2B5EF4-FFF2-40B4-BE49-F238E27FC236}">
                <a16:creationId xmlns:a16="http://schemas.microsoft.com/office/drawing/2014/main" id="{CE966AD3-AE30-552E-92A5-F3740F9445AD}"/>
              </a:ext>
            </a:extLst>
          </p:cNvPr>
          <p:cNvSpPr txBox="1"/>
          <p:nvPr/>
        </p:nvSpPr>
        <p:spPr>
          <a:xfrm>
            <a:off x="1286734" y="5300016"/>
            <a:ext cx="923416" cy="338554"/>
          </a:xfrm>
          <a:prstGeom prst="rect">
            <a:avLst/>
          </a:prstGeom>
          <a:noFill/>
        </p:spPr>
        <p:txBody>
          <a:bodyPr wrap="square">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1">
                <a:ln>
                  <a:noFill/>
                </a:ln>
                <a:solidFill>
                  <a:srgbClr val="FFFFFF"/>
                </a:solidFill>
                <a:effectLst/>
                <a:uLnTx/>
                <a:uFillTx/>
                <a:latin typeface="Arial" panose="020B0604020202020204"/>
                <a:ea typeface="+mn-ea"/>
                <a:cs typeface="+mn-cs"/>
              </a:rPr>
              <a:t>Cloud &amp; Data Modernization</a:t>
            </a:r>
          </a:p>
        </p:txBody>
      </p:sp>
      <p:sp>
        <p:nvSpPr>
          <p:cNvPr id="166" name="pole tekstowe 5">
            <a:extLst>
              <a:ext uri="{FF2B5EF4-FFF2-40B4-BE49-F238E27FC236}">
                <a16:creationId xmlns:a16="http://schemas.microsoft.com/office/drawing/2014/main" id="{95E62980-02B4-B244-67A4-3E9E5A9D6B35}"/>
              </a:ext>
            </a:extLst>
          </p:cNvPr>
          <p:cNvSpPr txBox="1"/>
          <p:nvPr/>
        </p:nvSpPr>
        <p:spPr>
          <a:xfrm rot="10800000">
            <a:off x="10276041" y="2334366"/>
            <a:ext cx="346879" cy="3781173"/>
          </a:xfrm>
          <a:prstGeom prst="roundRect">
            <a:avLst>
              <a:gd name="adj" fmla="val 3179"/>
            </a:avLst>
          </a:prstGeom>
          <a:solidFill>
            <a:schemeClr val="bg1"/>
          </a:solidFill>
          <a:ln w="25400">
            <a:solidFill>
              <a:schemeClr val="accent2"/>
            </a:solidFill>
          </a:ln>
        </p:spPr>
        <p:txBody>
          <a:bodyPr vert="vert270" wrap="square" lIns="192000" tIns="96000" rIns="192000" bIns="96000" rtlCol="0" anchor="ctr">
            <a:no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1">
                <a:ln>
                  <a:noFill/>
                </a:ln>
                <a:solidFill>
                  <a:srgbClr val="000000"/>
                </a:solidFill>
                <a:effectLst/>
                <a:uLnTx/>
                <a:uFillTx/>
                <a:latin typeface="Arial" panose="020B0604020202020204"/>
                <a:ea typeface="+mn-ea"/>
                <a:cs typeface="+mn-cs"/>
              </a:rPr>
              <a:t>Other Industries</a:t>
            </a:r>
            <a:endParaRPr kumimoji="0" lang="en-US" sz="1200" b="0" i="0" u="none" strike="noStrike" kern="1200" cap="none" spc="0" normalizeH="0" baseline="0" noProof="1">
              <a:ln>
                <a:noFill/>
              </a:ln>
              <a:solidFill>
                <a:srgbClr val="000000"/>
              </a:solidFill>
              <a:effectLst/>
              <a:uLnTx/>
              <a:uFillTx/>
              <a:latin typeface="Arial" panose="020B0604020202020204"/>
              <a:ea typeface="+mn-ea"/>
              <a:cs typeface="+mn-cs"/>
            </a:endParaRPr>
          </a:p>
        </p:txBody>
      </p:sp>
      <p:sp>
        <p:nvSpPr>
          <p:cNvPr id="167" name="TextBox 166">
            <a:extLst>
              <a:ext uri="{FF2B5EF4-FFF2-40B4-BE49-F238E27FC236}">
                <a16:creationId xmlns:a16="http://schemas.microsoft.com/office/drawing/2014/main" id="{80074081-3153-F4B0-F817-DD8CF06BC551}"/>
              </a:ext>
            </a:extLst>
          </p:cNvPr>
          <p:cNvSpPr txBox="1"/>
          <p:nvPr/>
        </p:nvSpPr>
        <p:spPr>
          <a:xfrm>
            <a:off x="11013054" y="3539296"/>
            <a:ext cx="981003" cy="1356901"/>
          </a:xfrm>
          <a:prstGeom prst="rect">
            <a:avLst/>
          </a:prstGeom>
          <a:noFill/>
        </p:spPr>
        <p:txBody>
          <a:bodyPr wrap="square">
            <a:noAutofit/>
          </a:bodyPr>
          <a:lstStyle/>
          <a:p>
            <a:pPr marL="228623" marR="0" lvl="0" indent="-228623" algn="l" defTabSz="609660" rtl="0" eaLnBrk="1" fontAlgn="auto" latinLnBrk="0" hangingPunct="1">
              <a:lnSpc>
                <a:spcPct val="100000"/>
              </a:lnSpc>
              <a:spcBef>
                <a:spcPts val="0"/>
              </a:spcBef>
              <a:spcAft>
                <a:spcPts val="0"/>
              </a:spcAft>
              <a:buClrTx/>
              <a:buSzTx/>
              <a:buFont typeface="+mj-lt"/>
              <a:buAutoNum type="arabicPeriod"/>
              <a:tabLst/>
              <a:defRPr/>
            </a:pPr>
            <a:endPar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endParaRPr>
          </a:p>
          <a:p>
            <a:pPr marL="114312" marR="0" lvl="0" indent="-114312" algn="l" defTabSz="60966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rPr>
              <a:t>New Business Models</a:t>
            </a:r>
          </a:p>
          <a:p>
            <a:pPr marL="114312" marR="0" lvl="0" indent="-114312" algn="l" defTabSz="60966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rPr>
              <a:t>Competitive  Differentiation</a:t>
            </a:r>
          </a:p>
          <a:p>
            <a:pPr marL="114312" marR="0" lvl="0" indent="-114312" algn="l" defTabSz="60966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rPr>
              <a:t>Accelerated Growth  </a:t>
            </a:r>
          </a:p>
          <a:p>
            <a:pPr marL="114312" marR="0" lvl="0" indent="-114312" algn="l" defTabSz="60966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rPr>
              <a:t>Operational Efficiency</a:t>
            </a:r>
          </a:p>
          <a:p>
            <a:pPr marL="114312" marR="0" lvl="0" indent="-114312" algn="l" defTabSz="60966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rPr>
              <a:t>Speed to Market</a:t>
            </a:r>
          </a:p>
          <a:p>
            <a:pPr marL="152416" marR="0" lvl="0" indent="-152416" algn="l" defTabSz="609660" rtl="0" eaLnBrk="1" fontAlgn="auto" latinLnBrk="0" hangingPunct="1">
              <a:lnSpc>
                <a:spcPct val="100000"/>
              </a:lnSpc>
              <a:spcBef>
                <a:spcPts val="0"/>
              </a:spcBef>
              <a:spcAft>
                <a:spcPts val="400"/>
              </a:spcAft>
              <a:buClrTx/>
              <a:buSzTx/>
              <a:buFont typeface="+mj-lt"/>
              <a:buAutoNum type="arabicPeriod"/>
              <a:tabLst/>
              <a:defRPr/>
            </a:pPr>
            <a:endParaRPr kumimoji="0" lang="en-US" sz="800" b="0" i="0" u="none" strike="noStrike" kern="1200" cap="none" spc="0" normalizeH="0" baseline="0" noProof="1">
              <a:ln w="25400">
                <a:noFill/>
              </a:ln>
              <a:solidFill>
                <a:srgbClr val="000000"/>
              </a:solidFill>
              <a:effectLst/>
              <a:uLnTx/>
              <a:uFillTx/>
              <a:latin typeface="Arial" panose="020B0604020202020204"/>
              <a:ea typeface="+mn-ea"/>
              <a:cs typeface="+mn-cs"/>
            </a:endParaRPr>
          </a:p>
        </p:txBody>
      </p:sp>
      <p:sp>
        <p:nvSpPr>
          <p:cNvPr id="168" name="Rounded Rectangle 167">
            <a:extLst>
              <a:ext uri="{FF2B5EF4-FFF2-40B4-BE49-F238E27FC236}">
                <a16:creationId xmlns:a16="http://schemas.microsoft.com/office/drawing/2014/main" id="{C1C67405-2ACF-F22F-6D8F-FDC4C58C9E49}"/>
              </a:ext>
            </a:extLst>
          </p:cNvPr>
          <p:cNvSpPr/>
          <p:nvPr/>
        </p:nvSpPr>
        <p:spPr>
          <a:xfrm>
            <a:off x="2173418" y="1869436"/>
            <a:ext cx="8449501" cy="381564"/>
          </a:xfrm>
          <a:prstGeom prst="roundRect">
            <a:avLst>
              <a:gd name="adj" fmla="val 4005"/>
            </a:avLst>
          </a:prstGeom>
          <a:solidFill>
            <a:schemeClr val="bg2">
              <a:alpha val="20000"/>
            </a:schemeClr>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60966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1">
                <a:ln>
                  <a:noFill/>
                </a:ln>
                <a:solidFill>
                  <a:srgbClr val="000000"/>
                </a:solidFill>
                <a:effectLst/>
                <a:uLnTx/>
                <a:uFillTx/>
                <a:latin typeface="Arial" panose="020B0604020202020204" pitchFamily="34" charset="0"/>
                <a:ea typeface="+mn-ea"/>
                <a:cs typeface="Arial" panose="020B0604020202020204" pitchFamily="34" charset="0"/>
              </a:rPr>
              <a:t>Industry Digitalization</a:t>
            </a:r>
          </a:p>
        </p:txBody>
      </p:sp>
      <p:sp>
        <p:nvSpPr>
          <p:cNvPr id="169" name="TextBox 168">
            <a:extLst>
              <a:ext uri="{FF2B5EF4-FFF2-40B4-BE49-F238E27FC236}">
                <a16:creationId xmlns:a16="http://schemas.microsoft.com/office/drawing/2014/main" id="{65BC69CC-FE61-C626-5D65-BAF4B539B1D6}"/>
              </a:ext>
            </a:extLst>
          </p:cNvPr>
          <p:cNvSpPr txBox="1"/>
          <p:nvPr/>
        </p:nvSpPr>
        <p:spPr>
          <a:xfrm>
            <a:off x="11013054" y="3230588"/>
            <a:ext cx="1085000" cy="420756"/>
          </a:xfrm>
          <a:prstGeom prst="rect">
            <a:avLst/>
          </a:prstGeom>
          <a:noFill/>
        </p:spPr>
        <p:txBody>
          <a:bodyPr wrap="square">
            <a:spAutoFit/>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1">
                <a:ln>
                  <a:noFill/>
                </a:ln>
                <a:solidFill>
                  <a:srgbClr val="831B83"/>
                </a:solidFill>
                <a:effectLst/>
                <a:uLnTx/>
                <a:uFillTx/>
                <a:latin typeface="Arial" panose="020B0604020202020204"/>
                <a:ea typeface="+mn-ea"/>
                <a:cs typeface="+mn-cs"/>
              </a:rPr>
              <a:t>Business Outcomes</a:t>
            </a:r>
          </a:p>
        </p:txBody>
      </p:sp>
      <p:sp>
        <p:nvSpPr>
          <p:cNvPr id="170" name="Triangle 169">
            <a:extLst>
              <a:ext uri="{FF2B5EF4-FFF2-40B4-BE49-F238E27FC236}">
                <a16:creationId xmlns:a16="http://schemas.microsoft.com/office/drawing/2014/main" id="{3A00B32C-82CF-38CB-DE12-4A9C8CCDCDD6}"/>
              </a:ext>
            </a:extLst>
          </p:cNvPr>
          <p:cNvSpPr/>
          <p:nvPr/>
        </p:nvSpPr>
        <p:spPr>
          <a:xfrm rot="5400000">
            <a:off x="8950703" y="4124085"/>
            <a:ext cx="3781175" cy="244743"/>
          </a:xfrm>
          <a:prstGeom prst="triangle">
            <a:avLst>
              <a:gd name="adj" fmla="val 50306"/>
            </a:avLst>
          </a:prstGeom>
          <a:solidFill>
            <a:srgbClr val="5C4F61"/>
          </a:solidFill>
          <a:ln w="28575">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6096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FFFFFF"/>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FA9AA753-E5AB-8D3B-A452-11BD7C5B0140}"/>
              </a:ext>
            </a:extLst>
          </p:cNvPr>
          <p:cNvSpPr txBox="1"/>
          <p:nvPr/>
        </p:nvSpPr>
        <p:spPr>
          <a:xfrm>
            <a:off x="2506415" y="5704997"/>
            <a:ext cx="806207" cy="250971"/>
          </a:xfrm>
          <a:prstGeom prst="rect">
            <a:avLst/>
          </a:prstGeom>
          <a:noFill/>
        </p:spPr>
        <p:txBody>
          <a:bodyPr wrap="square">
            <a:noAutofit/>
          </a:bodyPr>
          <a:lstStyle/>
          <a:p>
            <a:pPr marL="0" marR="0" lvl="0" indent="0" algn="r" defTabSz="60966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1">
                <a:ln w="25400">
                  <a:noFill/>
                </a:ln>
                <a:solidFill>
                  <a:srgbClr val="6C1D5F"/>
                </a:solidFill>
                <a:effectLst/>
                <a:uLnTx/>
                <a:uFillTx/>
                <a:latin typeface="Arial" panose="020B0604020202020204"/>
                <a:ea typeface="+mn-ea"/>
                <a:cs typeface="+mn-cs"/>
              </a:rPr>
              <a:t>+ More</a:t>
            </a:r>
            <a:endParaRPr kumimoji="0" lang="en-US" sz="733" b="0" i="0" u="none" strike="noStrike" kern="1200" cap="none" spc="0" normalizeH="0" baseline="0" noProof="1">
              <a:ln w="25400">
                <a:noFill/>
              </a:ln>
              <a:solidFill>
                <a:srgbClr val="6C1D5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443614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Een nieuw document maken." ma:contentTypeScope="" ma:versionID="34baedd750c5ac2de39e17369f75ff4a">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94b6d483c48ce3ecd8a1cc1f7c9283d7"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AE1BA6-F8E4-4A54-B5B6-425ACADB2EF7}">
  <ds:schemaRefs>
    <ds:schemaRef ds:uri="http://schemas.microsoft.com/sharepoint/v3/contenttype/forms"/>
  </ds:schemaRefs>
</ds:datastoreItem>
</file>

<file path=customXml/itemProps2.xml><?xml version="1.0" encoding="utf-8"?>
<ds:datastoreItem xmlns:ds="http://schemas.openxmlformats.org/officeDocument/2006/customXml" ds:itemID="{1D3ACE75-9ACE-42BF-9FFC-A3A351CB93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59e707-c4dc-481c-8f20-1390d9b1763d"/>
    <ds:schemaRef ds:uri="20a0acd5-61c4-4018-b951-c082e5b75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D5BDD8F-EC02-43C4-A7A2-42E8D7C3FCF4}">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At Xebia, we’ve reimagined our business to address a new AI-powered transformation agenda with our clients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cp:revision>
  <dcterms:created xsi:type="dcterms:W3CDTF">2026-01-23T10:53:53Z</dcterms:created>
  <dcterms:modified xsi:type="dcterms:W3CDTF">2026-01-23T10:57:23Z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