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6"/>
  </p:notesMasterIdLst>
  <p:sldIdLst>
    <p:sldId id="214684761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0FE4AA-5D94-64AD-80AE-E8D99AA6156D}" v="2" dt="2026-01-23T14:10:32.8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orge Sereda" userId="S::george.sereda@xebia.com::5e824fc6-3a6a-482b-8597-f9374fb4b421" providerId="AD" clId="Web-{690FE4AA-5D94-64AD-80AE-E8D99AA6156D}"/>
    <pc:docChg chg="addSld delSld">
      <pc:chgData name="George Sereda" userId="S::george.sereda@xebia.com::5e824fc6-3a6a-482b-8597-f9374fb4b421" providerId="AD" clId="Web-{690FE4AA-5D94-64AD-80AE-E8D99AA6156D}" dt="2026-01-23T14:10:32.876" v="1"/>
      <pc:docMkLst>
        <pc:docMk/>
      </pc:docMkLst>
      <pc:sldChg chg="del">
        <pc:chgData name="George Sereda" userId="S::george.sereda@xebia.com::5e824fc6-3a6a-482b-8597-f9374fb4b421" providerId="AD" clId="Web-{690FE4AA-5D94-64AD-80AE-E8D99AA6156D}" dt="2026-01-23T14:10:32.876" v="1"/>
        <pc:sldMkLst>
          <pc:docMk/>
          <pc:sldMk cId="109857222" sldId="256"/>
        </pc:sldMkLst>
      </pc:sldChg>
      <pc:sldChg chg="add">
        <pc:chgData name="George Sereda" userId="S::george.sereda@xebia.com::5e824fc6-3a6a-482b-8597-f9374fb4b421" providerId="AD" clId="Web-{690FE4AA-5D94-64AD-80AE-E8D99AA6156D}" dt="2026-01-23T14:10:25.953" v="0"/>
        <pc:sldMkLst>
          <pc:docMk/>
          <pc:sldMk cId="719563802" sldId="2146847617"/>
        </pc:sldMkLst>
      </pc:sldChg>
      <pc:sldMasterChg chg="addSldLayout">
        <pc:chgData name="George Sereda" userId="S::george.sereda@xebia.com::5e824fc6-3a6a-482b-8597-f9374fb4b421" providerId="AD" clId="Web-{690FE4AA-5D94-64AD-80AE-E8D99AA6156D}" dt="2026-01-23T14:10:25.953" v="0"/>
        <pc:sldMasterMkLst>
          <pc:docMk/>
          <pc:sldMasterMk cId="2460954070" sldId="2147483660"/>
        </pc:sldMasterMkLst>
        <pc:sldLayoutChg chg="add">
          <pc:chgData name="George Sereda" userId="S::george.sereda@xebia.com::5e824fc6-3a6a-482b-8597-f9374fb4b421" providerId="AD" clId="Web-{690FE4AA-5D94-64AD-80AE-E8D99AA6156D}" dt="2026-01-23T14:10:25.953" v="0"/>
          <pc:sldLayoutMkLst>
            <pc:docMk/>
            <pc:sldMasterMk cId="2460954070" sldId="2147483660"/>
            <pc:sldLayoutMk cId="824620929" sldId="2147483672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6E2D00-B9EE-48A5-B833-734DBDE63055}" type="datetimeFigureOut">
              <a:t>1/23/2026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8B07C2-2D9B-41D0-86A5-222FDE1C93A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9774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94C32-6B5D-21CC-EE67-2713964EB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B94266-C2A4-D7DE-B84F-64EEC8AE72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328282-F1C3-51A9-60B2-03F6DEBC52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1F5F96-C882-C584-DDE2-420DE8D656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88A791-D8E8-4C23-A528-EAEB42DC40E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8516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itle+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>
            <a:extLst>
              <a:ext uri="{FF2B5EF4-FFF2-40B4-BE49-F238E27FC236}">
                <a16:creationId xmlns:a16="http://schemas.microsoft.com/office/drawing/2014/main" id="{FF4C1F15-4D7F-A4C2-9E63-6E4C1835AE5D}"/>
              </a:ext>
            </a:extLst>
          </p:cNvPr>
          <p:cNvSpPr/>
          <p:nvPr userDrawn="1"/>
        </p:nvSpPr>
        <p:spPr>
          <a:xfrm>
            <a:off x="0" y="2362961"/>
            <a:ext cx="12192000" cy="4483603"/>
          </a:xfrm>
          <a:custGeom>
            <a:avLst/>
            <a:gdLst>
              <a:gd name="connsiteX0" fmla="*/ 7094336 w 12223102"/>
              <a:gd name="connsiteY0" fmla="*/ 973 h 4495041"/>
              <a:gd name="connsiteX1" fmla="*/ 7658561 w 12223102"/>
              <a:gd name="connsiteY1" fmla="*/ 19161 h 4495041"/>
              <a:gd name="connsiteX2" fmla="*/ 12132909 w 12223102"/>
              <a:gd name="connsiteY2" fmla="*/ 2524033 h 4495041"/>
              <a:gd name="connsiteX3" fmla="*/ 12223102 w 12223102"/>
              <a:gd name="connsiteY3" fmla="*/ 2696368 h 4495041"/>
              <a:gd name="connsiteX4" fmla="*/ 12223102 w 12223102"/>
              <a:gd name="connsiteY4" fmla="*/ 4495041 h 4495041"/>
              <a:gd name="connsiteX5" fmla="*/ 0 w 12223102"/>
              <a:gd name="connsiteY5" fmla="*/ 4495041 h 4495041"/>
              <a:gd name="connsiteX6" fmla="*/ 0 w 12223102"/>
              <a:gd name="connsiteY6" fmla="*/ 1679964 h 4495041"/>
              <a:gd name="connsiteX7" fmla="*/ 203273 w 12223102"/>
              <a:gd name="connsiteY7" fmla="*/ 1557797 h 4495041"/>
              <a:gd name="connsiteX8" fmla="*/ 3532858 w 12223102"/>
              <a:gd name="connsiteY8" fmla="*/ 749399 h 4495041"/>
              <a:gd name="connsiteX9" fmla="*/ 7094336 w 12223102"/>
              <a:gd name="connsiteY9" fmla="*/ 973 h 4495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23102" h="4495041">
                <a:moveTo>
                  <a:pt x="7094336" y="973"/>
                </a:moveTo>
                <a:cubicBezTo>
                  <a:pt x="7276515" y="-2440"/>
                  <a:pt x="7464078" y="3013"/>
                  <a:pt x="7658561" y="19161"/>
                </a:cubicBezTo>
                <a:cubicBezTo>
                  <a:pt x="9210601" y="139180"/>
                  <a:pt x="11209251" y="954376"/>
                  <a:pt x="12132909" y="2524033"/>
                </a:cubicBezTo>
                <a:lnTo>
                  <a:pt x="12223102" y="2696368"/>
                </a:lnTo>
                <a:lnTo>
                  <a:pt x="12223102" y="4495041"/>
                </a:lnTo>
                <a:lnTo>
                  <a:pt x="0" y="4495041"/>
                </a:lnTo>
                <a:lnTo>
                  <a:pt x="0" y="1679964"/>
                </a:lnTo>
                <a:lnTo>
                  <a:pt x="203273" y="1557797"/>
                </a:lnTo>
                <a:cubicBezTo>
                  <a:pt x="1130500" y="1056162"/>
                  <a:pt x="2430761" y="972836"/>
                  <a:pt x="3532858" y="749399"/>
                </a:cubicBezTo>
                <a:cubicBezTo>
                  <a:pt x="4807615" y="483242"/>
                  <a:pt x="5819080" y="24865"/>
                  <a:pt x="7094336" y="973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C95D01-D82B-260F-3184-C82FCF65A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en-GB"/>
              <a:t>Title of contents</a:t>
            </a:r>
            <a:br>
              <a:rPr lang="en-GB"/>
            </a:br>
            <a:r>
              <a:rPr lang="en-GB"/>
              <a:t>max. 2 lines</a:t>
            </a:r>
            <a:endParaRPr lang="en-P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499901-7039-A0DA-0378-0454A496E8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E75B84-B7E0-4C4B-AC9D-894B0C074E7C}" type="slidenum">
              <a:rPr lang="en-PL" smtClean="0"/>
              <a:pPr/>
              <a:t>‹#›</a:t>
            </a:fld>
            <a:endParaRPr lang="en-PL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39AA7B67-6693-B256-903C-FCF873DB345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50862" y="1825625"/>
            <a:ext cx="11090276" cy="447337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>
              <a:lnSpc>
                <a:spcPct val="110000"/>
              </a:lnSpc>
              <a:buClr>
                <a:schemeClr val="accent3"/>
              </a:buClr>
              <a:buSzPct val="75000"/>
              <a:buFont typeface="Wingdings" panose="05000000000000000000" pitchFamily="2" charset="2"/>
              <a:buChar char="£"/>
              <a:tabLst>
                <a:tab pos="6456363" algn="l"/>
              </a:tabLst>
              <a:defRPr sz="1800"/>
            </a:lvl1pPr>
            <a:lvl2pPr>
              <a:lnSpc>
                <a:spcPct val="110000"/>
              </a:lnSpc>
              <a:buClr>
                <a:schemeClr val="tx2"/>
              </a:buClr>
              <a:defRPr sz="1800"/>
            </a:lvl2pPr>
            <a:lvl3pPr>
              <a:lnSpc>
                <a:spcPct val="110000"/>
              </a:lnSpc>
              <a:buClr>
                <a:schemeClr val="accent3"/>
              </a:buClr>
              <a:defRPr sz="1800"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526320B-341E-6450-12F2-01073014314F}"/>
              </a:ext>
            </a:extLst>
          </p:cNvPr>
          <p:cNvSpPr/>
          <p:nvPr userDrawn="1"/>
        </p:nvSpPr>
        <p:spPr>
          <a:xfrm>
            <a:off x="10002417" y="0"/>
            <a:ext cx="2189583" cy="774441"/>
          </a:xfrm>
          <a:custGeom>
            <a:avLst/>
            <a:gdLst>
              <a:gd name="connsiteX0" fmla="*/ 0 w 2180253"/>
              <a:gd name="connsiteY0" fmla="*/ 0 h 251927"/>
              <a:gd name="connsiteX1" fmla="*/ 2180253 w 2180253"/>
              <a:gd name="connsiteY1" fmla="*/ 0 h 251927"/>
              <a:gd name="connsiteX2" fmla="*/ 2180253 w 2180253"/>
              <a:gd name="connsiteY2" fmla="*/ 251927 h 251927"/>
              <a:gd name="connsiteX3" fmla="*/ 0 w 2180253"/>
              <a:gd name="connsiteY3" fmla="*/ 251927 h 251927"/>
              <a:gd name="connsiteX4" fmla="*/ 0 w 2180253"/>
              <a:gd name="connsiteY4" fmla="*/ 0 h 251927"/>
              <a:gd name="connsiteX0" fmla="*/ 0 w 2180253"/>
              <a:gd name="connsiteY0" fmla="*/ 0 h 447870"/>
              <a:gd name="connsiteX1" fmla="*/ 2180253 w 2180253"/>
              <a:gd name="connsiteY1" fmla="*/ 0 h 447870"/>
              <a:gd name="connsiteX2" fmla="*/ 2180253 w 2180253"/>
              <a:gd name="connsiteY2" fmla="*/ 251927 h 447870"/>
              <a:gd name="connsiteX3" fmla="*/ 933061 w 2180253"/>
              <a:gd name="connsiteY3" fmla="*/ 447870 h 447870"/>
              <a:gd name="connsiteX4" fmla="*/ 0 w 2180253"/>
              <a:gd name="connsiteY4" fmla="*/ 0 h 447870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89583" h="774441">
                <a:moveTo>
                  <a:pt x="0" y="0"/>
                </a:moveTo>
                <a:lnTo>
                  <a:pt x="2180253" y="0"/>
                </a:lnTo>
                <a:lnTo>
                  <a:pt x="2189583" y="774441"/>
                </a:lnTo>
                <a:cubicBezTo>
                  <a:pt x="1696098" y="581609"/>
                  <a:pt x="1426547" y="547397"/>
                  <a:pt x="933061" y="447870"/>
                </a:cubicBezTo>
                <a:cubicBezTo>
                  <a:pt x="202163" y="214604"/>
                  <a:pt x="311020" y="149290"/>
                  <a:pt x="0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 b="1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8C8286DF-4E1C-B3A7-F847-34C7B9B81A78}"/>
              </a:ext>
            </a:extLst>
          </p:cNvPr>
          <p:cNvSpPr/>
          <p:nvPr userDrawn="1"/>
        </p:nvSpPr>
        <p:spPr>
          <a:xfrm>
            <a:off x="8406882" y="-9331"/>
            <a:ext cx="3816220" cy="1231641"/>
          </a:xfrm>
          <a:custGeom>
            <a:avLst/>
            <a:gdLst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16220" h="1231641">
                <a:moveTo>
                  <a:pt x="0" y="0"/>
                </a:moveTo>
                <a:cubicBezTo>
                  <a:pt x="866969" y="214604"/>
                  <a:pt x="1174103" y="270590"/>
                  <a:pt x="2090057" y="522515"/>
                </a:cubicBezTo>
                <a:cubicBezTo>
                  <a:pt x="3127309" y="895739"/>
                  <a:pt x="3271156" y="979714"/>
                  <a:pt x="3816220" y="1231641"/>
                </a:cubicBezTo>
              </a:path>
            </a:pathLst>
          </a:cu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 b="1"/>
          </a:p>
        </p:txBody>
      </p:sp>
    </p:spTree>
    <p:extLst>
      <p:ext uri="{BB962C8B-B14F-4D97-AF65-F5344CB8AC3E}">
        <p14:creationId xmlns:p14="http://schemas.microsoft.com/office/powerpoint/2010/main" val="824620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91D9A-DB98-BEFA-60D8-06016ADA7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9DA53-0A73-4A2D-846E-94BDA6FBB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Stakeholder </a:t>
            </a:r>
            <a:r>
              <a:rPr lang="nl-NL" err="1"/>
              <a:t>Alignment</a:t>
            </a:r>
            <a:endParaRPr lang="nl-N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1FCF0B1-C3E9-D1E5-2713-1D5191EA31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E75B84-B7E0-4C4B-AC9D-894B0C074E7C}" type="slidenum">
              <a:rPr lang="en-PL" smtClean="0"/>
              <a:pPr/>
              <a:t>1</a:t>
            </a:fld>
            <a:endParaRPr lang="en-P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815C38-061C-3F9B-FD32-FB51AAF23A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1" y="1262408"/>
            <a:ext cx="5011739" cy="4473374"/>
          </a:xfrm>
        </p:spPr>
        <p:txBody>
          <a:bodyPr vert="horz" lIns="0" tIns="0" rIns="0" bIns="0" numCol="1" rtlCol="0" anchor="t">
            <a:noAutofit/>
          </a:bodyPr>
          <a:lstStyle/>
          <a:p>
            <a:pPr marL="0" indent="0">
              <a:buNone/>
            </a:pPr>
            <a:r>
              <a:rPr lang="en-US" sz="1400" b="1"/>
              <a:t>Meeting with Joost </a:t>
            </a:r>
            <a:r>
              <a:rPr lang="en-US" sz="1400" b="1" err="1"/>
              <a:t>Sparreboom</a:t>
            </a:r>
            <a:r>
              <a:rPr lang="en-US" sz="1400" b="1"/>
              <a:t> - September 5, 2025</a:t>
            </a:r>
            <a:endParaRPr lang="en-US" sz="1400"/>
          </a:p>
          <a:p>
            <a:r>
              <a:rPr lang="en-US" sz="1400"/>
              <a:t>Current system runs well</a:t>
            </a:r>
          </a:p>
          <a:p>
            <a:r>
              <a:rPr lang="en-US" sz="1400"/>
              <a:t>Performance improvements not critically needed initially - can happen in phase 2</a:t>
            </a:r>
          </a:p>
          <a:p>
            <a:r>
              <a:rPr lang="en-US" sz="1400"/>
              <a:t>Assignment should focus on Azure infrastructure migration from VMs to containers</a:t>
            </a:r>
          </a:p>
          <a:p>
            <a:r>
              <a:rPr lang="en-US" sz="1400"/>
              <a:t>Performance optimizations should be based on the right infrastructure</a:t>
            </a:r>
          </a:p>
          <a:p>
            <a:r>
              <a:rPr lang="en-US" sz="1400"/>
              <a:t>Java should work with limited/no modifications</a:t>
            </a:r>
          </a:p>
          <a:p>
            <a:pPr marL="0" indent="0">
              <a:buNone/>
            </a:pPr>
            <a:r>
              <a:rPr lang="en-US" sz="1400" b="1" err="1"/>
              <a:t>Phonecall</a:t>
            </a:r>
            <a:r>
              <a:rPr lang="en-US" sz="1400" b="1"/>
              <a:t> with Jan-Paul Lottering - October 1, 2025</a:t>
            </a:r>
            <a:endParaRPr lang="en-US" sz="1400"/>
          </a:p>
          <a:p>
            <a:r>
              <a:rPr lang="en-US" sz="1400"/>
              <a:t>Future clients require scalability improvements (~100k → 3-4 million policyholders)</a:t>
            </a:r>
          </a:p>
          <a:p>
            <a:r>
              <a:rPr lang="en-US" sz="1400"/>
              <a:t>Recommended 2-phase approach with solution architecture first</a:t>
            </a:r>
          </a:p>
          <a:p>
            <a:r>
              <a:rPr lang="en-US" sz="1400"/>
              <a:t>Need multi-year roadmap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FA07C732-6297-DF32-6502-C5C814A505FA}"/>
              </a:ext>
            </a:extLst>
          </p:cNvPr>
          <p:cNvSpPr txBox="1">
            <a:spLocks/>
          </p:cNvSpPr>
          <p:nvPr/>
        </p:nvSpPr>
        <p:spPr>
          <a:xfrm>
            <a:off x="6095999" y="1262408"/>
            <a:ext cx="5011739" cy="4473374"/>
          </a:xfrm>
          <a:prstGeom prst="rect">
            <a:avLst/>
          </a:prstGeom>
        </p:spPr>
        <p:txBody>
          <a:bodyPr vert="horz" lIns="0" tIns="0" rIns="0" bIns="0" numCol="1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accent3"/>
              </a:buClr>
              <a:buSzPct val="75000"/>
              <a:buFont typeface="Wingdings" panose="05000000000000000000" pitchFamily="2" charset="2"/>
              <a:buChar char="£"/>
              <a:tabLst>
                <a:tab pos="6456363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/>
              <a:t>Meeting with Delio Goncalves - October 12, 2025</a:t>
            </a:r>
            <a:endParaRPr lang="en-US" sz="1400"/>
          </a:p>
          <a:p>
            <a:r>
              <a:rPr lang="en-US" sz="1400"/>
              <a:t>Advised to find bottlenecks through analysis first before infrastructure changes</a:t>
            </a:r>
          </a:p>
          <a:p>
            <a:r>
              <a:rPr lang="en-US" sz="1400"/>
              <a:t>Identified several Windows dependencies that may complicate migration to Linux/containers</a:t>
            </a:r>
          </a:p>
          <a:p>
            <a:r>
              <a:rPr lang="en-US" sz="1400"/>
              <a:t>Suspects the database is the current bottleneck</a:t>
            </a:r>
          </a:p>
          <a:p>
            <a:r>
              <a:rPr lang="en-US" sz="1400"/>
              <a:t>Recommends focusing on performance improvement only after understanding system</a:t>
            </a:r>
          </a:p>
          <a:p>
            <a:pPr marL="0" indent="0">
              <a:buNone/>
            </a:pPr>
            <a:r>
              <a:rPr lang="en-US" sz="1400" b="1"/>
              <a:t>Our Advice:</a:t>
            </a:r>
            <a:br>
              <a:rPr lang="en-US" sz="1400"/>
            </a:br>
            <a:r>
              <a:rPr lang="en-US" sz="1400"/>
              <a:t>We align with all perspectives: migrate to containers first, then optimize for the target infrastructure rather than current VM environment. This ensures we're optimizing for the right architecture.</a:t>
            </a:r>
          </a:p>
        </p:txBody>
      </p:sp>
    </p:spTree>
    <p:extLst>
      <p:ext uri="{BB962C8B-B14F-4D97-AF65-F5344CB8AC3E}">
        <p14:creationId xmlns:p14="http://schemas.microsoft.com/office/powerpoint/2010/main" val="719563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0a0acd5-61c4-4018-b951-c082e5b75858" xsi:nil="true"/>
    <lcf76f155ced4ddcb4097134ff3c332f xmlns="c559e707-c4dc-481c-8f20-1390d9b1763d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8AB178B1C63764FB69DC687AF91F3C3" ma:contentTypeVersion="14" ma:contentTypeDescription="Een nieuw document maken." ma:contentTypeScope="" ma:versionID="34baedd750c5ac2de39e17369f75ff4a">
  <xsd:schema xmlns:xsd="http://www.w3.org/2001/XMLSchema" xmlns:xs="http://www.w3.org/2001/XMLSchema" xmlns:p="http://schemas.microsoft.com/office/2006/metadata/properties" xmlns:ns2="c559e707-c4dc-481c-8f20-1390d9b1763d" xmlns:ns3="20a0acd5-61c4-4018-b951-c082e5b75858" targetNamespace="http://schemas.microsoft.com/office/2006/metadata/properties" ma:root="true" ma:fieldsID="94b6d483c48ce3ecd8a1cc1f7c9283d7" ns2:_="" ns3:_="">
    <xsd:import namespace="c559e707-c4dc-481c-8f20-1390d9b1763d"/>
    <xsd:import namespace="20a0acd5-61c4-4018-b951-c082e5b7585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59e707-c4dc-481c-8f20-1390d9b1763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Afbeeldingtags" ma:readOnly="false" ma:fieldId="{5cf76f15-5ced-4ddc-b409-7134ff3c332f}" ma:taxonomyMulti="true" ma:sspId="28eca5aa-3823-4333-92a0-adf3de86d96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a0acd5-61c4-4018-b951-c082e5b75858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426fe27f-2603-4c92-a102-685a412d01be}" ma:internalName="TaxCatchAll" ma:showField="CatchAllData" ma:web="20a0acd5-61c4-4018-b951-c082e5b7585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792C9D5-81F8-4251-9900-3603364BCEA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A4CCF63-162A-4E94-9975-CF69289806C0}">
  <ds:schemaRefs>
    <ds:schemaRef ds:uri="http://schemas.microsoft.com/office/2006/metadata/properties"/>
    <ds:schemaRef ds:uri="http://schemas.microsoft.com/office/infopath/2007/PartnerControls"/>
    <ds:schemaRef ds:uri="20a0acd5-61c4-4018-b951-c082e5b75858"/>
    <ds:schemaRef ds:uri="c559e707-c4dc-481c-8f20-1390d9b1763d"/>
  </ds:schemaRefs>
</ds:datastoreItem>
</file>

<file path=customXml/itemProps3.xml><?xml version="1.0" encoding="utf-8"?>
<ds:datastoreItem xmlns:ds="http://schemas.openxmlformats.org/officeDocument/2006/customXml" ds:itemID="{B38404AD-D8D9-41E4-BF41-E9FACDCEF6CE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Stakeholder Alignment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</cp:revision>
  <dcterms:created xsi:type="dcterms:W3CDTF">2026-01-23T14:09:45Z</dcterms:created>
  <dcterms:modified xsi:type="dcterms:W3CDTF">2026-01-23T14:10:36Z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0x01010038AB178B1C63764FB69DC687AF91F3C3</vt:lpwstr>
  </property>
  <property fmtid="{D5CDD505-2E9C-101B-9397-08002B2CF9AE}" pid="3" name="MediaServiceImageTags">
    <vt:lpwstr/>
  </property>
</Properties>
</file>