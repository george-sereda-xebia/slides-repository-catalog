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7FF64A21_627D65A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6847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FDB02F-6C3A-E2B0-B990-E20A059828E3}" name="Ruben Oostinga" initials="RO" userId="S::roostinga@xebia.com::b47da8b3-6910-4561-8b63-58f0576537d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1C1BC-A446-3A06-EAB1-E93AA68983D1}" v="11" dt="2026-01-23T14:07:38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74F1C1BC-A446-3A06-EAB1-E93AA68983D1}"/>
    <pc:docChg chg="addSld delSld">
      <pc:chgData name="George Sereda" userId="S::george.sereda@xebia.com::5e824fc6-3a6a-482b-8597-f9374fb4b421" providerId="AD" clId="Web-{74F1C1BC-A446-3A06-EAB1-E93AA68983D1}" dt="2026-01-23T14:07:35.895" v="3"/>
      <pc:docMkLst>
        <pc:docMk/>
      </pc:docMkLst>
      <pc:sldChg chg="del">
        <pc:chgData name="George Sereda" userId="S::george.sereda@xebia.com::5e824fc6-3a6a-482b-8597-f9374fb4b421" providerId="AD" clId="Web-{74F1C1BC-A446-3A06-EAB1-E93AA68983D1}" dt="2026-01-23T14:07:35.895" v="3"/>
        <pc:sldMkLst>
          <pc:docMk/>
          <pc:sldMk cId="109857222" sldId="256"/>
        </pc:sldMkLst>
      </pc:sldChg>
      <pc:sldChg chg="add del">
        <pc:chgData name="George Sereda" userId="S::george.sereda@xebia.com::5e824fc6-3a6a-482b-8597-f9374fb4b421" providerId="AD" clId="Web-{74F1C1BC-A446-3A06-EAB1-E93AA68983D1}" dt="2026-01-23T14:07:33.864" v="2"/>
        <pc:sldMkLst>
          <pc:docMk/>
          <pc:sldMk cId="1652385196" sldId="2146847265"/>
        </pc:sldMkLst>
      </pc:sldChg>
      <pc:sldMasterChg chg="addSldLayout">
        <pc:chgData name="George Sereda" userId="S::george.sereda@xebia.com::5e824fc6-3a6a-482b-8597-f9374fb4b421" providerId="AD" clId="Web-{74F1C1BC-A446-3A06-EAB1-E93AA68983D1}" dt="2026-01-23T14:07:28.801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74F1C1BC-A446-3A06-EAB1-E93AA68983D1}" dt="2026-01-23T14:07:28.801" v="0"/>
          <pc:sldLayoutMkLst>
            <pc:docMk/>
            <pc:sldMasterMk cId="2460954070" sldId="2147483660"/>
            <pc:sldLayoutMk cId="153809292" sldId="2147483672"/>
          </pc:sldLayoutMkLst>
        </pc:sldLayoutChg>
      </pc:sldMasterChg>
    </pc:docChg>
  </pc:docChgLst>
</pc:chgInfo>
</file>

<file path=ppt/comments/modernComment_7FF64A21_627D65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1BB068-DD0E-3B48-99E7-927DE5E37F7D}" authorId="{EBFDB02F-6C3A-E2B0-B990-E20A059828E3}" created="2025-08-05T12:35:10.2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652385196" sldId="2146847265"/>
      <ac:spMk id="5" creationId="{18DCF546-537E-33B7-264A-73C525E462F3}"/>
    </ac:deMkLst>
    <p188:txBody>
      <a:bodyPr/>
      <a:lstStyle/>
      <a:p>
        <a:r>
          <a:rPr lang="nl-NL"/>
          <a:t>Hebben we dit nodig voor dit voorstel?
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+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62961"/>
            <a:ext cx="12192000" cy="4483603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95041">
                <a:moveTo>
                  <a:pt x="7094336" y="973"/>
                </a:moveTo>
                <a:cubicBezTo>
                  <a:pt x="7276515" y="-2440"/>
                  <a:pt x="7464078" y="3013"/>
                  <a:pt x="7658561" y="19161"/>
                </a:cubicBezTo>
                <a:cubicBezTo>
                  <a:pt x="9210601" y="139180"/>
                  <a:pt x="11209251" y="954376"/>
                  <a:pt x="12132909" y="2524033"/>
                </a:cubicBezTo>
                <a:lnTo>
                  <a:pt x="12223102" y="2696368"/>
                </a:lnTo>
                <a:lnTo>
                  <a:pt x="12223102" y="4495041"/>
                </a:lnTo>
                <a:lnTo>
                  <a:pt x="0" y="4495041"/>
                </a:lnTo>
                <a:lnTo>
                  <a:pt x="0" y="1679964"/>
                </a:lnTo>
                <a:lnTo>
                  <a:pt x="203273" y="1557797"/>
                </a:lnTo>
                <a:cubicBezTo>
                  <a:pt x="1130500" y="1056162"/>
                  <a:pt x="2430761" y="972836"/>
                  <a:pt x="3532858" y="749399"/>
                </a:cubicBezTo>
                <a:cubicBezTo>
                  <a:pt x="4807615" y="483242"/>
                  <a:pt x="5819080" y="24865"/>
                  <a:pt x="7094336" y="9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GB"/>
              <a:t>Title of contents</a:t>
            </a:r>
            <a:br>
              <a:rPr lang="en-GB"/>
            </a:br>
            <a:r>
              <a:rPr lang="en-GB"/>
              <a:t>max. 2 lines</a:t>
            </a:r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1825625"/>
            <a:ext cx="11090276" cy="44733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>
              <a:lnSpc>
                <a:spcPct val="110000"/>
              </a:lnSpc>
              <a:buClr>
                <a:schemeClr val="accent3"/>
              </a:buClr>
              <a:buSzPct val="75000"/>
              <a:buFont typeface="Wingdings" panose="05000000000000000000" pitchFamily="2" charset="2"/>
              <a:buChar char="£"/>
              <a:tabLst>
                <a:tab pos="6456363" algn="l"/>
              </a:tabLst>
              <a:defRPr sz="1800"/>
            </a:lvl1pPr>
            <a:lvl2pPr>
              <a:lnSpc>
                <a:spcPct val="110000"/>
              </a:lnSpc>
              <a:buClr>
                <a:schemeClr val="tx2"/>
              </a:buClr>
              <a:defRPr sz="1800"/>
            </a:lvl2pPr>
            <a:lvl3pPr>
              <a:lnSpc>
                <a:spcPct val="110000"/>
              </a:lnSpc>
              <a:buClr>
                <a:schemeClr val="accent3"/>
              </a:buClr>
              <a:defRPr sz="18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526320B-341E-6450-12F2-01073014314F}"/>
              </a:ext>
            </a:extLst>
          </p:cNvPr>
          <p:cNvSpPr/>
          <p:nvPr userDrawn="1"/>
        </p:nvSpPr>
        <p:spPr>
          <a:xfrm>
            <a:off x="10002417" y="0"/>
            <a:ext cx="2189583" cy="774441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9583" h="774441">
                <a:moveTo>
                  <a:pt x="0" y="0"/>
                </a:moveTo>
                <a:lnTo>
                  <a:pt x="2180253" y="0"/>
                </a:lnTo>
                <a:lnTo>
                  <a:pt x="2189583" y="774441"/>
                </a:lnTo>
                <a:cubicBezTo>
                  <a:pt x="1696098" y="581609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</p:spTree>
    <p:extLst>
      <p:ext uri="{BB962C8B-B14F-4D97-AF65-F5344CB8AC3E}">
        <p14:creationId xmlns:p14="http://schemas.microsoft.com/office/powerpoint/2010/main" val="153809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7FF64A21_627D65AC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8DCF546-537E-33B7-264A-73C525E4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9002"/>
            <a:ext cx="11090275" cy="769118"/>
          </a:xfrm>
        </p:spPr>
        <p:txBody>
          <a:bodyPr/>
          <a:lstStyle/>
          <a:p>
            <a:r>
              <a:rPr lang="en-GB"/>
              <a:t>The assessment process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9830506-9127-470B-AA0E-73082CBB4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531336"/>
            <a:ext cx="11090276" cy="2934001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GB" sz="1600"/>
              <a:t>We utilize our RIGOR approach to come to our recommendations:</a:t>
            </a:r>
          </a:p>
          <a:p>
            <a:pPr>
              <a:buFont typeface="Wingdings" panose="05000000000000000000" pitchFamily="2" charset="2"/>
              <a:buChar char=""/>
            </a:pPr>
            <a:r>
              <a:rPr lang="en-GB" sz="1600"/>
              <a:t>Learn about the current </a:t>
            </a:r>
            <a:r>
              <a:rPr lang="en-GB" sz="1600" b="1"/>
              <a:t>REALITY</a:t>
            </a:r>
            <a:r>
              <a:rPr lang="en-GB" sz="1600"/>
              <a:t>: we want to understand the "as is" first.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</a:rPr>
              <a:t>Items marked with a medallion</a:t>
            </a:r>
            <a:r>
              <a:rPr lang="en-GB" sz="1600" dirty="0">
                <a:solidFill>
                  <a:srgbClr val="373637"/>
                </a:solidFill>
                <a:latin typeface="Source Sans Pro"/>
                <a:ea typeface="Source Sans Pro"/>
              </a:rPr>
              <a:t>🥇</a:t>
            </a:r>
            <a:r>
              <a:rPr lang="en-GB" sz="1600" dirty="0">
                <a:solidFill>
                  <a:srgbClr val="000000"/>
                </a:solidFill>
              </a:rPr>
              <a:t>indicate positive findings.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rgbClr val="000000"/>
                </a:solidFill>
                <a:effectLst/>
              </a:rPr>
              <a:t>Items marked with a light bulb 💡indicate topics that can be improved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</a:rPr>
              <a:t>Items marked with a flag</a:t>
            </a:r>
            <a:r>
              <a:rPr lang="en-GB" sz="1600" dirty="0">
                <a:solidFill>
                  <a:srgbClr val="373637"/>
                </a:solidFill>
                <a:latin typeface="Source Sans Pro"/>
                <a:ea typeface="Source Sans Pro"/>
              </a:rPr>
              <a:t> 🚩 </a:t>
            </a:r>
            <a:r>
              <a:rPr lang="en-GB" sz="1600" dirty="0">
                <a:solidFill>
                  <a:srgbClr val="000000"/>
                </a:solidFill>
              </a:rPr>
              <a:t>indicate critical findings. </a:t>
            </a:r>
          </a:p>
          <a:p>
            <a:pPr>
              <a:buFont typeface="Wingdings" panose="05000000000000000000" pitchFamily="2" charset="2"/>
              <a:buChar char=""/>
            </a:pPr>
            <a:r>
              <a:rPr lang="en-GB" sz="1600" dirty="0"/>
              <a:t>Bring in </a:t>
            </a:r>
            <a:r>
              <a:rPr lang="en-GB" sz="1600" b="1" dirty="0"/>
              <a:t>INDUSTRY STANDARDS</a:t>
            </a:r>
            <a:r>
              <a:rPr lang="en-GB" sz="1600" dirty="0"/>
              <a:t> and best practices where applicable.</a:t>
            </a:r>
          </a:p>
          <a:p>
            <a:pPr>
              <a:buFont typeface="Wingdings" panose="05000000000000000000" pitchFamily="2" charset="2"/>
              <a:buChar char=""/>
            </a:pPr>
            <a:r>
              <a:rPr lang="en-GB" sz="1600" dirty="0"/>
              <a:t>Identity </a:t>
            </a:r>
            <a:r>
              <a:rPr lang="en-GB" sz="1600" b="1" dirty="0"/>
              <a:t>GOALS</a:t>
            </a:r>
            <a:r>
              <a:rPr lang="en-GB" sz="1600" dirty="0"/>
              <a:t> on all levels (individual, organization-wide, technical, business).</a:t>
            </a:r>
          </a:p>
          <a:p>
            <a:pPr>
              <a:buFont typeface="Wingdings" panose="05000000000000000000" pitchFamily="2" charset="2"/>
              <a:buChar char=""/>
            </a:pPr>
            <a:r>
              <a:rPr lang="en-GB" sz="1600" dirty="0"/>
              <a:t>Identify and agree on the major </a:t>
            </a:r>
            <a:r>
              <a:rPr lang="en-GB" sz="1600" b="1" dirty="0"/>
              <a:t>OBSTACLES</a:t>
            </a:r>
            <a:r>
              <a:rPr lang="en-GB" sz="1600" dirty="0"/>
              <a:t> by bringing the “as is” and the ambition together.</a:t>
            </a:r>
          </a:p>
          <a:p>
            <a:pPr>
              <a:buFont typeface="Wingdings" panose="05000000000000000000" pitchFamily="2" charset="2"/>
              <a:buChar char=""/>
            </a:pPr>
            <a:r>
              <a:rPr lang="en-GB" sz="1600" dirty="0"/>
              <a:t>Formulate an actionable </a:t>
            </a:r>
            <a:r>
              <a:rPr lang="en-GB" sz="1600" b="1" dirty="0"/>
              <a:t>ROADMAP</a:t>
            </a:r>
            <a:r>
              <a:rPr lang="en-GB" sz="1600" dirty="0"/>
              <a:t> to address what needs addressing.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4530738-CD59-84B0-53C4-FB40531B7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297" y="5078456"/>
            <a:ext cx="5994910" cy="14554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523851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F41D45-31A7-4926-A68E-50E9FD60E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716F38-8849-4FC3-9FC5-E44F9B49187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34A59-49D7-4152-8CD8-FF9BF8BAAA3D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assessment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2026-01-23T14:06:15Z</dcterms:created>
  <dcterms:modified xsi:type="dcterms:W3CDTF">2026-01-23T14:07:39Z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