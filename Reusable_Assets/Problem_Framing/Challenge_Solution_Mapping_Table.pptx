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748354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E3F74F-77E4-E96B-86A2-7284E37C1896}" v="1" dt="2026-01-23T11:02:17.291"/>
    <p1510:client id="{E34C34CF-5CD5-1ABB-7C15-47D966E56C45}" v="2" dt="2026-01-23T11:01:19.7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E34C34CF-5CD5-1ABB-7C15-47D966E56C45}"/>
    <pc:docChg chg="addSld modSld">
      <pc:chgData name="George Sereda" userId="S::george.sereda@xebia.com::5e824fc6-3a6a-482b-8597-f9374fb4b421" providerId="AD" clId="Web-{E34C34CF-5CD5-1ABB-7C15-47D966E56C45}" dt="2026-01-23T11:01:19.714" v="1"/>
      <pc:docMkLst>
        <pc:docMk/>
      </pc:docMkLst>
      <pc:sldChg chg="add mod setBg">
        <pc:chgData name="George Sereda" userId="S::george.sereda@xebia.com::5e824fc6-3a6a-482b-8597-f9374fb4b421" providerId="AD" clId="Web-{E34C34CF-5CD5-1ABB-7C15-47D966E56C45}" dt="2026-01-23T11:01:19.714" v="1"/>
        <pc:sldMkLst>
          <pc:docMk/>
          <pc:sldMk cId="292141010" sldId="2147483549"/>
        </pc:sldMkLst>
      </pc:sldChg>
      <pc:sldMasterChg chg="addSldLayout">
        <pc:chgData name="George Sereda" userId="S::george.sereda@xebia.com::5e824fc6-3a6a-482b-8597-f9374fb4b421" providerId="AD" clId="Web-{E34C34CF-5CD5-1ABB-7C15-47D966E56C45}" dt="2026-01-23T11:00:12.823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E34C34CF-5CD5-1ABB-7C15-47D966E56C45}" dt="2026-01-23T11:00:12.823" v="0"/>
          <pc:sldLayoutMkLst>
            <pc:docMk/>
            <pc:sldMasterMk cId="2460954070" sldId="2147483660"/>
            <pc:sldLayoutMk cId="1692841846" sldId="2147483672"/>
          </pc:sldLayoutMkLst>
        </pc:sldLayoutChg>
      </pc:sldMasterChg>
    </pc:docChg>
  </pc:docChgLst>
  <pc:docChgLst>
    <pc:chgData clId="Web-{22E3F74F-77E4-E96B-86A2-7284E37C1896}"/>
    <pc:docChg chg="delSld">
      <pc:chgData name="" userId="" providerId="" clId="Web-{22E3F74F-77E4-E96B-86A2-7284E37C1896}" dt="2026-01-23T11:02:17.291" v="0"/>
      <pc:docMkLst>
        <pc:docMk/>
      </pc:docMkLst>
      <pc:sldChg chg="del">
        <pc:chgData name="" userId="" providerId="" clId="Web-{22E3F74F-77E4-E96B-86A2-7284E37C1896}" dt="2026-01-23T11:02:17.291" v="0"/>
        <pc:sldMkLst>
          <pc:docMk/>
          <pc:sldMk cId="109857222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 Columns_Comparis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25437C-A40E-C40C-40AE-5ACC8E51E447}"/>
              </a:ext>
            </a:extLst>
          </p:cNvPr>
          <p:cNvSpPr/>
          <p:nvPr userDrawn="1"/>
        </p:nvSpPr>
        <p:spPr>
          <a:xfrm>
            <a:off x="0" y="-9331"/>
            <a:ext cx="4074368" cy="68673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C6ABB0-2B00-49BC-EC7B-26AF429385E3}"/>
              </a:ext>
            </a:extLst>
          </p:cNvPr>
          <p:cNvSpPr/>
          <p:nvPr userDrawn="1"/>
        </p:nvSpPr>
        <p:spPr>
          <a:xfrm>
            <a:off x="4074367" y="-9331"/>
            <a:ext cx="4074368" cy="68673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97BE5E-57EE-01FA-DC75-B5D8ACE84F58}"/>
              </a:ext>
            </a:extLst>
          </p:cNvPr>
          <p:cNvSpPr/>
          <p:nvPr userDrawn="1"/>
        </p:nvSpPr>
        <p:spPr>
          <a:xfrm>
            <a:off x="8148735" y="-4665"/>
            <a:ext cx="4043265" cy="686733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9" y="549476"/>
            <a:ext cx="11087100" cy="11316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accent4">
                <a:alpha val="9504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A63E8409-D303-82F9-A976-A8D896A39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7" y="2599978"/>
            <a:ext cx="3149530" cy="370854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88C3E31-1373-ED98-F74B-0625680753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037" y="1970665"/>
            <a:ext cx="3149530" cy="444507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2142A9DC-B0AD-69EB-B83C-76EFC9BE3F4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491608" y="2599979"/>
            <a:ext cx="3149530" cy="370874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4C4F168F-916B-2C8B-D271-76901003D4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91608" y="1970665"/>
            <a:ext cx="3149530" cy="444507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B323D17A-94C3-3DC3-68D3-7911DE9A60E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21235" y="2599979"/>
            <a:ext cx="3149530" cy="370874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56B63100-7AC9-1651-E1E1-A1A218970AC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21235" y="1970665"/>
            <a:ext cx="3149530" cy="444507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DD81181-6E76-CEF3-F63F-071DBF748063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bg2">
              <a:alpha val="9903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692841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8E410-F1FC-9C60-1C62-F4077492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039" y="549476"/>
            <a:ext cx="11087100" cy="343205"/>
          </a:xfrm>
        </p:spPr>
        <p:txBody>
          <a:bodyPr>
            <a:normAutofit fontScale="90000"/>
          </a:bodyPr>
          <a:lstStyle/>
          <a:p>
            <a:r>
              <a:rPr lang="en-US" sz="3200" b="0" kern="0" noProof="1">
                <a:latin typeface="+mn-lt"/>
                <a:ea typeface="Suisse Int'l Regular"/>
                <a:cs typeface="+mn-cs"/>
              </a:rPr>
              <a:t>Zeppelin Power: Understanding Your Needs – Xebia’s Tailored Solution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1236ADE-7258-3CDE-B13E-5DA59411B021}"/>
              </a:ext>
            </a:extLst>
          </p:cNvPr>
          <p:cNvSpPr txBox="1">
            <a:spLocks/>
          </p:cNvSpPr>
          <p:nvPr/>
        </p:nvSpPr>
        <p:spPr>
          <a:xfrm>
            <a:off x="997902" y="1511847"/>
            <a:ext cx="2696657" cy="343205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lang="en-US" sz="1800" b="1" noProof="1">
                <a:solidFill>
                  <a:schemeClr val="bg1"/>
                </a:solidFill>
                <a:latin typeface="Arial"/>
                <a:ea typeface="Lato Light" panose="020F0502020204030203" pitchFamily="34" charset="0"/>
                <a:cs typeface="Arial"/>
              </a:rPr>
              <a:t>Context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9C853E1-B2FF-BAFA-9B1E-FE3828BB4E2B}"/>
              </a:ext>
            </a:extLst>
          </p:cNvPr>
          <p:cNvSpPr txBox="1">
            <a:spLocks/>
          </p:cNvSpPr>
          <p:nvPr/>
        </p:nvSpPr>
        <p:spPr>
          <a:xfrm>
            <a:off x="5002438" y="1468535"/>
            <a:ext cx="2696657" cy="343205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lang="en-US" sz="1800" b="1" noProof="1">
                <a:solidFill>
                  <a:schemeClr val="bg1"/>
                </a:solidFill>
                <a:latin typeface="Arial"/>
                <a:ea typeface="Lato Light" panose="020F0502020204030203" pitchFamily="34" charset="0"/>
                <a:cs typeface="Arial"/>
              </a:rPr>
              <a:t>Challenges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02F5D21-FC00-D7A0-6363-3469BC0CD73C}"/>
              </a:ext>
            </a:extLst>
          </p:cNvPr>
          <p:cNvSpPr txBox="1">
            <a:spLocks/>
          </p:cNvSpPr>
          <p:nvPr/>
        </p:nvSpPr>
        <p:spPr>
          <a:xfrm>
            <a:off x="9207108" y="1468535"/>
            <a:ext cx="2696657" cy="343205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</a:pPr>
            <a:r>
              <a:rPr lang="en-US" sz="1800" b="1" noProof="1">
                <a:solidFill>
                  <a:schemeClr val="bg1"/>
                </a:solidFill>
                <a:latin typeface="Arial"/>
                <a:ea typeface="Lato Light" panose="020F0502020204030203" pitchFamily="34" charset="0"/>
                <a:cs typeface="Arial"/>
              </a:rPr>
              <a:t>Our Solution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0C1BF3F-63C6-029F-EA6B-2A2D1DBBE3A0}"/>
              </a:ext>
            </a:extLst>
          </p:cNvPr>
          <p:cNvGrpSpPr/>
          <p:nvPr/>
        </p:nvGrpSpPr>
        <p:grpSpPr>
          <a:xfrm>
            <a:off x="340774" y="1382472"/>
            <a:ext cx="612168" cy="612168"/>
            <a:chOff x="668765" y="1183066"/>
            <a:chExt cx="612168" cy="61216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2B8D1FC-514D-B525-D0AE-E133C53C4687}"/>
                </a:ext>
              </a:extLst>
            </p:cNvPr>
            <p:cNvSpPr/>
            <p:nvPr/>
          </p:nvSpPr>
          <p:spPr>
            <a:xfrm>
              <a:off x="668765" y="1183066"/>
              <a:ext cx="612168" cy="61216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32DE27C-0238-8445-2367-34D7B166B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4737" y="1272875"/>
              <a:ext cx="423615" cy="423615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65B097B-8A72-8E3D-21E3-2030E8CC515B}"/>
              </a:ext>
            </a:extLst>
          </p:cNvPr>
          <p:cNvGrpSpPr/>
          <p:nvPr/>
        </p:nvGrpSpPr>
        <p:grpSpPr>
          <a:xfrm>
            <a:off x="4387046" y="1343032"/>
            <a:ext cx="612168" cy="612168"/>
            <a:chOff x="4903881" y="1173442"/>
            <a:chExt cx="612168" cy="61216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5B05662-9D6A-0CBE-DFFA-CED28DFA4A1C}"/>
                </a:ext>
              </a:extLst>
            </p:cNvPr>
            <p:cNvSpPr/>
            <p:nvPr/>
          </p:nvSpPr>
          <p:spPr>
            <a:xfrm>
              <a:off x="4903881" y="1173442"/>
              <a:ext cx="612168" cy="61216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15C716E-ECD1-0A9E-535B-8C535EB6C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9955" y="1318823"/>
              <a:ext cx="345786" cy="345786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2AB6A6F-B8B4-2675-F278-BCE2EC708FCB}"/>
              </a:ext>
            </a:extLst>
          </p:cNvPr>
          <p:cNvGrpSpPr/>
          <p:nvPr/>
        </p:nvGrpSpPr>
        <p:grpSpPr>
          <a:xfrm>
            <a:off x="8503984" y="1343032"/>
            <a:ext cx="612168" cy="612168"/>
            <a:chOff x="8364836" y="1173442"/>
            <a:chExt cx="612168" cy="612168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06241EC-AC07-ED65-BB7E-BE110428075F}"/>
                </a:ext>
              </a:extLst>
            </p:cNvPr>
            <p:cNvSpPr/>
            <p:nvPr/>
          </p:nvSpPr>
          <p:spPr>
            <a:xfrm>
              <a:off x="8364836" y="1173442"/>
              <a:ext cx="612168" cy="61216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94C8D5C-E5CF-84C5-8CBD-F8F974D1A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58198" y="1335199"/>
              <a:ext cx="416507" cy="30081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C63F1CB-8FB6-C943-B31F-D0C460C09220}"/>
              </a:ext>
            </a:extLst>
          </p:cNvPr>
          <p:cNvSpPr txBox="1"/>
          <p:nvPr/>
        </p:nvSpPr>
        <p:spPr>
          <a:xfrm>
            <a:off x="8300720" y="2116957"/>
            <a:ext cx="379984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chemeClr val="bg1"/>
                </a:solidFill>
              </a:rPr>
              <a:t>Custom, modular software platform with modular architecture for scalability and flexibility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chemeClr val="bg1"/>
                </a:solidFill>
              </a:rPr>
              <a:t>Multi-tenancy approach: shared infrastructure with complete data isolation per client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chemeClr val="bg1"/>
                </a:solidFill>
              </a:rPr>
              <a:t>Zeppelin Power owns all software IP, including optimization algorithms, forecasting models, and control philosophy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chemeClr val="bg1"/>
                </a:solidFill>
              </a:rPr>
              <a:t>Agile co-development model with knowledge transfer and capacity building for your team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chemeClr val="bg1"/>
                </a:solidFill>
              </a:rPr>
              <a:t>Azure-based infrastructure with portability to other cloud providers through vendor-neutral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chemeClr val="bg1"/>
                </a:solidFill>
              </a:rPr>
              <a:t>Proven experience in energy management, IoT integration, and real-time data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chemeClr val="bg1"/>
                </a:solidFill>
              </a:rPr>
              <a:t>End-to-end support: from architecture design through pilot implementation to ongoing maintenance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38A27B-A865-30A9-2041-58AFEC273627}"/>
              </a:ext>
            </a:extLst>
          </p:cNvPr>
          <p:cNvSpPr txBox="1"/>
          <p:nvPr/>
        </p:nvSpPr>
        <p:spPr>
          <a:xfrm>
            <a:off x="4224227" y="2116957"/>
            <a:ext cx="3799840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chemeClr val="bg1"/>
                </a:solidFill>
              </a:rPr>
              <a:t>Seamless edge-to-cloud communication without disrupting existing PLC operations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chemeClr val="bg1"/>
                </a:solidFill>
              </a:rPr>
              <a:t>Scaling architecture to support 100+ independent microgrid installations with high-frequency data logging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chemeClr val="bg1"/>
                </a:solidFill>
              </a:rPr>
              <a:t>Cloud-agnostic platform required to avoid vendor lock-in while ensuring EU data sovereignty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chemeClr val="bg1"/>
                </a:solidFill>
              </a:rPr>
              <a:t>Limited internal software development capacity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chemeClr val="bg1"/>
                </a:solidFill>
              </a:rPr>
              <a:t>Integration complexity: connecting multiple energy assets, aggregators, external APIs, and planning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BEFC1E-2207-9832-5FD9-8B7E6D2078A7}"/>
              </a:ext>
            </a:extLst>
          </p:cNvPr>
          <p:cNvSpPr txBox="1"/>
          <p:nvPr/>
        </p:nvSpPr>
        <p:spPr>
          <a:xfrm>
            <a:off x="147734" y="2116957"/>
            <a:ext cx="3799840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chemeClr val="bg1"/>
                </a:solidFill>
              </a:rPr>
              <a:t>Expanding microgrid business with growing customer base (8 microgrids currently, targeting 30-50 next year)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chemeClr val="bg1"/>
                </a:solidFill>
              </a:rPr>
              <a:t>Transitioning from offline PLC-based EMS to cloud-enabled online platform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chemeClr val="bg1"/>
                </a:solidFill>
              </a:rPr>
              <a:t>Serving diverse customers: net congestion-driven industries, greenhouse growers, and renewable energy optimization clients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chemeClr val="bg1"/>
                </a:solidFill>
              </a:rPr>
              <a:t>Current architecture: Siemens S7-1500 PLCs with Weintek HMIs managing local energy assets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BE90483-9DED-8E5B-AB2B-B02E7EEEF740}"/>
              </a:ext>
            </a:extLst>
          </p:cNvPr>
          <p:cNvSpPr txBox="1">
            <a:spLocks/>
          </p:cNvSpPr>
          <p:nvPr/>
        </p:nvSpPr>
        <p:spPr>
          <a:xfrm>
            <a:off x="406401" y="6457865"/>
            <a:ext cx="3673475" cy="123111"/>
          </a:xfrm>
          <a:prstGeom prst="rect">
            <a:avLst/>
          </a:prstGeom>
        </p:spPr>
        <p:txBody>
          <a:bodyPr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800" noProof="1">
                <a:solidFill>
                  <a:srgbClr val="FFFFFF"/>
                </a:solidFill>
                <a:latin typeface="Arial" panose="020B0604020202020204"/>
              </a:rPr>
              <a:t>Copyright © 2025 Xebia.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2141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C302BA-8B91-40C6-AF79-A2873EDE9F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604803C-1EE6-443C-A2E8-4E9D287A6C43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customXml/itemProps3.xml><?xml version="1.0" encoding="utf-8"?>
<ds:datastoreItem xmlns:ds="http://schemas.openxmlformats.org/officeDocument/2006/customXml" ds:itemID="{4576692B-A8CC-4856-81F7-4912004428A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Zeppelin Power: Understanding Your Needs – Xebia’s Tailored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2026-01-23T10:59:27Z</dcterms:created>
  <dcterms:modified xsi:type="dcterms:W3CDTF">2026-01-23T11:02:17Z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