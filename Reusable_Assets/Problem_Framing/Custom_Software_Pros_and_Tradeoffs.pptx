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6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C6D5C-E1F9-C020-4418-CB59BCB295B0}" v="2" dt="2026-01-23T11:08:14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7A4C6D5C-E1F9-C020-4418-CB59BCB295B0}"/>
    <pc:docChg chg="addSld delSld">
      <pc:chgData name="George Sereda" userId="S::george.sereda@xebia.com::5e824fc6-3a6a-482b-8597-f9374fb4b421" providerId="AD" clId="Web-{7A4C6D5C-E1F9-C020-4418-CB59BCB295B0}" dt="2026-01-23T11:08:14.737" v="1"/>
      <pc:docMkLst>
        <pc:docMk/>
      </pc:docMkLst>
      <pc:sldChg chg="del">
        <pc:chgData name="George Sereda" userId="S::george.sereda@xebia.com::5e824fc6-3a6a-482b-8597-f9374fb4b421" providerId="AD" clId="Web-{7A4C6D5C-E1F9-C020-4418-CB59BCB295B0}" dt="2026-01-23T11:08:14.737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7A4C6D5C-E1F9-C020-4418-CB59BCB295B0}" dt="2026-01-23T11:08:10.159" v="0"/>
        <pc:sldMkLst>
          <pc:docMk/>
          <pc:sldMk cId="697867441" sldId="2147483646"/>
        </pc:sldMkLst>
      </pc:sldChg>
      <pc:sldMasterChg chg="addSldLayout">
        <pc:chgData name="George Sereda" userId="S::george.sereda@xebia.com::5e824fc6-3a6a-482b-8597-f9374fb4b421" providerId="AD" clId="Web-{7A4C6D5C-E1F9-C020-4418-CB59BCB295B0}" dt="2026-01-23T11:08:10.159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7A4C6D5C-E1F9-C020-4418-CB59BCB295B0}" dt="2026-01-23T11:08:10.159" v="0"/>
          <pc:sldLayoutMkLst>
            <pc:docMk/>
            <pc:sldMasterMk cId="2460954070" sldId="2147483660"/>
            <pc:sldLayoutMk cId="1206293814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4EDD1-09FB-4FF5-821B-684E8C158F5C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0099D-0E47-4BCE-B727-8E0E72135A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88A791-D8E8-4C23-A528-EAEB42DC40E7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8477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206293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0FAC-F0EF-1A97-63E9-740FE1C7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A71DC8-1300-083F-0EFC-9070441C3897}"/>
              </a:ext>
            </a:extLst>
          </p:cNvPr>
          <p:cNvSpPr>
            <a:spLocks noGrp="1"/>
          </p:cNvSpPr>
          <p:nvPr>
            <p:ph type="body" idx="106"/>
          </p:nvPr>
        </p:nvSpPr>
        <p:spPr/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56ED8F-7775-9D9E-F366-1B2DD6A5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7C0E6-F2F5-617B-B7F9-ABC0A588E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411CB5EA-7EC6-8160-C5EA-062DCF36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10585450" cy="886397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Why Choose Custom Software Development?</a:t>
            </a:r>
            <a:b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</a:br>
            <a:endParaRPr lang="en-US" sz="3200" b="0" kern="0" noProof="1">
              <a:solidFill>
                <a:srgbClr val="000000"/>
              </a:solidFill>
              <a:latin typeface="+mn-lt"/>
              <a:ea typeface="Suisse Int'l Regular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D3B96-1087-DD2E-90DD-D7A700B58842}"/>
              </a:ext>
            </a:extLst>
          </p:cNvPr>
          <p:cNvSpPr txBox="1"/>
          <p:nvPr/>
        </p:nvSpPr>
        <p:spPr>
          <a:xfrm>
            <a:off x="528320" y="1805453"/>
            <a:ext cx="56388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1">
                <a:solidFill>
                  <a:schemeClr val="accent6"/>
                </a:solidFill>
              </a:rPr>
              <a:t>Key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Full Control</a:t>
            </a:r>
            <a:r>
              <a:rPr lang="en-US" noProof="1">
                <a:solidFill>
                  <a:schemeClr val="accent6"/>
                </a:solidFill>
              </a:rPr>
              <a:t>: Exact look, feel, and business logic tailored to your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No Product Limitations</a:t>
            </a:r>
            <a:r>
              <a:rPr lang="en-US" noProof="1">
                <a:solidFill>
                  <a:schemeClr val="accent6"/>
                </a:solidFill>
              </a:rPr>
              <a:t>: Build precisely what you need without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Cost Efficiency</a:t>
            </a:r>
            <a:r>
              <a:rPr lang="en-US" noProof="1">
                <a:solidFill>
                  <a:schemeClr val="accent6"/>
                </a:solidFill>
              </a:rPr>
              <a:t>: No per-user licensing fees, predictable infrastructure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Accelerated Development: </a:t>
            </a:r>
            <a:r>
              <a:rPr lang="en-US" noProof="1">
                <a:solidFill>
                  <a:schemeClr val="accent6"/>
                </a:solidFill>
              </a:rPr>
              <a:t>Open-source building blocks and AI-assisted coding reduce time-to-market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IP Ownership</a:t>
            </a:r>
            <a:r>
              <a:rPr lang="en-US" noProof="1">
                <a:solidFill>
                  <a:schemeClr val="accent6"/>
                </a:solidFill>
              </a:rPr>
              <a:t>: Software becomes a valuable, sellable asset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Strategic Independence</a:t>
            </a:r>
            <a:r>
              <a:rPr lang="en-US" noProof="1">
                <a:solidFill>
                  <a:schemeClr val="accent6"/>
                </a:solidFill>
              </a:rPr>
              <a:t>: Control your roadmap without vendor 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Competitive Advantage</a:t>
            </a:r>
            <a:r>
              <a:rPr lang="en-US" noProof="1">
                <a:solidFill>
                  <a:schemeClr val="accent6"/>
                </a:solidFill>
              </a:rPr>
              <a:t>: Unique features that differentiate you from competitors</a:t>
            </a:r>
          </a:p>
          <a:p>
            <a:endParaRPr lang="en-US" noProof="1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96A797-E25A-EA8C-D9EA-6070032C5F4B}"/>
              </a:ext>
            </a:extLst>
          </p:cNvPr>
          <p:cNvSpPr txBox="1"/>
          <p:nvPr/>
        </p:nvSpPr>
        <p:spPr>
          <a:xfrm>
            <a:off x="6624319" y="1805452"/>
            <a:ext cx="436858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1">
                <a:solidFill>
                  <a:schemeClr val="accent6"/>
                </a:solidFill>
              </a:rPr>
              <a:t>Trade-offs to Consider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chemeClr val="accent6"/>
                </a:solidFill>
              </a:rPr>
              <a:t>Higher upfront development 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chemeClr val="accent6"/>
                </a:solidFill>
              </a:rPr>
              <a:t>Ongoing maintenance 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solidFill>
                  <a:schemeClr val="accent6"/>
                </a:solidFill>
              </a:rPr>
              <a:t>Requires technical expertise</a:t>
            </a:r>
            <a:br>
              <a:rPr lang="en-US" noProof="1">
                <a:solidFill>
                  <a:schemeClr val="accent6"/>
                </a:solidFill>
              </a:rPr>
            </a:br>
            <a:endParaRPr lang="en-US" noProof="1">
              <a:solidFill>
                <a:schemeClr val="accent6"/>
              </a:solidFill>
            </a:endParaRPr>
          </a:p>
          <a:p>
            <a:r>
              <a:rPr lang="en-US" b="1" noProof="1">
                <a:solidFill>
                  <a:schemeClr val="accent6"/>
                </a:solidFill>
              </a:rPr>
              <a:t>Xebia provides full-service support</a:t>
            </a:r>
            <a:r>
              <a:rPr lang="en-US" noProof="1">
                <a:solidFill>
                  <a:schemeClr val="accent6"/>
                </a:solidFill>
              </a:rPr>
              <a:t>: We handle ongoing maintenance, provide technical expertise, and offer flexible engagement models to mitigate these concerns.</a:t>
            </a:r>
          </a:p>
        </p:txBody>
      </p:sp>
    </p:spTree>
    <p:extLst>
      <p:ext uri="{BB962C8B-B14F-4D97-AF65-F5344CB8AC3E}">
        <p14:creationId xmlns:p14="http://schemas.microsoft.com/office/powerpoint/2010/main" val="69786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46E113-4951-42BC-AD2F-4C1D2FD1AB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10CFA0-A5DB-46D1-9078-EAAA8B886A9E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4D6C45B7-FCC8-4A83-8DD0-26A57469B6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Why Choose Custom Software Development?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2026-01-23T11:07:45Z</dcterms:created>
  <dcterms:modified xsi:type="dcterms:W3CDTF">2026-01-23T11:08:20Z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