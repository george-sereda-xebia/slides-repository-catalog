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54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950237-D999-4CBA-4CAB-3A4886B7D469}" v="2" dt="2026-01-22T15:55:30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EC950237-D999-4CBA-4CAB-3A4886B7D469}"/>
    <pc:docChg chg="addSld delSld">
      <pc:chgData name="George Sereda" userId="S::george.sereda@xebia.com::5e824fc6-3a6a-482b-8597-f9374fb4b421" providerId="AD" clId="Web-{EC950237-D999-4CBA-4CAB-3A4886B7D469}" dt="2026-01-22T15:55:30.758" v="1"/>
      <pc:docMkLst>
        <pc:docMk/>
      </pc:docMkLst>
      <pc:sldChg chg="del">
        <pc:chgData name="George Sereda" userId="S::george.sereda@xebia.com::5e824fc6-3a6a-482b-8597-f9374fb4b421" providerId="AD" clId="Web-{EC950237-D999-4CBA-4CAB-3A4886B7D469}" dt="2026-01-22T15:55:30.758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EC950237-D999-4CBA-4CAB-3A4886B7D469}" dt="2026-01-22T15:55:23.742" v="0"/>
        <pc:sldMkLst>
          <pc:docMk/>
          <pc:sldMk cId="3571434002" sldId="541"/>
        </pc:sldMkLst>
      </pc:sldChg>
      <pc:sldMasterChg chg="addSldLayout">
        <pc:chgData name="George Sereda" userId="S::george.sereda@xebia.com::5e824fc6-3a6a-482b-8597-f9374fb4b421" providerId="AD" clId="Web-{EC950237-D999-4CBA-4CAB-3A4886B7D469}" dt="2026-01-22T15:55:23.742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EC950237-D999-4CBA-4CAB-3A4886B7D469}" dt="2026-01-22T15:55:23.742" v="0"/>
          <pc:sldLayoutMkLst>
            <pc:docMk/>
            <pc:sldMasterMk cId="2460954070" sldId="2147483660"/>
            <pc:sldLayoutMk cId="3476176562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C4288-B35E-49BB-A5B6-1BCF422454B8}" type="datetimeFigureOut"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57054-169F-453F-95D6-A03193B8734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2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Call To Action (CTA): Change based on customer conservations, bundle offerings from Adoption Journey and/or Service Lines </a:t>
            </a:r>
          </a:p>
          <a:p>
            <a:endParaRPr lang="en-US"/>
          </a:p>
          <a:p>
            <a:r>
              <a:rPr lang="en-US"/>
              <a:t>Ideation workshop – look to business and tech feasibility. With the tech development each month more is possible</a:t>
            </a:r>
          </a:p>
          <a:p>
            <a:r>
              <a:rPr lang="en-US"/>
              <a:t>Customer already selected a process? Go to refinement with sprints of </a:t>
            </a:r>
            <a:r>
              <a:rPr lang="en-US" err="1"/>
              <a:t>PoCs</a:t>
            </a:r>
            <a:r>
              <a:rPr lang="en-US"/>
              <a:t>. Start with preparing the cases for PoC – data, customer SMEs, etc.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46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>
            <a:spLocks noGrp="1"/>
          </p:cNvSpPr>
          <p:nvPr>
            <p:ph type="body" idx="107" hasCustomPrompt="1"/>
          </p:nvPr>
        </p:nvSpPr>
        <p:spPr>
          <a:xfrm>
            <a:off x="406400" y="3797300"/>
            <a:ext cx="186944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4900"/>
              </a:lnSpc>
              <a:buNone/>
              <a:defRPr lang="en-US" sz="5600" kern="0" spc="-200" dirty="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4900"/>
              </a:lnSpc>
              <a:buNone/>
            </a:pPr>
            <a:r>
              <a:rPr lang="en-US" sz="5600" kern="0" spc="-20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01</a:t>
            </a:r>
            <a:endParaRPr lang="en-US" sz="5600"/>
          </a:p>
        </p:txBody>
      </p:sp>
      <p:sp>
        <p:nvSpPr>
          <p:cNvPr id="11" name="Text 0"/>
          <p:cNvSpPr>
            <a:spLocks noGrp="1"/>
          </p:cNvSpPr>
          <p:nvPr>
            <p:ph type="body" idx="109" hasCustomPrompt="1"/>
          </p:nvPr>
        </p:nvSpPr>
        <p:spPr>
          <a:xfrm>
            <a:off x="2783830" y="3797300"/>
            <a:ext cx="186944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4900"/>
              </a:lnSpc>
              <a:buNone/>
              <a:defRPr lang="en-US" sz="5600" kern="0" spc="-200" dirty="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4900"/>
              </a:lnSpc>
              <a:buNone/>
            </a:pPr>
            <a:r>
              <a:rPr lang="en-US" sz="5600" kern="0" spc="-20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02</a:t>
            </a:r>
            <a:endParaRPr lang="en-US" sz="5600"/>
          </a:p>
        </p:txBody>
      </p:sp>
      <p:sp>
        <p:nvSpPr>
          <p:cNvPr id="13" name="Text 0"/>
          <p:cNvSpPr>
            <a:spLocks noGrp="1"/>
          </p:cNvSpPr>
          <p:nvPr>
            <p:ph type="body" idx="111" hasCustomPrompt="1"/>
          </p:nvPr>
        </p:nvSpPr>
        <p:spPr>
          <a:xfrm>
            <a:off x="5161285" y="3797300"/>
            <a:ext cx="186944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4900"/>
              </a:lnSpc>
              <a:buNone/>
              <a:defRPr lang="en-US" sz="5600" kern="0" spc="-200" dirty="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4900"/>
              </a:lnSpc>
              <a:buNone/>
            </a:pPr>
            <a:r>
              <a:rPr lang="en-US" sz="5600" kern="0" spc="-20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03</a:t>
            </a:r>
            <a:endParaRPr lang="en-US" sz="5600"/>
          </a:p>
        </p:txBody>
      </p:sp>
      <p:sp>
        <p:nvSpPr>
          <p:cNvPr id="15" name="Text 0"/>
          <p:cNvSpPr>
            <a:spLocks noGrp="1"/>
          </p:cNvSpPr>
          <p:nvPr>
            <p:ph type="body" idx="113" hasCustomPrompt="1"/>
          </p:nvPr>
        </p:nvSpPr>
        <p:spPr>
          <a:xfrm>
            <a:off x="7538715" y="3797300"/>
            <a:ext cx="186944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4900"/>
              </a:lnSpc>
              <a:buNone/>
              <a:defRPr lang="en-US" sz="5600" kern="0" spc="-200" dirty="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4900"/>
              </a:lnSpc>
              <a:buNone/>
            </a:pPr>
            <a:r>
              <a:rPr lang="en-US" sz="5600" kern="0" spc="-20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04</a:t>
            </a:r>
            <a:endParaRPr lang="en-US" sz="5600"/>
          </a:p>
        </p:txBody>
      </p:sp>
      <p:sp>
        <p:nvSpPr>
          <p:cNvPr id="19" name="Text 0"/>
          <p:cNvSpPr>
            <a:spLocks noGrp="1"/>
          </p:cNvSpPr>
          <p:nvPr>
            <p:ph type="body" idx="117" hasCustomPrompt="1"/>
          </p:nvPr>
        </p:nvSpPr>
        <p:spPr>
          <a:xfrm>
            <a:off x="412750" y="1009650"/>
            <a:ext cx="6546850" cy="372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2800"/>
              </a:lnSpc>
              <a:buNone/>
              <a:defRPr lang="en-US" sz="2800" kern="0" spc="-100" dirty="0">
                <a:solidFill>
                  <a:srgbClr val="00000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2800" kern="0" spc="-100">
                <a:solidFill>
                  <a:srgbClr val="00000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Title</a:t>
            </a:r>
            <a:endParaRPr lang="en-US" sz="2800"/>
          </a:p>
        </p:txBody>
      </p:sp>
      <p:sp>
        <p:nvSpPr>
          <p:cNvPr id="20" name="Text 0"/>
          <p:cNvSpPr>
            <a:spLocks noGrp="1"/>
          </p:cNvSpPr>
          <p:nvPr>
            <p:ph type="body" idx="118" hasCustomPrompt="1"/>
          </p:nvPr>
        </p:nvSpPr>
        <p:spPr>
          <a:xfrm>
            <a:off x="406400" y="374650"/>
            <a:ext cx="1841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1400"/>
              </a:lnSpc>
              <a:buNone/>
              <a:defRPr lang="en-US" sz="1050" kern="0" spc="-50" dirty="0">
                <a:solidFill>
                  <a:srgbClr val="00000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50" kern="0" spc="-50">
                <a:solidFill>
                  <a:srgbClr val="00000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00</a:t>
            </a:r>
            <a:endParaRPr lang="en-US" sz="1050"/>
          </a:p>
        </p:txBody>
      </p:sp>
      <p:sp>
        <p:nvSpPr>
          <p:cNvPr id="21" name="Text 0"/>
          <p:cNvSpPr>
            <a:spLocks noGrp="1"/>
          </p:cNvSpPr>
          <p:nvPr>
            <p:ph type="body" idx="119" hasCustomPrompt="1"/>
          </p:nvPr>
        </p:nvSpPr>
        <p:spPr>
          <a:xfrm>
            <a:off x="1092200" y="374650"/>
            <a:ext cx="7429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1400"/>
              </a:lnSpc>
              <a:buNone/>
              <a:defRPr lang="en-US" sz="1050" kern="0" spc="-50" dirty="0">
                <a:solidFill>
                  <a:srgbClr val="00000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50" kern="0" spc="-50">
                <a:solidFill>
                  <a:srgbClr val="00000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Section title</a:t>
            </a:r>
            <a:endParaRPr lang="en-US" sz="1050"/>
          </a:p>
        </p:txBody>
      </p:sp>
      <p:sp>
        <p:nvSpPr>
          <p:cNvPr id="22" name="Text 0"/>
          <p:cNvSpPr>
            <a:spLocks noGrp="1"/>
          </p:cNvSpPr>
          <p:nvPr>
            <p:ph type="body" idx="120" hasCustomPrompt="1"/>
          </p:nvPr>
        </p:nvSpPr>
        <p:spPr>
          <a:xfrm>
            <a:off x="2286000" y="374650"/>
            <a:ext cx="7937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1400"/>
              </a:lnSpc>
              <a:buNone/>
              <a:defRPr lang="en-US" sz="1050" kern="0" spc="-50" dirty="0">
                <a:solidFill>
                  <a:srgbClr val="00000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50" kern="0" spc="-50">
                <a:solidFill>
                  <a:srgbClr val="00000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Optional text</a:t>
            </a:r>
            <a:endParaRPr lang="en-US" sz="1050"/>
          </a:p>
        </p:txBody>
      </p:sp>
      <p:pic>
        <p:nvPicPr>
          <p:cNvPr id="23" name="Line 14" descr="preencoded.png">
            <a:extLst>
              <a:ext uri="{FF2B5EF4-FFF2-40B4-BE49-F238E27FC236}">
                <a16:creationId xmlns:a16="http://schemas.microsoft.com/office/drawing/2014/main" id="{4A85A91B-A7B2-9DFE-E67A-07D70A11B9E3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406400" y="698500"/>
            <a:ext cx="11379200" cy="2400"/>
          </a:xfrm>
          <a:prstGeom prst="rect">
            <a:avLst/>
          </a:prstGeom>
        </p:spPr>
      </p:pic>
      <p:pic>
        <p:nvPicPr>
          <p:cNvPr id="24" name="Xebia" descr="preencoded.png">
            <a:extLst>
              <a:ext uri="{FF2B5EF4-FFF2-40B4-BE49-F238E27FC236}">
                <a16:creationId xmlns:a16="http://schemas.microsoft.com/office/drawing/2014/main" id="{8A4190C6-19B1-873B-98D0-A3D269741E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3B12DE4-3867-1522-1501-9BD1F89807DB}"/>
              </a:ext>
            </a:extLst>
          </p:cNvPr>
          <p:cNvSpPr>
            <a:spLocks noGrp="1"/>
          </p:cNvSpPr>
          <p:nvPr>
            <p:ph idx="100" hasCustomPrompt="1"/>
          </p:nvPr>
        </p:nvSpPr>
        <p:spPr>
          <a:xfrm>
            <a:off x="406400" y="4570976"/>
            <a:ext cx="1866900" cy="24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 </a:t>
            </a:r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3FA5F2C-B3F4-D1F2-BC3E-2D7845D6D3F5}"/>
              </a:ext>
            </a:extLst>
          </p:cNvPr>
          <p:cNvSpPr>
            <a:spLocks noGrp="1"/>
          </p:cNvSpPr>
          <p:nvPr>
            <p:ph idx="121" hasCustomPrompt="1"/>
          </p:nvPr>
        </p:nvSpPr>
        <p:spPr>
          <a:xfrm>
            <a:off x="2786370" y="4570976"/>
            <a:ext cx="1866900" cy="24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 </a:t>
            </a:r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7003DDE-B02B-3BFD-C383-FDC686C05FB7}"/>
              </a:ext>
            </a:extLst>
          </p:cNvPr>
          <p:cNvSpPr>
            <a:spLocks noGrp="1"/>
          </p:cNvSpPr>
          <p:nvPr>
            <p:ph idx="122" hasCustomPrompt="1"/>
          </p:nvPr>
        </p:nvSpPr>
        <p:spPr>
          <a:xfrm>
            <a:off x="5166340" y="4570976"/>
            <a:ext cx="1866900" cy="24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 </a:t>
            </a:r>
            <a:endParaRPr 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0B07C4B-1AB0-0F4C-DC5E-A31EA52586B5}"/>
              </a:ext>
            </a:extLst>
          </p:cNvPr>
          <p:cNvSpPr>
            <a:spLocks noGrp="1"/>
          </p:cNvSpPr>
          <p:nvPr>
            <p:ph idx="123" hasCustomPrompt="1"/>
          </p:nvPr>
        </p:nvSpPr>
        <p:spPr>
          <a:xfrm>
            <a:off x="7536187" y="4570976"/>
            <a:ext cx="1866900" cy="24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 </a:t>
            </a:r>
            <a:endParaRPr lang="en-US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59366CBE-00A6-B97B-0E1F-E58EEDE38C81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346987" y="4818938"/>
            <a:ext cx="1926313" cy="13478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933">
                <a:solidFill>
                  <a:srgbClr val="150027"/>
                </a:solidFill>
                <a:latin typeface="Suisse Int'l" panose="020B0504000000000000" pitchFamily="34" charset="77"/>
              </a:defRPr>
            </a:lvl1pPr>
            <a:lvl2pPr marL="304815" indent="0">
              <a:buNone/>
              <a:defRPr sz="1053">
                <a:latin typeface="Suisse Int'l" panose="020B0504000000000000" pitchFamily="34" charset="77"/>
              </a:defRPr>
            </a:lvl2pPr>
            <a:lvl3pPr marL="609630" indent="0">
              <a:buNone/>
              <a:defRPr sz="1053">
                <a:latin typeface="Suisse Int'l" panose="020B0504000000000000" pitchFamily="34" charset="77"/>
              </a:defRPr>
            </a:lvl3pPr>
            <a:lvl4pPr marL="914446" indent="0">
              <a:buNone/>
              <a:defRPr sz="1053">
                <a:latin typeface="Suisse Int'l" panose="020B0504000000000000" pitchFamily="34" charset="77"/>
              </a:defRPr>
            </a:lvl4pPr>
            <a:lvl5pPr marL="1219261" indent="0">
              <a:buNone/>
              <a:defRPr sz="1053">
                <a:latin typeface="Suisse Int'l" panose="020B0504000000000000" pitchFamily="34" charset="77"/>
              </a:defRPr>
            </a:lvl5pPr>
          </a:lstStyle>
          <a:p>
            <a:pPr lvl="0"/>
            <a:r>
              <a:rPr lang="es-ES" err="1">
                <a:effectLst/>
              </a:rPr>
              <a:t>We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strive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be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Authority</a:t>
            </a:r>
            <a:r>
              <a:rPr lang="es-ES">
                <a:effectLst/>
              </a:rPr>
              <a:t> - as a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, in </a:t>
            </a:r>
            <a:r>
              <a:rPr lang="es-ES" err="1">
                <a:effectLst/>
              </a:rPr>
              <a:t>each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of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our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service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domains</a:t>
            </a:r>
            <a:r>
              <a:rPr lang="es-ES">
                <a:effectLst/>
              </a:rPr>
              <a:t>, and as </a:t>
            </a:r>
            <a:r>
              <a:rPr lang="es-ES" err="1">
                <a:effectLst/>
              </a:rPr>
              <a:t>professionals</a:t>
            </a:r>
            <a:r>
              <a:rPr lang="es-ES">
                <a:effectLst/>
              </a:rPr>
              <a:t>. </a:t>
            </a:r>
            <a:r>
              <a:rPr lang="es-ES" err="1">
                <a:effectLst/>
              </a:rPr>
              <a:t>This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mission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was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defined</a:t>
            </a:r>
            <a:r>
              <a:rPr lang="es-ES">
                <a:effectLst/>
              </a:rPr>
              <a:t> in 2004 and has </a:t>
            </a:r>
            <a:r>
              <a:rPr lang="es-ES" err="1">
                <a:effectLst/>
              </a:rPr>
              <a:t>guided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Xebia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become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it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today</a:t>
            </a:r>
            <a:r>
              <a:rPr lang="es-ES">
                <a:effectLst/>
              </a:rPr>
              <a:t>, </a:t>
            </a:r>
            <a:r>
              <a:rPr lang="es-ES" err="1">
                <a:effectLst/>
              </a:rPr>
              <a:t>with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over</a:t>
            </a:r>
            <a:r>
              <a:rPr lang="es-ES">
                <a:effectLst/>
              </a:rPr>
              <a:t> 5,500 </a:t>
            </a:r>
            <a:r>
              <a:rPr lang="es-ES" err="1">
                <a:effectLst/>
              </a:rPr>
              <a:t>people</a:t>
            </a:r>
            <a:r>
              <a:rPr lang="es-ES">
                <a:effectLst/>
              </a:rPr>
              <a:t> in 28 </a:t>
            </a:r>
            <a:r>
              <a:rPr lang="es-ES" err="1">
                <a:effectLst/>
              </a:rPr>
              <a:t>offices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across</a:t>
            </a:r>
            <a:r>
              <a:rPr lang="es-ES">
                <a:effectLst/>
              </a:rPr>
              <a:t> 16 </a:t>
            </a:r>
            <a:r>
              <a:rPr lang="es-ES" err="1">
                <a:effectLst/>
              </a:rPr>
              <a:t>countries</a:t>
            </a:r>
            <a:r>
              <a:rPr lang="es-ES">
                <a:effectLst/>
              </a:rPr>
              <a:t>.</a:t>
            </a:r>
            <a:endParaRPr lang="es-ES"/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A8E9DC60-849C-F2AD-8152-B91C557BCABC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2726957" y="4818937"/>
            <a:ext cx="1926313" cy="13478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933">
                <a:solidFill>
                  <a:srgbClr val="150027"/>
                </a:solidFill>
                <a:latin typeface="Suisse Int'l" panose="020B0504000000000000" pitchFamily="34" charset="77"/>
              </a:defRPr>
            </a:lvl1pPr>
            <a:lvl2pPr marL="304815" indent="0">
              <a:buNone/>
              <a:defRPr sz="1053">
                <a:latin typeface="Suisse Int'l" panose="020B0504000000000000" pitchFamily="34" charset="77"/>
              </a:defRPr>
            </a:lvl2pPr>
            <a:lvl3pPr marL="609630" indent="0">
              <a:buNone/>
              <a:defRPr sz="1053">
                <a:latin typeface="Suisse Int'l" panose="020B0504000000000000" pitchFamily="34" charset="77"/>
              </a:defRPr>
            </a:lvl3pPr>
            <a:lvl4pPr marL="914446" indent="0">
              <a:buNone/>
              <a:defRPr sz="1053">
                <a:latin typeface="Suisse Int'l" panose="020B0504000000000000" pitchFamily="34" charset="77"/>
              </a:defRPr>
            </a:lvl4pPr>
            <a:lvl5pPr marL="1219261" indent="0">
              <a:buNone/>
              <a:defRPr sz="1053">
                <a:latin typeface="Suisse Int'l" panose="020B0504000000000000" pitchFamily="34" charset="77"/>
              </a:defRPr>
            </a:lvl5pPr>
          </a:lstStyle>
          <a:p>
            <a:pPr lvl="0"/>
            <a:r>
              <a:rPr lang="es-ES" err="1">
                <a:effectLst/>
              </a:rPr>
              <a:t>We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strive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be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Authority</a:t>
            </a:r>
            <a:r>
              <a:rPr lang="es-ES">
                <a:effectLst/>
              </a:rPr>
              <a:t> - as a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, in </a:t>
            </a:r>
            <a:r>
              <a:rPr lang="es-ES" err="1">
                <a:effectLst/>
              </a:rPr>
              <a:t>each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of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our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service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domains</a:t>
            </a:r>
            <a:r>
              <a:rPr lang="es-ES">
                <a:effectLst/>
              </a:rPr>
              <a:t>, and as </a:t>
            </a:r>
            <a:r>
              <a:rPr lang="es-ES" err="1">
                <a:effectLst/>
              </a:rPr>
              <a:t>professionals</a:t>
            </a:r>
            <a:r>
              <a:rPr lang="es-ES">
                <a:effectLst/>
              </a:rPr>
              <a:t>. </a:t>
            </a:r>
            <a:r>
              <a:rPr lang="es-ES" err="1">
                <a:effectLst/>
              </a:rPr>
              <a:t>This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mission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was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defined</a:t>
            </a:r>
            <a:r>
              <a:rPr lang="es-ES">
                <a:effectLst/>
              </a:rPr>
              <a:t> in 2004 and has </a:t>
            </a:r>
            <a:r>
              <a:rPr lang="es-ES" err="1">
                <a:effectLst/>
              </a:rPr>
              <a:t>guided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Xebia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become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it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today</a:t>
            </a:r>
            <a:r>
              <a:rPr lang="es-ES">
                <a:effectLst/>
              </a:rPr>
              <a:t>, </a:t>
            </a:r>
            <a:r>
              <a:rPr lang="es-ES" err="1">
                <a:effectLst/>
              </a:rPr>
              <a:t>with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over</a:t>
            </a:r>
            <a:r>
              <a:rPr lang="es-ES">
                <a:effectLst/>
              </a:rPr>
              <a:t> 5,500 </a:t>
            </a:r>
            <a:r>
              <a:rPr lang="es-ES" err="1">
                <a:effectLst/>
              </a:rPr>
              <a:t>people</a:t>
            </a:r>
            <a:r>
              <a:rPr lang="es-ES">
                <a:effectLst/>
              </a:rPr>
              <a:t> in 28 </a:t>
            </a:r>
            <a:r>
              <a:rPr lang="es-ES" err="1">
                <a:effectLst/>
              </a:rPr>
              <a:t>offices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across</a:t>
            </a:r>
            <a:r>
              <a:rPr lang="es-ES">
                <a:effectLst/>
              </a:rPr>
              <a:t> 16 </a:t>
            </a:r>
            <a:r>
              <a:rPr lang="es-ES" err="1">
                <a:effectLst/>
              </a:rPr>
              <a:t>countries</a:t>
            </a:r>
            <a:r>
              <a:rPr lang="es-ES">
                <a:effectLst/>
              </a:rPr>
              <a:t>.</a:t>
            </a:r>
            <a:endParaRPr lang="es-ES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94F15214-2DDF-A251-3622-640A6502832E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5106927" y="4818936"/>
            <a:ext cx="1926313" cy="13478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933">
                <a:solidFill>
                  <a:srgbClr val="150027"/>
                </a:solidFill>
                <a:latin typeface="Suisse Int'l" panose="020B0504000000000000" pitchFamily="34" charset="77"/>
              </a:defRPr>
            </a:lvl1pPr>
            <a:lvl2pPr marL="304815" indent="0">
              <a:buNone/>
              <a:defRPr sz="1053">
                <a:latin typeface="Suisse Int'l" panose="020B0504000000000000" pitchFamily="34" charset="77"/>
              </a:defRPr>
            </a:lvl2pPr>
            <a:lvl3pPr marL="609630" indent="0">
              <a:buNone/>
              <a:defRPr sz="1053">
                <a:latin typeface="Suisse Int'l" panose="020B0504000000000000" pitchFamily="34" charset="77"/>
              </a:defRPr>
            </a:lvl3pPr>
            <a:lvl4pPr marL="914446" indent="0">
              <a:buNone/>
              <a:defRPr sz="1053">
                <a:latin typeface="Suisse Int'l" panose="020B0504000000000000" pitchFamily="34" charset="77"/>
              </a:defRPr>
            </a:lvl4pPr>
            <a:lvl5pPr marL="1219261" indent="0">
              <a:buNone/>
              <a:defRPr sz="1053">
                <a:latin typeface="Suisse Int'l" panose="020B0504000000000000" pitchFamily="34" charset="77"/>
              </a:defRPr>
            </a:lvl5pPr>
          </a:lstStyle>
          <a:p>
            <a:pPr lvl="0"/>
            <a:r>
              <a:rPr lang="es-ES" err="1">
                <a:effectLst/>
              </a:rPr>
              <a:t>We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strive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be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Authority</a:t>
            </a:r>
            <a:r>
              <a:rPr lang="es-ES">
                <a:effectLst/>
              </a:rPr>
              <a:t> - as a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, in </a:t>
            </a:r>
            <a:r>
              <a:rPr lang="es-ES" err="1">
                <a:effectLst/>
              </a:rPr>
              <a:t>each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of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our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service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domains</a:t>
            </a:r>
            <a:r>
              <a:rPr lang="es-ES">
                <a:effectLst/>
              </a:rPr>
              <a:t>, and as </a:t>
            </a:r>
            <a:r>
              <a:rPr lang="es-ES" err="1">
                <a:effectLst/>
              </a:rPr>
              <a:t>professionals</a:t>
            </a:r>
            <a:r>
              <a:rPr lang="es-ES">
                <a:effectLst/>
              </a:rPr>
              <a:t>. </a:t>
            </a:r>
            <a:r>
              <a:rPr lang="es-ES" err="1">
                <a:effectLst/>
              </a:rPr>
              <a:t>This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mission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was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defined</a:t>
            </a:r>
            <a:r>
              <a:rPr lang="es-ES">
                <a:effectLst/>
              </a:rPr>
              <a:t> in 2004 and has </a:t>
            </a:r>
            <a:r>
              <a:rPr lang="es-ES" err="1">
                <a:effectLst/>
              </a:rPr>
              <a:t>guided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Xebia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become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it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today</a:t>
            </a:r>
            <a:r>
              <a:rPr lang="es-ES">
                <a:effectLst/>
              </a:rPr>
              <a:t>, </a:t>
            </a:r>
            <a:r>
              <a:rPr lang="es-ES" err="1">
                <a:effectLst/>
              </a:rPr>
              <a:t>with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over</a:t>
            </a:r>
            <a:r>
              <a:rPr lang="es-ES">
                <a:effectLst/>
              </a:rPr>
              <a:t> 5,500 </a:t>
            </a:r>
            <a:r>
              <a:rPr lang="es-ES" err="1">
                <a:effectLst/>
              </a:rPr>
              <a:t>people</a:t>
            </a:r>
            <a:r>
              <a:rPr lang="es-ES">
                <a:effectLst/>
              </a:rPr>
              <a:t> in 28 </a:t>
            </a:r>
            <a:r>
              <a:rPr lang="es-ES" err="1">
                <a:effectLst/>
              </a:rPr>
              <a:t>offices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across</a:t>
            </a:r>
            <a:r>
              <a:rPr lang="es-ES">
                <a:effectLst/>
              </a:rPr>
              <a:t> 16 </a:t>
            </a:r>
            <a:r>
              <a:rPr lang="es-ES" err="1">
                <a:effectLst/>
              </a:rPr>
              <a:t>countries</a:t>
            </a:r>
            <a:r>
              <a:rPr lang="es-ES">
                <a:effectLst/>
              </a:rPr>
              <a:t>.</a:t>
            </a:r>
            <a:endParaRPr lang="es-ES"/>
          </a:p>
        </p:txBody>
      </p:sp>
      <p:sp>
        <p:nvSpPr>
          <p:cNvPr id="27" name="Marcador de texto 8">
            <a:extLst>
              <a:ext uri="{FF2B5EF4-FFF2-40B4-BE49-F238E27FC236}">
                <a16:creationId xmlns:a16="http://schemas.microsoft.com/office/drawing/2014/main" id="{388D60B9-5587-DFCC-FBA0-5BF830970987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7481842" y="4818936"/>
            <a:ext cx="1926313" cy="13478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933">
                <a:solidFill>
                  <a:srgbClr val="150027"/>
                </a:solidFill>
                <a:latin typeface="Suisse Int'l" panose="020B0504000000000000" pitchFamily="34" charset="77"/>
              </a:defRPr>
            </a:lvl1pPr>
            <a:lvl2pPr marL="304815" indent="0">
              <a:buNone/>
              <a:defRPr sz="1053">
                <a:latin typeface="Suisse Int'l" panose="020B0504000000000000" pitchFamily="34" charset="77"/>
              </a:defRPr>
            </a:lvl2pPr>
            <a:lvl3pPr marL="609630" indent="0">
              <a:buNone/>
              <a:defRPr sz="1053">
                <a:latin typeface="Suisse Int'l" panose="020B0504000000000000" pitchFamily="34" charset="77"/>
              </a:defRPr>
            </a:lvl3pPr>
            <a:lvl4pPr marL="914446" indent="0">
              <a:buNone/>
              <a:defRPr sz="1053">
                <a:latin typeface="Suisse Int'l" panose="020B0504000000000000" pitchFamily="34" charset="77"/>
              </a:defRPr>
            </a:lvl4pPr>
            <a:lvl5pPr marL="1219261" indent="0">
              <a:buNone/>
              <a:defRPr sz="1053">
                <a:latin typeface="Suisse Int'l" panose="020B0504000000000000" pitchFamily="34" charset="77"/>
              </a:defRPr>
            </a:lvl5pPr>
          </a:lstStyle>
          <a:p>
            <a:pPr lvl="0"/>
            <a:r>
              <a:rPr lang="es-ES" err="1">
                <a:effectLst/>
              </a:rPr>
              <a:t>We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strive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be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Authority</a:t>
            </a:r>
            <a:r>
              <a:rPr lang="es-ES">
                <a:effectLst/>
              </a:rPr>
              <a:t> - as a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, in </a:t>
            </a:r>
            <a:r>
              <a:rPr lang="es-ES" err="1">
                <a:effectLst/>
              </a:rPr>
              <a:t>each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of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our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service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domains</a:t>
            </a:r>
            <a:r>
              <a:rPr lang="es-ES">
                <a:effectLst/>
              </a:rPr>
              <a:t>, and as </a:t>
            </a:r>
            <a:r>
              <a:rPr lang="es-ES" err="1">
                <a:effectLst/>
              </a:rPr>
              <a:t>professionals</a:t>
            </a:r>
            <a:r>
              <a:rPr lang="es-ES">
                <a:effectLst/>
              </a:rPr>
              <a:t>. </a:t>
            </a:r>
            <a:r>
              <a:rPr lang="es-ES" err="1">
                <a:effectLst/>
              </a:rPr>
              <a:t>This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mission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was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defined</a:t>
            </a:r>
            <a:r>
              <a:rPr lang="es-ES">
                <a:effectLst/>
              </a:rPr>
              <a:t> in 2004 and has </a:t>
            </a:r>
            <a:r>
              <a:rPr lang="es-ES" err="1">
                <a:effectLst/>
              </a:rPr>
              <a:t>guided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Xebia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become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it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today</a:t>
            </a:r>
            <a:r>
              <a:rPr lang="es-ES">
                <a:effectLst/>
              </a:rPr>
              <a:t>, </a:t>
            </a:r>
            <a:r>
              <a:rPr lang="es-ES" err="1">
                <a:effectLst/>
              </a:rPr>
              <a:t>with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over</a:t>
            </a:r>
            <a:r>
              <a:rPr lang="es-ES">
                <a:effectLst/>
              </a:rPr>
              <a:t> 5,500 </a:t>
            </a:r>
            <a:r>
              <a:rPr lang="es-ES" err="1">
                <a:effectLst/>
              </a:rPr>
              <a:t>people</a:t>
            </a:r>
            <a:r>
              <a:rPr lang="es-ES">
                <a:effectLst/>
              </a:rPr>
              <a:t> in 28 </a:t>
            </a:r>
            <a:r>
              <a:rPr lang="es-ES" err="1">
                <a:effectLst/>
              </a:rPr>
              <a:t>offices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across</a:t>
            </a:r>
            <a:r>
              <a:rPr lang="es-ES">
                <a:effectLst/>
              </a:rPr>
              <a:t> 16 </a:t>
            </a:r>
            <a:r>
              <a:rPr lang="es-ES" err="1">
                <a:effectLst/>
              </a:rPr>
              <a:t>countries</a:t>
            </a:r>
            <a:r>
              <a:rPr lang="es-ES">
                <a:effectLst/>
              </a:rPr>
              <a:t>.</a:t>
            </a:r>
            <a:endParaRPr lang="es-ES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CDD7CF1A-7706-BF05-2A05-ECF937210C00}"/>
              </a:ext>
            </a:extLst>
          </p:cNvPr>
          <p:cNvSpPr>
            <a:spLocks noGrp="1"/>
          </p:cNvSpPr>
          <p:nvPr>
            <p:ph type="body" idx="149" hasCustomPrompt="1"/>
          </p:nvPr>
        </p:nvSpPr>
        <p:spPr>
          <a:xfrm>
            <a:off x="9913631" y="3797300"/>
            <a:ext cx="186944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4900"/>
              </a:lnSpc>
              <a:buNone/>
              <a:defRPr lang="en-US" sz="5600" kern="0" spc="-200" dirty="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defRPr>
            </a:lvl1pPr>
          </a:lstStyle>
          <a:p>
            <a:pPr marL="0" indent="0" algn="l">
              <a:lnSpc>
                <a:spcPts val="4900"/>
              </a:lnSpc>
              <a:buNone/>
            </a:pPr>
            <a:r>
              <a:rPr lang="en-US" sz="5600" kern="0" spc="-200">
                <a:solidFill>
                  <a:srgbClr val="E331D0"/>
                </a:solidFill>
                <a:latin typeface="Suisse Int'l Regular" pitchFamily="34" charset="0"/>
                <a:ea typeface="Suisse Int'l Regular" pitchFamily="34" charset="-122"/>
                <a:cs typeface="Suisse Int'l Regular" pitchFamily="34" charset="-120"/>
              </a:rPr>
              <a:t>05</a:t>
            </a:r>
            <a:endParaRPr lang="en-US" sz="560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F53C119-99C1-AFBC-00C5-378BE8E1FBBE}"/>
              </a:ext>
            </a:extLst>
          </p:cNvPr>
          <p:cNvSpPr>
            <a:spLocks noGrp="1"/>
          </p:cNvSpPr>
          <p:nvPr>
            <p:ph idx="150" hasCustomPrompt="1"/>
          </p:nvPr>
        </p:nvSpPr>
        <p:spPr>
          <a:xfrm>
            <a:off x="9911103" y="4570976"/>
            <a:ext cx="1866900" cy="24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 </a:t>
            </a:r>
            <a:endParaRPr lang="en-US"/>
          </a:p>
        </p:txBody>
      </p:sp>
      <p:sp>
        <p:nvSpPr>
          <p:cNvPr id="35" name="Marcador de texto 8">
            <a:extLst>
              <a:ext uri="{FF2B5EF4-FFF2-40B4-BE49-F238E27FC236}">
                <a16:creationId xmlns:a16="http://schemas.microsoft.com/office/drawing/2014/main" id="{087B86AC-B08F-ECD1-792C-9192CE953D10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9856758" y="4818936"/>
            <a:ext cx="1926313" cy="13478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933">
                <a:solidFill>
                  <a:srgbClr val="150027"/>
                </a:solidFill>
                <a:latin typeface="Suisse Int'l" panose="020B0504000000000000" pitchFamily="34" charset="77"/>
              </a:defRPr>
            </a:lvl1pPr>
            <a:lvl2pPr marL="304815" indent="0">
              <a:buNone/>
              <a:defRPr sz="1053">
                <a:latin typeface="Suisse Int'l" panose="020B0504000000000000" pitchFamily="34" charset="77"/>
              </a:defRPr>
            </a:lvl2pPr>
            <a:lvl3pPr marL="609630" indent="0">
              <a:buNone/>
              <a:defRPr sz="1053">
                <a:latin typeface="Suisse Int'l" panose="020B0504000000000000" pitchFamily="34" charset="77"/>
              </a:defRPr>
            </a:lvl3pPr>
            <a:lvl4pPr marL="914446" indent="0">
              <a:buNone/>
              <a:defRPr sz="1053">
                <a:latin typeface="Suisse Int'l" panose="020B0504000000000000" pitchFamily="34" charset="77"/>
              </a:defRPr>
            </a:lvl4pPr>
            <a:lvl5pPr marL="1219261" indent="0">
              <a:buNone/>
              <a:defRPr sz="1053">
                <a:latin typeface="Suisse Int'l" panose="020B0504000000000000" pitchFamily="34" charset="77"/>
              </a:defRPr>
            </a:lvl5pPr>
          </a:lstStyle>
          <a:p>
            <a:pPr lvl="0"/>
            <a:r>
              <a:rPr lang="es-ES" err="1">
                <a:effectLst/>
              </a:rPr>
              <a:t>We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strive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be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Authority</a:t>
            </a:r>
            <a:r>
              <a:rPr lang="es-ES">
                <a:effectLst/>
              </a:rPr>
              <a:t> - as a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, in </a:t>
            </a:r>
            <a:r>
              <a:rPr lang="es-ES" err="1">
                <a:effectLst/>
              </a:rPr>
              <a:t>each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of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our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service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domains</a:t>
            </a:r>
            <a:r>
              <a:rPr lang="es-ES">
                <a:effectLst/>
              </a:rPr>
              <a:t>, and as </a:t>
            </a:r>
            <a:r>
              <a:rPr lang="es-ES" err="1">
                <a:effectLst/>
              </a:rPr>
              <a:t>professionals</a:t>
            </a:r>
            <a:r>
              <a:rPr lang="es-ES">
                <a:effectLst/>
              </a:rPr>
              <a:t>. </a:t>
            </a:r>
            <a:r>
              <a:rPr lang="es-ES" err="1">
                <a:effectLst/>
              </a:rPr>
              <a:t>This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mission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was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defined</a:t>
            </a:r>
            <a:r>
              <a:rPr lang="es-ES">
                <a:effectLst/>
              </a:rPr>
              <a:t> in 2004 and has </a:t>
            </a:r>
            <a:r>
              <a:rPr lang="es-ES" err="1">
                <a:effectLst/>
              </a:rPr>
              <a:t>guided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Xebia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become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the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company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it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is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today</a:t>
            </a:r>
            <a:r>
              <a:rPr lang="es-ES">
                <a:effectLst/>
              </a:rPr>
              <a:t>, </a:t>
            </a:r>
            <a:r>
              <a:rPr lang="es-ES" err="1">
                <a:effectLst/>
              </a:rPr>
              <a:t>with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over</a:t>
            </a:r>
            <a:r>
              <a:rPr lang="es-ES">
                <a:effectLst/>
              </a:rPr>
              <a:t> 5,500 </a:t>
            </a:r>
            <a:r>
              <a:rPr lang="es-ES" err="1">
                <a:effectLst/>
              </a:rPr>
              <a:t>people</a:t>
            </a:r>
            <a:r>
              <a:rPr lang="es-ES">
                <a:effectLst/>
              </a:rPr>
              <a:t> in 28 </a:t>
            </a:r>
            <a:r>
              <a:rPr lang="es-ES" err="1">
                <a:effectLst/>
              </a:rPr>
              <a:t>offices</a:t>
            </a:r>
            <a:r>
              <a:rPr lang="es-ES">
                <a:effectLst/>
              </a:rPr>
              <a:t> </a:t>
            </a:r>
            <a:r>
              <a:rPr lang="es-ES" err="1">
                <a:effectLst/>
              </a:rPr>
              <a:t>across</a:t>
            </a:r>
            <a:r>
              <a:rPr lang="es-ES">
                <a:effectLst/>
              </a:rPr>
              <a:t> 16 </a:t>
            </a:r>
            <a:r>
              <a:rPr lang="es-ES" err="1">
                <a:effectLst/>
              </a:rPr>
              <a:t>countries</a:t>
            </a:r>
            <a:r>
              <a:rPr lang="es-ES">
                <a:effectLst/>
              </a:rPr>
              <a:t>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617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9481334D-74AE-CB3B-8AD7-B5A3331BBCD2}"/>
              </a:ext>
            </a:extLst>
          </p:cNvPr>
          <p:cNvSpPr>
            <a:spLocks noGrp="1"/>
          </p:cNvSpPr>
          <p:nvPr>
            <p:ph type="body" idx="118"/>
          </p:nvPr>
        </p:nvSpPr>
        <p:spPr/>
        <p:txBody>
          <a:bodyPr/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s-ES" spc="0">
              <a:latin typeface="+mj-lt"/>
            </a:endParaRPr>
          </a:p>
          <a:p>
            <a:pPr>
              <a:lnSpc>
                <a:spcPct val="100000"/>
              </a:lnSpc>
            </a:pPr>
            <a:endParaRPr lang="es-ES" spc="0">
              <a:latin typeface="+mj-lt"/>
            </a:endParaRPr>
          </a:p>
        </p:txBody>
      </p:sp>
      <p:pic>
        <p:nvPicPr>
          <p:cNvPr id="29" name="Frame 427322285" descr="preencoded.png">
            <a:extLst>
              <a:ext uri="{FF2B5EF4-FFF2-40B4-BE49-F238E27FC236}">
                <a16:creationId xmlns:a16="http://schemas.microsoft.com/office/drawing/2014/main" id="{472B1AC6-CE01-415B-0E73-7328F8D6C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6400" y="4000500"/>
            <a:ext cx="2692400" cy="2482850"/>
          </a:xfrm>
          <a:prstGeom prst="rect">
            <a:avLst/>
          </a:prstGeom>
        </p:spPr>
      </p:pic>
      <p:sp>
        <p:nvSpPr>
          <p:cNvPr id="31" name="name_100">
            <a:extLst>
              <a:ext uri="{FF2B5EF4-FFF2-40B4-BE49-F238E27FC236}">
                <a16:creationId xmlns:a16="http://schemas.microsoft.com/office/drawing/2014/main" id="{5810B7BD-D83A-5578-2F2C-C67898422BB2}"/>
              </a:ext>
            </a:extLst>
          </p:cNvPr>
          <p:cNvSpPr/>
          <p:nvPr/>
        </p:nvSpPr>
        <p:spPr>
          <a:xfrm>
            <a:off x="609600" y="5799098"/>
            <a:ext cx="164465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5600">
              <a:latin typeface="+mj-lt"/>
            </a:endParaRPr>
          </a:p>
        </p:txBody>
      </p:sp>
      <p:pic>
        <p:nvPicPr>
          <p:cNvPr id="36" name="Frame 427322285" descr="preencoded.png">
            <a:extLst>
              <a:ext uri="{FF2B5EF4-FFF2-40B4-BE49-F238E27FC236}">
                <a16:creationId xmlns:a16="http://schemas.microsoft.com/office/drawing/2014/main" id="{EABCDA54-9E9E-F0C8-58D7-C4299B965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86667" y="4000500"/>
            <a:ext cx="2692400" cy="2482850"/>
          </a:xfrm>
          <a:prstGeom prst="rect">
            <a:avLst/>
          </a:prstGeom>
        </p:spPr>
      </p:pic>
      <p:sp>
        <p:nvSpPr>
          <p:cNvPr id="37" name="Data card">
            <a:extLst>
              <a:ext uri="{FF2B5EF4-FFF2-40B4-BE49-F238E27FC236}">
                <a16:creationId xmlns:a16="http://schemas.microsoft.com/office/drawing/2014/main" id="{84D39D21-9645-E7DE-0984-1246B9D64A03}"/>
              </a:ext>
            </a:extLst>
          </p:cNvPr>
          <p:cNvSpPr/>
          <p:nvPr/>
        </p:nvSpPr>
        <p:spPr>
          <a:xfrm>
            <a:off x="3589867" y="4254500"/>
            <a:ext cx="22988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>
              <a:solidFill>
                <a:srgbClr val="000000"/>
              </a:solidFill>
              <a:latin typeface="+mj-lt"/>
              <a:ea typeface="Suisse Int'l Regular" pitchFamily="34" charset="-122"/>
              <a:cs typeface="Suisse Int'l Regular" pitchFamily="34" charset="-120"/>
            </a:endParaRPr>
          </a:p>
        </p:txBody>
      </p:sp>
      <p:sp>
        <p:nvSpPr>
          <p:cNvPr id="38" name="name_100">
            <a:extLst>
              <a:ext uri="{FF2B5EF4-FFF2-40B4-BE49-F238E27FC236}">
                <a16:creationId xmlns:a16="http://schemas.microsoft.com/office/drawing/2014/main" id="{31A0A661-AC15-CA16-78F8-A230F774F437}"/>
              </a:ext>
            </a:extLst>
          </p:cNvPr>
          <p:cNvSpPr/>
          <p:nvPr/>
        </p:nvSpPr>
        <p:spPr>
          <a:xfrm>
            <a:off x="3589867" y="5799098"/>
            <a:ext cx="164465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5600">
              <a:latin typeface="+mj-lt"/>
            </a:endParaRPr>
          </a:p>
        </p:txBody>
      </p:sp>
      <p:pic>
        <p:nvPicPr>
          <p:cNvPr id="43" name="Frame 427322285" descr="preencoded.png">
            <a:extLst>
              <a:ext uri="{FF2B5EF4-FFF2-40B4-BE49-F238E27FC236}">
                <a16:creationId xmlns:a16="http://schemas.microsoft.com/office/drawing/2014/main" id="{69F543A2-72FA-CA4A-FECE-440E91F75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82267" y="4000500"/>
            <a:ext cx="2692400" cy="2482850"/>
          </a:xfrm>
          <a:prstGeom prst="rect">
            <a:avLst/>
          </a:prstGeom>
        </p:spPr>
      </p:pic>
      <p:sp>
        <p:nvSpPr>
          <p:cNvPr id="44" name="Data card">
            <a:extLst>
              <a:ext uri="{FF2B5EF4-FFF2-40B4-BE49-F238E27FC236}">
                <a16:creationId xmlns:a16="http://schemas.microsoft.com/office/drawing/2014/main" id="{EB915005-5B11-58CB-7806-C4B9B7E96DDB}"/>
              </a:ext>
            </a:extLst>
          </p:cNvPr>
          <p:cNvSpPr/>
          <p:nvPr/>
        </p:nvSpPr>
        <p:spPr>
          <a:xfrm>
            <a:off x="6485467" y="4254500"/>
            <a:ext cx="22988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>
              <a:solidFill>
                <a:srgbClr val="000000"/>
              </a:solidFill>
              <a:latin typeface="+mj-lt"/>
              <a:ea typeface="Suisse Int'l Regular" pitchFamily="34" charset="-122"/>
              <a:cs typeface="Suisse Int'l Regular" pitchFamily="34" charset="-120"/>
            </a:endParaRPr>
          </a:p>
        </p:txBody>
      </p:sp>
      <p:sp>
        <p:nvSpPr>
          <p:cNvPr id="45" name="name_100">
            <a:extLst>
              <a:ext uri="{FF2B5EF4-FFF2-40B4-BE49-F238E27FC236}">
                <a16:creationId xmlns:a16="http://schemas.microsoft.com/office/drawing/2014/main" id="{4AC2722C-D536-311B-53D5-CC884E178D16}"/>
              </a:ext>
            </a:extLst>
          </p:cNvPr>
          <p:cNvSpPr/>
          <p:nvPr/>
        </p:nvSpPr>
        <p:spPr>
          <a:xfrm>
            <a:off x="6485467" y="5799098"/>
            <a:ext cx="164465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5600">
              <a:latin typeface="+mj-lt"/>
            </a:endParaRPr>
          </a:p>
        </p:txBody>
      </p:sp>
      <p:pic>
        <p:nvPicPr>
          <p:cNvPr id="50" name="Marcador de posición de imagen 19">
            <a:extLst>
              <a:ext uri="{FF2B5EF4-FFF2-40B4-BE49-F238E27FC236}">
                <a16:creationId xmlns:a16="http://schemas.microsoft.com/office/drawing/2014/main" id="{AA9987BC-0428-0207-C7A1-EE73A8BFAC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" r="132"/>
          <a:stretch/>
        </p:blipFill>
        <p:spPr>
          <a:xfrm>
            <a:off x="9177867" y="3998383"/>
            <a:ext cx="2707217" cy="2484967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EA043938-6362-E21A-4D4B-AAEA2BAC19C3}"/>
              </a:ext>
            </a:extLst>
          </p:cNvPr>
          <p:cNvSpPr txBox="1"/>
          <p:nvPr/>
        </p:nvSpPr>
        <p:spPr>
          <a:xfrm>
            <a:off x="609600" y="997704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spc="0" noProof="0">
                <a:latin typeface="+mj-lt"/>
              </a:rPr>
              <a:t>
</a:t>
            </a:r>
            <a:r>
              <a:rPr lang="en-GB" sz="1600" spc="0" noProof="0">
                <a:latin typeface="+mj-lt"/>
              </a:rPr>
              <a:t>For additional product development beyond the MVP, we can keep the </a:t>
            </a:r>
            <a:r>
              <a:rPr lang="en-GB" sz="1600" spc="0" noProof="0" err="1">
                <a:latin typeface="+mj-lt"/>
              </a:rPr>
              <a:t>Xebia</a:t>
            </a:r>
            <a:r>
              <a:rPr lang="en-GB" sz="1600" spc="0" noProof="0">
                <a:latin typeface="+mj-lt"/>
              </a:rPr>
              <a:t> team available and potentially rotate team members. Our collaboration would transition from a project-based engagement to a long-term partnership.
If the platform reaches a stable state, we can hand over development to internal employees or transition to a nearshore maintenance team in Poland.</a:t>
            </a:r>
            <a:endParaRPr lang="nl-NL" sz="160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1C4403C-877C-2CAB-07DB-47AC39BE8D79}"/>
              </a:ext>
            </a:extLst>
          </p:cNvPr>
          <p:cNvSpPr txBox="1"/>
          <p:nvPr/>
        </p:nvSpPr>
        <p:spPr>
          <a:xfrm>
            <a:off x="609600" y="313492"/>
            <a:ext cx="6096000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133" b="1" spc="0" noProof="0">
                <a:latin typeface="+mj-lt"/>
              </a:rPr>
              <a:t>Maintenance and Support Beyond MVP</a:t>
            </a:r>
            <a:endParaRPr lang="nl-NL" sz="2133" b="1"/>
          </a:p>
        </p:txBody>
      </p:sp>
    </p:spTree>
    <p:extLst>
      <p:ext uri="{BB962C8B-B14F-4D97-AF65-F5344CB8AC3E}">
        <p14:creationId xmlns:p14="http://schemas.microsoft.com/office/powerpoint/2010/main" val="3571434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22E8EB-55BB-4862-A5F5-6E778AD36D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61CC8E-51C4-46E1-B846-9C349B6D224B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8C3DD159-5D17-40BF-93D1-080A1B7D924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2026-01-22T15:54:50Z</dcterms:created>
  <dcterms:modified xsi:type="dcterms:W3CDTF">2026-01-22T15:55:33Z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