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9" r:id="rId5"/>
    <p:sldId id="214748364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B29EF-6162-A4BC-4484-BAE6DC49A56D}" v="3" dt="2026-01-23T11:36:07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076B29EF-6162-A4BC-4484-BAE6DC49A56D}"/>
    <pc:docChg chg="addSld delSld">
      <pc:chgData name="George Sereda" userId="S::george.sereda@xebia.com::5e824fc6-3a6a-482b-8597-f9374fb4b421" providerId="AD" clId="Web-{076B29EF-6162-A4BC-4484-BAE6DC49A56D}" dt="2026-01-23T11:36:07.275" v="2"/>
      <pc:docMkLst>
        <pc:docMk/>
      </pc:docMkLst>
      <pc:sldChg chg="del">
        <pc:chgData name="George Sereda" userId="S::george.sereda@xebia.com::5e824fc6-3a6a-482b-8597-f9374fb4b421" providerId="AD" clId="Web-{076B29EF-6162-A4BC-4484-BAE6DC49A56D}" dt="2026-01-23T11:36:07.275" v="2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076B29EF-6162-A4BC-4484-BAE6DC49A56D}" dt="2026-01-23T11:35:50.760" v="0"/>
        <pc:sldMkLst>
          <pc:docMk/>
          <pc:sldMk cId="4042320505" sldId="259"/>
        </pc:sldMkLst>
      </pc:sldChg>
      <pc:sldChg chg="add">
        <pc:chgData name="George Sereda" userId="S::george.sereda@xebia.com::5e824fc6-3a6a-482b-8597-f9374fb4b421" providerId="AD" clId="Web-{076B29EF-6162-A4BC-4484-BAE6DC49A56D}" dt="2026-01-23T11:35:51.213" v="1"/>
        <pc:sldMkLst>
          <pc:docMk/>
          <pc:sldMk cId="3460247818" sldId="2147483640"/>
        </pc:sldMkLst>
      </pc:sldChg>
      <pc:sldMasterChg chg="addSldLayout">
        <pc:chgData name="George Sereda" userId="S::george.sereda@xebia.com::5e824fc6-3a6a-482b-8597-f9374fb4b421" providerId="AD" clId="Web-{076B29EF-6162-A4BC-4484-BAE6DC49A56D}" dt="2026-01-23T11:35:50.760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076B29EF-6162-A4BC-4484-BAE6DC49A56D}" dt="2026-01-23T11:35:50.760" v="0"/>
          <pc:sldLayoutMkLst>
            <pc:docMk/>
            <pc:sldMasterMk cId="2460954070" sldId="2147483660"/>
            <pc:sldLayoutMk cId="1162760448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06157-B515-42F0-AC77-157220CC774B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12ABB-F3CC-4AB5-9BF3-9D5D330B99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0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8A791-D8E8-4C23-A528-EAEB42DC40E7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841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6276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DC5A-B61C-A6CA-F424-2B370E682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592E65-7197-59B2-AB57-A687B0F07457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2CBF46-588F-2C51-AE79-E15B63F9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673B4-10AE-12EF-A333-AD7BDE578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7070B2FB-4960-F046-852E-BA50EAB4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Governance Model</a:t>
            </a: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762DEE15-F52A-7924-17DA-D32A8F5C784B}"/>
              </a:ext>
            </a:extLst>
          </p:cNvPr>
          <p:cNvSpPr txBox="1"/>
          <p:nvPr/>
        </p:nvSpPr>
        <p:spPr>
          <a:xfrm>
            <a:off x="1659979" y="1859094"/>
            <a:ext cx="1109277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EXECUTIVE LEVEL</a:t>
            </a:r>
          </a:p>
        </p:txBody>
      </p:sp>
      <p:grpSp>
        <p:nvGrpSpPr>
          <p:cNvPr id="6" name="Grupa 53">
            <a:extLst>
              <a:ext uri="{FF2B5EF4-FFF2-40B4-BE49-F238E27FC236}">
                <a16:creationId xmlns:a16="http://schemas.microsoft.com/office/drawing/2014/main" id="{959BB251-B671-A19C-DBAB-DD036F65EA43}"/>
              </a:ext>
            </a:extLst>
          </p:cNvPr>
          <p:cNvGrpSpPr/>
          <p:nvPr/>
        </p:nvGrpSpPr>
        <p:grpSpPr>
          <a:xfrm>
            <a:off x="913464" y="2359809"/>
            <a:ext cx="10544699" cy="3724037"/>
            <a:chOff x="377795" y="2577804"/>
            <a:chExt cx="11404507" cy="3961108"/>
          </a:xfrm>
        </p:grpSpPr>
        <p:grpSp>
          <p:nvGrpSpPr>
            <p:cNvPr id="7" name="Grupa 4">
              <a:extLst>
                <a:ext uri="{FF2B5EF4-FFF2-40B4-BE49-F238E27FC236}">
                  <a16:creationId xmlns:a16="http://schemas.microsoft.com/office/drawing/2014/main" id="{AE739F85-2031-DD6D-8DBA-665C7EBDFA80}"/>
                </a:ext>
              </a:extLst>
            </p:cNvPr>
            <p:cNvGrpSpPr/>
            <p:nvPr/>
          </p:nvGrpSpPr>
          <p:grpSpPr>
            <a:xfrm>
              <a:off x="377795" y="2577804"/>
              <a:ext cx="11404507" cy="3961108"/>
              <a:chOff x="317255" y="2571075"/>
              <a:chExt cx="11404507" cy="3961108"/>
            </a:xfrm>
          </p:grpSpPr>
          <p:sp>
            <p:nvSpPr>
              <p:cNvPr id="14" name="Rounded Rectangle 87">
                <a:extLst>
                  <a:ext uri="{FF2B5EF4-FFF2-40B4-BE49-F238E27FC236}">
                    <a16:creationId xmlns:a16="http://schemas.microsoft.com/office/drawing/2014/main" id="{564E9E53-A7FE-C55C-2386-CB0CE3E688E3}"/>
                  </a:ext>
                </a:extLst>
              </p:cNvPr>
              <p:cNvSpPr/>
              <p:nvPr/>
            </p:nvSpPr>
            <p:spPr>
              <a:xfrm>
                <a:off x="3364520" y="2603777"/>
                <a:ext cx="2602883" cy="3928406"/>
              </a:xfrm>
              <a:prstGeom prst="roundRect">
                <a:avLst>
                  <a:gd name="adj" fmla="val 4001"/>
                </a:avLst>
              </a:prstGeom>
              <a:solidFill>
                <a:srgbClr val="DFDAE1"/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ysDash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ounded Rectangle 181">
                <a:extLst>
                  <a:ext uri="{FF2B5EF4-FFF2-40B4-BE49-F238E27FC236}">
                    <a16:creationId xmlns:a16="http://schemas.microsoft.com/office/drawing/2014/main" id="{B5705A97-9F62-E856-D2D2-033201024027}"/>
                  </a:ext>
                </a:extLst>
              </p:cNvPr>
              <p:cNvSpPr/>
              <p:nvPr/>
            </p:nvSpPr>
            <p:spPr>
              <a:xfrm>
                <a:off x="827591" y="3960196"/>
                <a:ext cx="2167632" cy="400090"/>
              </a:xfrm>
              <a:prstGeom prst="round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Delivery Management</a:t>
                </a:r>
              </a:p>
            </p:txBody>
          </p:sp>
          <p:sp>
            <p:nvSpPr>
              <p:cNvPr id="19" name="Rounded Rectangle 181">
                <a:extLst>
                  <a:ext uri="{FF2B5EF4-FFF2-40B4-BE49-F238E27FC236}">
                    <a16:creationId xmlns:a16="http://schemas.microsoft.com/office/drawing/2014/main" id="{57915BA3-88DA-114C-004B-C23886554E96}"/>
                  </a:ext>
                </a:extLst>
              </p:cNvPr>
              <p:cNvSpPr/>
              <p:nvPr/>
            </p:nvSpPr>
            <p:spPr>
              <a:xfrm>
                <a:off x="821970" y="5525943"/>
                <a:ext cx="2167632" cy="400090"/>
              </a:xfrm>
              <a:prstGeom prst="round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Engineering Team</a:t>
                </a:r>
              </a:p>
            </p:txBody>
          </p:sp>
          <p:sp>
            <p:nvSpPr>
              <p:cNvPr id="20" name="Rounded Rectangle 87">
                <a:extLst>
                  <a:ext uri="{FF2B5EF4-FFF2-40B4-BE49-F238E27FC236}">
                    <a16:creationId xmlns:a16="http://schemas.microsoft.com/office/drawing/2014/main" id="{7B588B5C-C7C4-3E5C-E25A-79BC828BC047}"/>
                  </a:ext>
                </a:extLst>
              </p:cNvPr>
              <p:cNvSpPr/>
              <p:nvPr/>
            </p:nvSpPr>
            <p:spPr>
              <a:xfrm>
                <a:off x="6048777" y="2579026"/>
                <a:ext cx="2668341" cy="3948829"/>
              </a:xfrm>
              <a:prstGeom prst="roundRect">
                <a:avLst>
                  <a:gd name="adj" fmla="val 400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ysDash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Rounded Rectangle 88">
                <a:extLst>
                  <a:ext uri="{FF2B5EF4-FFF2-40B4-BE49-F238E27FC236}">
                    <a16:creationId xmlns:a16="http://schemas.microsoft.com/office/drawing/2014/main" id="{BDB5CDDC-63A9-AB39-7F61-9735BC946FC2}"/>
                  </a:ext>
                </a:extLst>
              </p:cNvPr>
              <p:cNvSpPr/>
              <p:nvPr/>
            </p:nvSpPr>
            <p:spPr>
              <a:xfrm>
                <a:off x="6163209" y="5036106"/>
                <a:ext cx="2468880" cy="548640"/>
              </a:xfrm>
              <a:prstGeom prst="roundRect">
                <a:avLst>
                  <a:gd name="adj" fmla="val 12101"/>
                </a:avLst>
              </a:prstGeom>
              <a:solidFill>
                <a:srgbClr val="FFFFFF"/>
              </a:solidFill>
              <a:ln w="9525" cap="flat" cmpd="sng" algn="ctr">
                <a:solidFill>
                  <a:srgbClr val="5C4F61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lvl="0" algn="ctr">
                  <a:defRPr/>
                </a:pPr>
                <a:r>
                  <a:rPr lang="en-US" sz="1100" b="1" kern="0" noProof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Business/Product Owner</a:t>
                </a:r>
              </a:p>
            </p:txBody>
          </p:sp>
          <p:sp>
            <p:nvSpPr>
              <p:cNvPr id="23" name="Rounded Rectangle 88">
                <a:extLst>
                  <a:ext uri="{FF2B5EF4-FFF2-40B4-BE49-F238E27FC236}">
                    <a16:creationId xmlns:a16="http://schemas.microsoft.com/office/drawing/2014/main" id="{781B9016-BB7C-14EF-F4B0-A8E55A3C265F}"/>
                  </a:ext>
                </a:extLst>
              </p:cNvPr>
              <p:cNvSpPr/>
              <p:nvPr/>
            </p:nvSpPr>
            <p:spPr>
              <a:xfrm>
                <a:off x="6154866" y="5797409"/>
                <a:ext cx="2468880" cy="548640"/>
              </a:xfrm>
              <a:prstGeom prst="roundRect">
                <a:avLst>
                  <a:gd name="adj" fmla="val 15187"/>
                </a:avLst>
              </a:prstGeom>
              <a:solidFill>
                <a:srgbClr val="FFFFFF"/>
              </a:solidFill>
              <a:ln w="9525" cap="flat" cmpd="sng" algn="ctr">
                <a:solidFill>
                  <a:srgbClr val="5C4F61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algn="ctr"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Developers, </a:t>
                </a:r>
                <a:r>
                  <a:rPr lang="en-US" sz="1100" b="1" noProof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oppins"/>
                  </a:rPr>
                  <a:t>Data Science Eng, </a:t>
                </a:r>
                <a:r>
                  <a:rPr lang="en-US" sz="1100" b="1" kern="0" noProof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Business SMEs</a:t>
                </a:r>
                <a:endParaRPr kumimoji="0" lang="en-US" sz="1100" b="1" i="0" u="none" strike="noStrike" kern="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4" name="Straight Connector 12">
                <a:extLst>
                  <a:ext uri="{FF2B5EF4-FFF2-40B4-BE49-F238E27FC236}">
                    <a16:creationId xmlns:a16="http://schemas.microsoft.com/office/drawing/2014/main" id="{E177CB72-23FA-8E5D-CB12-9B57FE23EC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2002" y="3301897"/>
                <a:ext cx="7854452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6C1D5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" name="Straight Connector 13">
                <a:extLst>
                  <a:ext uri="{FF2B5EF4-FFF2-40B4-BE49-F238E27FC236}">
                    <a16:creationId xmlns:a16="http://schemas.microsoft.com/office/drawing/2014/main" id="{AE758F8B-CF6E-E7C0-5079-115CA4FE7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2002" y="4893935"/>
                <a:ext cx="7854452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6C1D5F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26" name="Picture 17" descr="A close up of a sign&#10;&#10;Description automatically generated">
                <a:extLst>
                  <a:ext uri="{FF2B5EF4-FFF2-40B4-BE49-F238E27FC236}">
                    <a16:creationId xmlns:a16="http://schemas.microsoft.com/office/drawing/2014/main" id="{A70A775A-51A7-A897-B0FC-05104A581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18457" y="2838702"/>
                <a:ext cx="846153" cy="279426"/>
              </a:xfrm>
              <a:prstGeom prst="rect">
                <a:avLst/>
              </a:prstGeom>
            </p:spPr>
          </p:pic>
          <p:sp>
            <p:nvSpPr>
              <p:cNvPr id="28" name="TextBox 19">
                <a:extLst>
                  <a:ext uri="{FF2B5EF4-FFF2-40B4-BE49-F238E27FC236}">
                    <a16:creationId xmlns:a16="http://schemas.microsoft.com/office/drawing/2014/main" id="{B66C8078-3464-5CB0-9441-13F46721EB33}"/>
                  </a:ext>
                </a:extLst>
              </p:cNvPr>
              <p:cNvSpPr txBox="1"/>
              <p:nvPr/>
            </p:nvSpPr>
            <p:spPr>
              <a:xfrm>
                <a:off x="806483" y="4343400"/>
                <a:ext cx="2174603" cy="3693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Fortnightly (Retros) or during escalations</a:t>
                </a:r>
              </a:p>
            </p:txBody>
          </p:sp>
          <p:sp>
            <p:nvSpPr>
              <p:cNvPr id="29" name="TextBox 20">
                <a:extLst>
                  <a:ext uri="{FF2B5EF4-FFF2-40B4-BE49-F238E27FC236}">
                    <a16:creationId xmlns:a16="http://schemas.microsoft.com/office/drawing/2014/main" id="{5F4BB0A8-4964-23F3-E9CA-43CEAFE3D982}"/>
                  </a:ext>
                </a:extLst>
              </p:cNvPr>
              <p:cNvSpPr txBox="1"/>
              <p:nvPr/>
            </p:nvSpPr>
            <p:spPr>
              <a:xfrm>
                <a:off x="813455" y="5905297"/>
                <a:ext cx="218466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Daily, Weekly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(Sprint Planning, Standups, Demos)</a:t>
                </a:r>
              </a:p>
            </p:txBody>
          </p:sp>
          <p:sp>
            <p:nvSpPr>
              <p:cNvPr id="30" name="Rounded Rectangle 88">
                <a:extLst>
                  <a:ext uri="{FF2B5EF4-FFF2-40B4-BE49-F238E27FC236}">
                    <a16:creationId xmlns:a16="http://schemas.microsoft.com/office/drawing/2014/main" id="{1C3681FB-C8EE-41E2-F0C4-6CD971B74B2D}"/>
                  </a:ext>
                </a:extLst>
              </p:cNvPr>
              <p:cNvSpPr/>
              <p:nvPr/>
            </p:nvSpPr>
            <p:spPr>
              <a:xfrm>
                <a:off x="3434797" y="3429428"/>
                <a:ext cx="2468880" cy="548640"/>
              </a:xfrm>
              <a:prstGeom prst="roundRect">
                <a:avLst>
                  <a:gd name="adj" fmla="val 14207"/>
                </a:avLst>
              </a:prstGeom>
              <a:solidFill>
                <a:srgbClr val="FFFFFF"/>
              </a:solidFill>
              <a:ln w="9525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Account Manager</a:t>
                </a:r>
              </a:p>
            </p:txBody>
          </p:sp>
          <p:sp>
            <p:nvSpPr>
              <p:cNvPr id="31" name="Rounded Rectangle 88">
                <a:extLst>
                  <a:ext uri="{FF2B5EF4-FFF2-40B4-BE49-F238E27FC236}">
                    <a16:creationId xmlns:a16="http://schemas.microsoft.com/office/drawing/2014/main" id="{22EB03CA-85B3-4340-9188-F79329654274}"/>
                  </a:ext>
                </a:extLst>
              </p:cNvPr>
              <p:cNvSpPr/>
              <p:nvPr/>
            </p:nvSpPr>
            <p:spPr>
              <a:xfrm>
                <a:off x="3434797" y="4203267"/>
                <a:ext cx="2468880" cy="548640"/>
              </a:xfrm>
              <a:prstGeom prst="roundRect">
                <a:avLst>
                  <a:gd name="adj" fmla="val 11467"/>
                </a:avLst>
              </a:prstGeom>
              <a:solidFill>
                <a:srgbClr val="FFFFFF"/>
              </a:solidFill>
              <a:ln w="9525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PM/PO/Tech Lead</a:t>
                </a:r>
              </a:p>
            </p:txBody>
          </p:sp>
          <p:sp>
            <p:nvSpPr>
              <p:cNvPr id="32" name="Rounded Rectangle 88">
                <a:extLst>
                  <a:ext uri="{FF2B5EF4-FFF2-40B4-BE49-F238E27FC236}">
                    <a16:creationId xmlns:a16="http://schemas.microsoft.com/office/drawing/2014/main" id="{22CB078A-4DE1-35E7-5DC5-98FC35A62321}"/>
                  </a:ext>
                </a:extLst>
              </p:cNvPr>
              <p:cNvSpPr/>
              <p:nvPr/>
            </p:nvSpPr>
            <p:spPr>
              <a:xfrm>
                <a:off x="3446681" y="5043261"/>
                <a:ext cx="2468880" cy="548640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lvl="0" algn="ctr">
                  <a:defRPr/>
                </a:pPr>
                <a:r>
                  <a:rPr lang="en-US" sz="1100" b="1" kern="0" noProof="1">
                    <a:solidFill>
                      <a:srgbClr val="6C1D5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PM/PO/Tech Lead</a:t>
                </a:r>
              </a:p>
            </p:txBody>
          </p:sp>
          <p:sp>
            <p:nvSpPr>
              <p:cNvPr id="33" name="Rounded Rectangle 88">
                <a:extLst>
                  <a:ext uri="{FF2B5EF4-FFF2-40B4-BE49-F238E27FC236}">
                    <a16:creationId xmlns:a16="http://schemas.microsoft.com/office/drawing/2014/main" id="{B9EFA2F4-52CE-52D1-FCCC-2D2AA5A348E6}"/>
                  </a:ext>
                </a:extLst>
              </p:cNvPr>
              <p:cNvSpPr/>
              <p:nvPr/>
            </p:nvSpPr>
            <p:spPr>
              <a:xfrm>
                <a:off x="3466923" y="5782663"/>
                <a:ext cx="2468880" cy="548640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Architect, Engineers</a:t>
                </a:r>
              </a:p>
            </p:txBody>
          </p:sp>
          <p:sp>
            <p:nvSpPr>
              <p:cNvPr id="34" name="Rounded Rectangle 87">
                <a:extLst>
                  <a:ext uri="{FF2B5EF4-FFF2-40B4-BE49-F238E27FC236}">
                    <a16:creationId xmlns:a16="http://schemas.microsoft.com/office/drawing/2014/main" id="{09B1D941-7F47-F45B-C52A-133DA20F1696}"/>
                  </a:ext>
                </a:extLst>
              </p:cNvPr>
              <p:cNvSpPr/>
              <p:nvPr/>
            </p:nvSpPr>
            <p:spPr>
              <a:xfrm>
                <a:off x="9053420" y="2571075"/>
                <a:ext cx="2668342" cy="3211588"/>
              </a:xfrm>
              <a:prstGeom prst="roundRect">
                <a:avLst>
                  <a:gd name="adj" fmla="val 4001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DFDAE1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ounded Rectangle 181">
                <a:extLst>
                  <a:ext uri="{FF2B5EF4-FFF2-40B4-BE49-F238E27FC236}">
                    <a16:creationId xmlns:a16="http://schemas.microsoft.com/office/drawing/2014/main" id="{BDF95528-48BF-AB39-564C-97FD804C7052}"/>
                  </a:ext>
                </a:extLst>
              </p:cNvPr>
              <p:cNvSpPr/>
              <p:nvPr/>
            </p:nvSpPr>
            <p:spPr>
              <a:xfrm>
                <a:off x="9885962" y="4151979"/>
                <a:ext cx="1609631" cy="548640"/>
              </a:xfrm>
              <a:prstGeom prst="round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PM/PO/Tech Lead, Busines/Product  Owner</a:t>
                </a:r>
              </a:p>
            </p:txBody>
          </p:sp>
          <p:sp>
            <p:nvSpPr>
              <p:cNvPr id="36" name="Rounded Rectangle 181">
                <a:extLst>
                  <a:ext uri="{FF2B5EF4-FFF2-40B4-BE49-F238E27FC236}">
                    <a16:creationId xmlns:a16="http://schemas.microsoft.com/office/drawing/2014/main" id="{391A1FA5-8B3B-6504-1CC9-44CD58A243AA}"/>
                  </a:ext>
                </a:extLst>
              </p:cNvPr>
              <p:cNvSpPr/>
              <p:nvPr/>
            </p:nvSpPr>
            <p:spPr>
              <a:xfrm>
                <a:off x="9885962" y="3250630"/>
                <a:ext cx="1609631" cy="548640"/>
              </a:xfrm>
              <a:prstGeom prst="round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Account Manager, Project Manager</a:t>
                </a:r>
              </a:p>
            </p:txBody>
          </p:sp>
          <p:sp>
            <p:nvSpPr>
              <p:cNvPr id="37" name="Rectangle 28">
                <a:extLst>
                  <a:ext uri="{FF2B5EF4-FFF2-40B4-BE49-F238E27FC236}">
                    <a16:creationId xmlns:a16="http://schemas.microsoft.com/office/drawing/2014/main" id="{1EBF4833-8144-8107-61DA-7ABCDF471599}"/>
                  </a:ext>
                </a:extLst>
              </p:cNvPr>
              <p:cNvSpPr/>
              <p:nvPr/>
            </p:nvSpPr>
            <p:spPr>
              <a:xfrm>
                <a:off x="9496161" y="2767731"/>
                <a:ext cx="1782860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Xebia Escalation Levels</a:t>
                </a:r>
              </a:p>
            </p:txBody>
          </p:sp>
          <p:sp>
            <p:nvSpPr>
              <p:cNvPr id="38" name="Rectangle 29">
                <a:extLst>
                  <a:ext uri="{FF2B5EF4-FFF2-40B4-BE49-F238E27FC236}">
                    <a16:creationId xmlns:a16="http://schemas.microsoft.com/office/drawing/2014/main" id="{6C61C1C1-39F2-18F9-5A45-499653734878}"/>
                  </a:ext>
                </a:extLst>
              </p:cNvPr>
              <p:cNvSpPr/>
              <p:nvPr/>
            </p:nvSpPr>
            <p:spPr>
              <a:xfrm>
                <a:off x="9164980" y="3370718"/>
                <a:ext cx="66236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Level 3</a:t>
                </a:r>
              </a:p>
            </p:txBody>
          </p:sp>
          <p:sp>
            <p:nvSpPr>
              <p:cNvPr id="39" name="Rectangle 30">
                <a:extLst>
                  <a:ext uri="{FF2B5EF4-FFF2-40B4-BE49-F238E27FC236}">
                    <a16:creationId xmlns:a16="http://schemas.microsoft.com/office/drawing/2014/main" id="{29B4DFC9-5F3E-256C-AE9B-CBA3BF823EE9}"/>
                  </a:ext>
                </a:extLst>
              </p:cNvPr>
              <p:cNvSpPr/>
              <p:nvPr/>
            </p:nvSpPr>
            <p:spPr>
              <a:xfrm>
                <a:off x="9164980" y="4292719"/>
                <a:ext cx="66236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Level 2</a:t>
                </a:r>
              </a:p>
            </p:txBody>
          </p:sp>
          <p:sp>
            <p:nvSpPr>
              <p:cNvPr id="40" name="Rectangle 31">
                <a:extLst>
                  <a:ext uri="{FF2B5EF4-FFF2-40B4-BE49-F238E27FC236}">
                    <a16:creationId xmlns:a16="http://schemas.microsoft.com/office/drawing/2014/main" id="{41B5334F-2E77-E46C-1EC6-8CBDADD64F1A}"/>
                  </a:ext>
                </a:extLst>
              </p:cNvPr>
              <p:cNvSpPr/>
              <p:nvPr/>
            </p:nvSpPr>
            <p:spPr>
              <a:xfrm>
                <a:off x="9173778" y="5194068"/>
                <a:ext cx="66236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Level 1</a:t>
                </a:r>
              </a:p>
            </p:txBody>
          </p:sp>
          <p:sp>
            <p:nvSpPr>
              <p:cNvPr id="41" name="Rounded Rectangle 181">
                <a:extLst>
                  <a:ext uri="{FF2B5EF4-FFF2-40B4-BE49-F238E27FC236}">
                    <a16:creationId xmlns:a16="http://schemas.microsoft.com/office/drawing/2014/main" id="{EBFE972D-A53D-0B02-A2B3-7DBB487A3EB5}"/>
                  </a:ext>
                </a:extLst>
              </p:cNvPr>
              <p:cNvSpPr/>
              <p:nvPr/>
            </p:nvSpPr>
            <p:spPr>
              <a:xfrm>
                <a:off x="9885962" y="5053328"/>
                <a:ext cx="1609631" cy="548640"/>
              </a:xfrm>
              <a:prstGeom prst="roundRect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6C1D5F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Team</a:t>
                </a:r>
              </a:p>
            </p:txBody>
          </p:sp>
          <p:sp>
            <p:nvSpPr>
              <p:cNvPr id="42" name="Rounded Rectangle 88">
                <a:extLst>
                  <a:ext uri="{FF2B5EF4-FFF2-40B4-BE49-F238E27FC236}">
                    <a16:creationId xmlns:a16="http://schemas.microsoft.com/office/drawing/2014/main" id="{3C756194-4F87-4777-B724-C0A30FF29265}"/>
                  </a:ext>
                </a:extLst>
              </p:cNvPr>
              <p:cNvSpPr/>
              <p:nvPr/>
            </p:nvSpPr>
            <p:spPr>
              <a:xfrm>
                <a:off x="6144763" y="3429428"/>
                <a:ext cx="2468880" cy="548640"/>
              </a:xfrm>
              <a:prstGeom prst="roundRect">
                <a:avLst>
                  <a:gd name="adj" fmla="val 8200"/>
                </a:avLst>
              </a:prstGeom>
              <a:solidFill>
                <a:srgbClr val="FFFFFF"/>
              </a:solidFill>
              <a:ln w="9525" cap="flat" cmpd="sng" algn="ctr">
                <a:solidFill>
                  <a:srgbClr val="5C4F61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Project Manger</a:t>
                </a:r>
              </a:p>
            </p:txBody>
          </p:sp>
          <p:sp>
            <p:nvSpPr>
              <p:cNvPr id="43" name="Rounded Rectangle 88">
                <a:extLst>
                  <a:ext uri="{FF2B5EF4-FFF2-40B4-BE49-F238E27FC236}">
                    <a16:creationId xmlns:a16="http://schemas.microsoft.com/office/drawing/2014/main" id="{70D06673-CF58-07B3-7567-B44629D1B26E}"/>
                  </a:ext>
                </a:extLst>
              </p:cNvPr>
              <p:cNvSpPr/>
              <p:nvPr/>
            </p:nvSpPr>
            <p:spPr>
              <a:xfrm>
                <a:off x="6144763" y="4212852"/>
                <a:ext cx="2468880" cy="548640"/>
              </a:xfrm>
              <a:prstGeom prst="roundRect">
                <a:avLst>
                  <a:gd name="adj" fmla="val 10619"/>
                </a:avLst>
              </a:prstGeom>
              <a:solidFill>
                <a:srgbClr val="FFFFFF"/>
              </a:solidFill>
              <a:ln w="9525" cap="flat" cmpd="sng" algn="ctr">
                <a:solidFill>
                  <a:srgbClr val="5C4F61"/>
                </a:solidFill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Business/Product Owner</a:t>
                </a:r>
              </a:p>
            </p:txBody>
          </p:sp>
          <p:sp>
            <p:nvSpPr>
              <p:cNvPr id="44" name="pole tekstowe 41">
                <a:extLst>
                  <a:ext uri="{FF2B5EF4-FFF2-40B4-BE49-F238E27FC236}">
                    <a16:creationId xmlns:a16="http://schemas.microsoft.com/office/drawing/2014/main" id="{4C1B6E8D-F7AD-56CB-DBDC-B1F94A8662E9}"/>
                  </a:ext>
                </a:extLst>
              </p:cNvPr>
              <p:cNvSpPr txBox="1"/>
              <p:nvPr/>
            </p:nvSpPr>
            <p:spPr>
              <a:xfrm>
                <a:off x="6644917" y="2705152"/>
                <a:ext cx="1191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Client</a:t>
                </a:r>
                <a:endParaRPr kumimoji="0" lang="en-US" sz="1800" b="1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5" name="Łącznik prosty ze strzałką 9">
                <a:extLst>
                  <a:ext uri="{FF2B5EF4-FFF2-40B4-BE49-F238E27FC236}">
                    <a16:creationId xmlns:a16="http://schemas.microsoft.com/office/drawing/2014/main" id="{CC671B64-B792-4B0C-0EB5-F6BBBA398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431" y="3482263"/>
                <a:ext cx="0" cy="2687752"/>
              </a:xfrm>
              <a:prstGeom prst="straightConnector1">
                <a:avLst/>
              </a:prstGeom>
              <a:ln>
                <a:solidFill>
                  <a:srgbClr val="BBBDC7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ounded Rectangle 181">
                <a:extLst>
                  <a:ext uri="{FF2B5EF4-FFF2-40B4-BE49-F238E27FC236}">
                    <a16:creationId xmlns:a16="http://schemas.microsoft.com/office/drawing/2014/main" id="{C8C3E66F-77F2-5537-7059-24F896C67775}"/>
                  </a:ext>
                </a:extLst>
              </p:cNvPr>
              <p:cNvSpPr/>
              <p:nvPr/>
            </p:nvSpPr>
            <p:spPr>
              <a:xfrm rot="16200000">
                <a:off x="-566761" y="4619283"/>
                <a:ext cx="2167632" cy="399600"/>
              </a:xfrm>
              <a:prstGeom prst="roundRect">
                <a:avLst>
                  <a:gd name="adj" fmla="val 38120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lIns="91428" tIns="45715" rIns="91428" bIns="45715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1">
                    <a:ln>
                      <a:noFill/>
                    </a:ln>
                    <a:solidFill>
                      <a:srgbClr val="6C1D5F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Communication flow</a:t>
                </a:r>
              </a:p>
            </p:txBody>
          </p:sp>
        </p:grpSp>
        <p:sp>
          <p:nvSpPr>
            <p:cNvPr id="10" name="Cirkel">
              <a:extLst>
                <a:ext uri="{FF2B5EF4-FFF2-40B4-BE49-F238E27FC236}">
                  <a16:creationId xmlns:a16="http://schemas.microsoft.com/office/drawing/2014/main" id="{D3AF5161-413A-06B5-BE45-6EB9F0FD6C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28149" y="5053026"/>
              <a:ext cx="539999" cy="540000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77800" dist="59322" dir="5400000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8255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defRPr>
              </a:pPr>
              <a:endParaRPr kumimoji="0" lang="en-US" sz="32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Proxima Nova Semibold"/>
                <a:cs typeface="Arial" panose="020B0604020202020204" pitchFamily="34" charset="0"/>
                <a:sym typeface="Proxima Nova Semibold"/>
              </a:endParaRPr>
            </a:p>
          </p:txBody>
        </p:sp>
        <p:pic>
          <p:nvPicPr>
            <p:cNvPr id="11" name="Graphic 131">
              <a:extLst>
                <a:ext uri="{FF2B5EF4-FFF2-40B4-BE49-F238E27FC236}">
                  <a16:creationId xmlns:a16="http://schemas.microsoft.com/office/drawing/2014/main" id="{9613BAD3-FA16-CC98-8AF5-3DB7F0F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45147" y="5169788"/>
              <a:ext cx="306000" cy="306000"/>
            </a:xfrm>
            <a:prstGeom prst="rect">
              <a:avLst/>
            </a:prstGeom>
          </p:spPr>
        </p:pic>
        <p:sp>
          <p:nvSpPr>
            <p:cNvPr id="12" name="Cirkel">
              <a:extLst>
                <a:ext uri="{FF2B5EF4-FFF2-40B4-BE49-F238E27FC236}">
                  <a16:creationId xmlns:a16="http://schemas.microsoft.com/office/drawing/2014/main" id="{935C7D23-D1D9-3F69-A52F-C3B6B0124B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28150" y="3501314"/>
              <a:ext cx="539999" cy="540000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177800" dist="59322" dir="5400000" rotWithShape="0">
                <a:srgbClr val="000000">
                  <a:alpha val="1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8255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defRPr>
              </a:pPr>
              <a:endParaRPr kumimoji="0" lang="en-US" sz="32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Proxima Nova Semibold"/>
                <a:cs typeface="Arial" panose="020B0604020202020204" pitchFamily="34" charset="0"/>
                <a:sym typeface="Proxima Nova Semibold"/>
              </a:endParaRPr>
            </a:p>
          </p:txBody>
        </p:sp>
        <p:pic>
          <p:nvPicPr>
            <p:cNvPr id="13" name="Graphic 135">
              <a:extLst>
                <a:ext uri="{FF2B5EF4-FFF2-40B4-BE49-F238E27FC236}">
                  <a16:creationId xmlns:a16="http://schemas.microsoft.com/office/drawing/2014/main" id="{F271DF22-BA55-05BA-61DE-3482CE24B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45148" y="3618314"/>
              <a:ext cx="306000" cy="30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232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7AE2-1236-D965-1724-11F86CC6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11E442-6E67-805F-1FF0-96EC56581118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3682D7-F763-D90A-4DFC-5196FAA9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6AC73-3EBA-1CDA-AA61-BE647BAC7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5DEDB9DB-469A-A445-3C15-25E719E0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Governance Model</a:t>
            </a:r>
          </a:p>
        </p:txBody>
      </p:sp>
      <p:grpSp>
        <p:nvGrpSpPr>
          <p:cNvPr id="4" name="Grupa 95">
            <a:extLst>
              <a:ext uri="{FF2B5EF4-FFF2-40B4-BE49-F238E27FC236}">
                <a16:creationId xmlns:a16="http://schemas.microsoft.com/office/drawing/2014/main" id="{609DAD51-302A-0811-5A96-78F9318772C0}"/>
              </a:ext>
            </a:extLst>
          </p:cNvPr>
          <p:cNvGrpSpPr/>
          <p:nvPr/>
        </p:nvGrpSpPr>
        <p:grpSpPr>
          <a:xfrm>
            <a:off x="1580605" y="1905435"/>
            <a:ext cx="9855818" cy="4469311"/>
            <a:chOff x="564795" y="1530517"/>
            <a:chExt cx="10371695" cy="4414660"/>
          </a:xfrm>
        </p:grpSpPr>
        <p:cxnSp>
          <p:nvCxnSpPr>
            <p:cNvPr id="6" name="Straight Connector 89">
              <a:extLst>
                <a:ext uri="{FF2B5EF4-FFF2-40B4-BE49-F238E27FC236}">
                  <a16:creationId xmlns:a16="http://schemas.microsoft.com/office/drawing/2014/main" id="{E789CC8E-0E58-2E6F-9BA6-C73D0B5B2D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386" y="3202971"/>
              <a:ext cx="9622553" cy="1316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  <p:sp>
          <p:nvSpPr>
            <p:cNvPr id="7" name="Rectangle 106">
              <a:extLst>
                <a:ext uri="{FF2B5EF4-FFF2-40B4-BE49-F238E27FC236}">
                  <a16:creationId xmlns:a16="http://schemas.microsoft.com/office/drawing/2014/main" id="{DD4108DF-3554-45B8-570B-D6AD5A451A3A}"/>
                </a:ext>
              </a:extLst>
            </p:cNvPr>
            <p:cNvSpPr/>
            <p:nvPr/>
          </p:nvSpPr>
          <p:spPr>
            <a:xfrm>
              <a:off x="3879339" y="1534154"/>
              <a:ext cx="3417100" cy="253972"/>
            </a:xfrm>
            <a:prstGeom prst="roundRect">
              <a:avLst/>
            </a:prstGeom>
            <a:solidFill>
              <a:srgbClr val="5C4F61"/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b="1" noProof="1">
                  <a:solidFill>
                    <a:prstClr val="white"/>
                  </a:solidFill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G</a:t>
              </a: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oal</a:t>
              </a:r>
              <a:endParaRPr kumimoji="0" lang="en-US" sz="105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" name="Rectangle 115">
              <a:extLst>
                <a:ext uri="{FF2B5EF4-FFF2-40B4-BE49-F238E27FC236}">
                  <a16:creationId xmlns:a16="http://schemas.microsoft.com/office/drawing/2014/main" id="{55F1BEBC-70DC-B9B8-118B-1BE77BCB8F8C}"/>
                </a:ext>
              </a:extLst>
            </p:cNvPr>
            <p:cNvSpPr/>
            <p:nvPr/>
          </p:nvSpPr>
          <p:spPr>
            <a:xfrm>
              <a:off x="7522608" y="1530517"/>
              <a:ext cx="1297723" cy="253972"/>
            </a:xfrm>
            <a:prstGeom prst="roundRect">
              <a:avLst/>
            </a:prstGeom>
            <a:solidFill>
              <a:srgbClr val="5C4F61"/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Cadence</a:t>
              </a: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AutoShape 15">
              <a:extLst>
                <a:ext uri="{FF2B5EF4-FFF2-40B4-BE49-F238E27FC236}">
                  <a16:creationId xmlns:a16="http://schemas.microsoft.com/office/drawing/2014/main" id="{5B9DADF2-BFE0-8DBB-7C48-B403DD0B8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7474" y="4760758"/>
              <a:ext cx="3678733" cy="563080"/>
            </a:xfrm>
            <a:prstGeom prst="roundRect">
              <a:avLst>
                <a:gd name="adj" fmla="val 5148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Review of Sprint tasks and verification of Sprint goal achievement.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Review of the schedule for upcoming iterations and updating backlog priorities.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Collecting and discussing stakeholder feedback.</a:t>
              </a:r>
            </a:p>
          </p:txBody>
        </p:sp>
        <p:sp>
          <p:nvSpPr>
            <p:cNvPr id="10" name="Rectangle 100">
              <a:extLst>
                <a:ext uri="{FF2B5EF4-FFF2-40B4-BE49-F238E27FC236}">
                  <a16:creationId xmlns:a16="http://schemas.microsoft.com/office/drawing/2014/main" id="{507B4944-BD6F-3A15-34E8-3F38864D7D7B}"/>
                </a:ext>
              </a:extLst>
            </p:cNvPr>
            <p:cNvSpPr/>
            <p:nvPr/>
          </p:nvSpPr>
          <p:spPr>
            <a:xfrm>
              <a:off x="2323116" y="1533319"/>
              <a:ext cx="1297723" cy="253972"/>
            </a:xfrm>
            <a:prstGeom prst="roundRect">
              <a:avLst/>
            </a:prstGeom>
            <a:solidFill>
              <a:srgbClr val="5C4F61"/>
            </a:solidFill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b="1" noProof="1">
                  <a:solidFill>
                    <a:prstClr val="white"/>
                  </a:solidFill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M</a:t>
              </a: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eetings</a:t>
              </a: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14">
              <a:extLst>
                <a:ext uri="{FF2B5EF4-FFF2-40B4-BE49-F238E27FC236}">
                  <a16:creationId xmlns:a16="http://schemas.microsoft.com/office/drawing/2014/main" id="{A4CB8D9E-EFE5-4F73-5760-5173E593B806}"/>
                </a:ext>
              </a:extLst>
            </p:cNvPr>
            <p:cNvSpPr/>
            <p:nvPr/>
          </p:nvSpPr>
          <p:spPr>
            <a:xfrm>
              <a:off x="9140681" y="2116533"/>
              <a:ext cx="1747425" cy="880733"/>
            </a:xfrm>
            <a:prstGeom prst="roundRect">
              <a:avLst/>
            </a:prstGeom>
            <a:solidFill>
              <a:srgbClr val="DFDA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ea typeface="Segoe UI" panose="020B0502040204020203" pitchFamily="34" charset="0"/>
                  <a:cs typeface="Arial" panose="020B0604020202020204" pitchFamily="34" charset="0"/>
                </a:rPr>
                <a:t>Senior Executives &amp; Leadership</a:t>
              </a:r>
            </a:p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Project Manager</a:t>
              </a:r>
              <a:endParaRPr kumimoji="0" lang="en-US" sz="900" b="0" i="0" u="none" strike="noStrike" kern="1200" cap="none" spc="0" normalizeH="0" baseline="0" noProof="1">
                <a:ln>
                  <a:noFill/>
                </a:ln>
                <a:solidFill>
                  <a:srgbClr val="4F1545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4">
              <a:extLst>
                <a:ext uri="{FF2B5EF4-FFF2-40B4-BE49-F238E27FC236}">
                  <a16:creationId xmlns:a16="http://schemas.microsoft.com/office/drawing/2014/main" id="{9EC7D4C8-6BE5-CFF4-4BF2-1D59F6AB1A89}"/>
                </a:ext>
              </a:extLst>
            </p:cNvPr>
            <p:cNvSpPr/>
            <p:nvPr/>
          </p:nvSpPr>
          <p:spPr>
            <a:xfrm>
              <a:off x="9124056" y="4671742"/>
              <a:ext cx="1746129" cy="661835"/>
            </a:xfrm>
            <a:prstGeom prst="roundRect">
              <a:avLst/>
            </a:prstGeom>
            <a:solidFill>
              <a:srgbClr val="DFDA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Scrum Team</a:t>
              </a:r>
            </a:p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Client Stakeholders</a:t>
              </a:r>
            </a:p>
          </p:txBody>
        </p:sp>
        <p:sp>
          <p:nvSpPr>
            <p:cNvPr id="13" name="Rectangle 114">
              <a:extLst>
                <a:ext uri="{FF2B5EF4-FFF2-40B4-BE49-F238E27FC236}">
                  <a16:creationId xmlns:a16="http://schemas.microsoft.com/office/drawing/2014/main" id="{C4AD8060-D52C-815F-7AF3-7DF5A1823AE6}"/>
                </a:ext>
              </a:extLst>
            </p:cNvPr>
            <p:cNvSpPr/>
            <p:nvPr/>
          </p:nvSpPr>
          <p:spPr>
            <a:xfrm>
              <a:off x="9124056" y="4026273"/>
              <a:ext cx="1746129" cy="383087"/>
            </a:xfrm>
            <a:prstGeom prst="roundRect">
              <a:avLst/>
            </a:prstGeom>
            <a:solidFill>
              <a:srgbClr val="DFDA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Scrum Team</a:t>
              </a:r>
            </a:p>
          </p:txBody>
        </p:sp>
        <p:cxnSp>
          <p:nvCxnSpPr>
            <p:cNvPr id="14" name="Straight Connector 139">
              <a:extLst>
                <a:ext uri="{FF2B5EF4-FFF2-40B4-BE49-F238E27FC236}">
                  <a16:creationId xmlns:a16="http://schemas.microsoft.com/office/drawing/2014/main" id="{B26AFB1E-F7CD-8B3A-2AE4-EF4440E7919B}"/>
                </a:ext>
              </a:extLst>
            </p:cNvPr>
            <p:cNvCxnSpPr>
              <a:cxnSpLocks/>
            </p:cNvCxnSpPr>
            <p:nvPr/>
          </p:nvCxnSpPr>
          <p:spPr>
            <a:xfrm>
              <a:off x="3745724" y="1826064"/>
              <a:ext cx="0" cy="408519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ash"/>
              <a:miter lim="800000"/>
            </a:ln>
            <a:effectLst/>
          </p:spPr>
        </p:cxnSp>
        <p:sp>
          <p:nvSpPr>
            <p:cNvPr id="15" name="Rectangle 115">
              <a:extLst>
                <a:ext uri="{FF2B5EF4-FFF2-40B4-BE49-F238E27FC236}">
                  <a16:creationId xmlns:a16="http://schemas.microsoft.com/office/drawing/2014/main" id="{55E980FD-2FBB-3CD3-C571-065BDE44A20E}"/>
                </a:ext>
              </a:extLst>
            </p:cNvPr>
            <p:cNvSpPr/>
            <p:nvPr/>
          </p:nvSpPr>
          <p:spPr>
            <a:xfrm>
              <a:off x="9140681" y="1530517"/>
              <a:ext cx="1795809" cy="253972"/>
            </a:xfrm>
            <a:prstGeom prst="roundRect">
              <a:avLst/>
            </a:prstGeom>
            <a:solidFill>
              <a:srgbClr val="5C4F61"/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b="1" noProof="1">
                  <a:solidFill>
                    <a:prstClr val="white"/>
                  </a:solidFill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P</a:t>
              </a: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articipants</a:t>
              </a: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14">
              <a:extLst>
                <a:ext uri="{FF2B5EF4-FFF2-40B4-BE49-F238E27FC236}">
                  <a16:creationId xmlns:a16="http://schemas.microsoft.com/office/drawing/2014/main" id="{79CB1D78-565E-641D-BCC9-95B9D66C78F0}"/>
                </a:ext>
              </a:extLst>
            </p:cNvPr>
            <p:cNvSpPr/>
            <p:nvPr/>
          </p:nvSpPr>
          <p:spPr>
            <a:xfrm>
              <a:off x="2325060" y="2135459"/>
              <a:ext cx="1287419" cy="870196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6C1D5F"/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Project Team</a:t>
              </a:r>
            </a:p>
          </p:txBody>
        </p:sp>
        <p:sp>
          <p:nvSpPr>
            <p:cNvPr id="18" name="Rectangle 114">
              <a:extLst>
                <a:ext uri="{FF2B5EF4-FFF2-40B4-BE49-F238E27FC236}">
                  <a16:creationId xmlns:a16="http://schemas.microsoft.com/office/drawing/2014/main" id="{E8714982-245E-F78B-D679-2861AD5F20F3}"/>
                </a:ext>
              </a:extLst>
            </p:cNvPr>
            <p:cNvSpPr/>
            <p:nvPr/>
          </p:nvSpPr>
          <p:spPr>
            <a:xfrm>
              <a:off x="2331954" y="4711766"/>
              <a:ext cx="1266202" cy="661836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9D92B3"/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Sprint Review / Demo</a:t>
              </a:r>
            </a:p>
          </p:txBody>
        </p:sp>
        <p:sp>
          <p:nvSpPr>
            <p:cNvPr id="19" name="Rectangle 114">
              <a:extLst>
                <a:ext uri="{FF2B5EF4-FFF2-40B4-BE49-F238E27FC236}">
                  <a16:creationId xmlns:a16="http://schemas.microsoft.com/office/drawing/2014/main" id="{389484AF-8518-D92B-E2B0-959C6F7B5543}"/>
                </a:ext>
              </a:extLst>
            </p:cNvPr>
            <p:cNvSpPr/>
            <p:nvPr/>
          </p:nvSpPr>
          <p:spPr>
            <a:xfrm>
              <a:off x="2331954" y="5588424"/>
              <a:ext cx="1266202" cy="356753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9D92B3"/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Sprint Retrospective</a:t>
              </a:r>
            </a:p>
          </p:txBody>
        </p:sp>
        <p:sp>
          <p:nvSpPr>
            <p:cNvPr id="20" name="Rectangle 114">
              <a:extLst>
                <a:ext uri="{FF2B5EF4-FFF2-40B4-BE49-F238E27FC236}">
                  <a16:creationId xmlns:a16="http://schemas.microsoft.com/office/drawing/2014/main" id="{E049AC2C-D64A-EA23-E367-7A1A67A420E3}"/>
                </a:ext>
              </a:extLst>
            </p:cNvPr>
            <p:cNvSpPr/>
            <p:nvPr/>
          </p:nvSpPr>
          <p:spPr>
            <a:xfrm>
              <a:off x="2331954" y="4066297"/>
              <a:ext cx="1259308" cy="401880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9D92B3"/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Daily Scrum</a:t>
              </a:r>
            </a:p>
          </p:txBody>
        </p:sp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DA40EA3B-C950-D81A-D4B7-CAB8BE801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5079" y="2452667"/>
              <a:ext cx="1101437" cy="267208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34" charset="-128"/>
                  <a:cs typeface="Arial" panose="020B0604020202020204" pitchFamily="34" charset="0"/>
                </a:rPr>
                <a:t>Fortnightly </a:t>
              </a:r>
            </a:p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34" charset="-128"/>
                  <a:cs typeface="Arial" panose="020B0604020202020204" pitchFamily="34" charset="0"/>
                </a:rPr>
                <a:t>or during escalations</a:t>
              </a:r>
            </a:p>
          </p:txBody>
        </p:sp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170C6F68-651A-C5B0-5344-0DEDA4399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3354" y="4815293"/>
              <a:ext cx="1098266" cy="314766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wrap="none"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0" marR="0" lvl="0" indent="0" algn="ctr" defTabSz="68570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34" charset="-128"/>
                  <a:cs typeface="Arial" panose="020B0604020202020204" pitchFamily="34" charset="0"/>
                </a:rPr>
                <a:t>Fortnightly</a:t>
              </a:r>
              <a:endPara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AutoShape 14">
              <a:extLst>
                <a:ext uri="{FF2B5EF4-FFF2-40B4-BE49-F238E27FC236}">
                  <a16:creationId xmlns:a16="http://schemas.microsoft.com/office/drawing/2014/main" id="{29550769-23A2-896B-AA94-C511FC589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703" y="2215646"/>
              <a:ext cx="3756112" cy="739937"/>
            </a:xfrm>
            <a:prstGeom prst="roundRect">
              <a:avLst>
                <a:gd name="adj" fmla="val 6005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Review of progress against the project plan and metrics review.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Managing dependencies.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Review of risks and mitigation plans.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Removing obstacles.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Managing scope changes.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Review of the schedule and budget.</a:t>
              </a:r>
            </a:p>
          </p:txBody>
        </p:sp>
        <p:sp>
          <p:nvSpPr>
            <p:cNvPr id="24" name="AutoShape 16">
              <a:extLst>
                <a:ext uri="{FF2B5EF4-FFF2-40B4-BE49-F238E27FC236}">
                  <a16:creationId xmlns:a16="http://schemas.microsoft.com/office/drawing/2014/main" id="{68695AC3-D390-20CC-622E-6ADDCE511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404" y="3454670"/>
              <a:ext cx="3678731" cy="400926"/>
            </a:xfrm>
            <a:prstGeom prst="roundRect">
              <a:avLst>
                <a:gd name="adj" fmla="val 6005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Defining the scope of the Sprint and Sprint goal.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Validating task readiness against the Definition of Ready.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Coordinating dependencies and eliminating obstacles.</a:t>
              </a:r>
            </a:p>
          </p:txBody>
        </p:sp>
        <p:sp>
          <p:nvSpPr>
            <p:cNvPr id="25" name="AutoShape 16">
              <a:extLst>
                <a:ext uri="{FF2B5EF4-FFF2-40B4-BE49-F238E27FC236}">
                  <a16:creationId xmlns:a16="http://schemas.microsoft.com/office/drawing/2014/main" id="{DA3502F4-0823-408C-8303-04B2C70C4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216" y="4048457"/>
              <a:ext cx="3678731" cy="400926"/>
            </a:xfrm>
            <a:prstGeom prst="roundRect">
              <a:avLst>
                <a:gd name="adj" fmla="val 6005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Self-organization and coordination of the team's work.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Ongoing task review and adaptation to changes.</a:t>
              </a:r>
            </a:p>
            <a:p>
              <a:pPr marL="171450" marR="0" lvl="0" indent="-17145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Identifying and removing obstacles.</a:t>
              </a:r>
            </a:p>
          </p:txBody>
        </p:sp>
        <p:sp>
          <p:nvSpPr>
            <p:cNvPr id="26" name="AutoShape 3">
              <a:extLst>
                <a:ext uri="{FF2B5EF4-FFF2-40B4-BE49-F238E27FC236}">
                  <a16:creationId xmlns:a16="http://schemas.microsoft.com/office/drawing/2014/main" id="{DD8EC511-B92C-8777-BF7C-5ECA05B44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5079" y="4098348"/>
              <a:ext cx="1098266" cy="314766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wrap="none"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0" marR="0" lvl="0" indent="0" algn="ctr" defTabSz="68570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Daily</a:t>
              </a:r>
              <a:endPara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114">
              <a:extLst>
                <a:ext uri="{FF2B5EF4-FFF2-40B4-BE49-F238E27FC236}">
                  <a16:creationId xmlns:a16="http://schemas.microsoft.com/office/drawing/2014/main" id="{AF1D9CE0-2CB8-C517-E83C-C278FCD43986}"/>
                </a:ext>
              </a:extLst>
            </p:cNvPr>
            <p:cNvSpPr/>
            <p:nvPr/>
          </p:nvSpPr>
          <p:spPr>
            <a:xfrm>
              <a:off x="9124056" y="5548400"/>
              <a:ext cx="1746129" cy="356753"/>
            </a:xfrm>
            <a:prstGeom prst="roundRect">
              <a:avLst/>
            </a:prstGeom>
            <a:solidFill>
              <a:srgbClr val="DFDA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Scrum Team</a:t>
              </a:r>
            </a:p>
          </p:txBody>
        </p:sp>
        <p:sp>
          <p:nvSpPr>
            <p:cNvPr id="28" name="Rectangle 114">
              <a:extLst>
                <a:ext uri="{FF2B5EF4-FFF2-40B4-BE49-F238E27FC236}">
                  <a16:creationId xmlns:a16="http://schemas.microsoft.com/office/drawing/2014/main" id="{18BA3972-CC7B-4420-062E-A5DDD25656AF}"/>
                </a:ext>
              </a:extLst>
            </p:cNvPr>
            <p:cNvSpPr/>
            <p:nvPr/>
          </p:nvSpPr>
          <p:spPr>
            <a:xfrm>
              <a:off x="9124056" y="3376604"/>
              <a:ext cx="1746129" cy="497500"/>
            </a:xfrm>
            <a:prstGeom prst="roundRect">
              <a:avLst/>
            </a:prstGeom>
            <a:solidFill>
              <a:srgbClr val="DFDA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Scrum Team</a:t>
              </a:r>
            </a:p>
            <a:p>
              <a:pPr marL="0" marR="0" lvl="0" indent="0" algn="ctr" defTabSz="6857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1">
                  <a:ln>
                    <a:noFill/>
                  </a:ln>
                  <a:solidFill>
                    <a:srgbClr val="4F1545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Client SMEs</a:t>
              </a:r>
            </a:p>
          </p:txBody>
        </p:sp>
        <p:sp>
          <p:nvSpPr>
            <p:cNvPr id="29" name="AutoShape 15">
              <a:extLst>
                <a:ext uri="{FF2B5EF4-FFF2-40B4-BE49-F238E27FC236}">
                  <a16:creationId xmlns:a16="http://schemas.microsoft.com/office/drawing/2014/main" id="{5F4A1052-BF8E-6390-D570-81D8CFC85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216" y="5638964"/>
              <a:ext cx="3665109" cy="220026"/>
            </a:xfrm>
            <a:prstGeom prst="roundRect">
              <a:avLst>
                <a:gd name="adj" fmla="val 5148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171450" marR="0" lvl="0" indent="-171450" algn="l" defTabSz="68570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Evaluation of Sprint execution and identification of areas for improvement</a:t>
              </a:r>
              <a:endParaRPr kumimoji="0" lang="en-US" sz="3600" b="1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114">
              <a:extLst>
                <a:ext uri="{FF2B5EF4-FFF2-40B4-BE49-F238E27FC236}">
                  <a16:creationId xmlns:a16="http://schemas.microsoft.com/office/drawing/2014/main" id="{CA67B2CD-F911-168B-31C6-F2E6D29B41B9}"/>
                </a:ext>
              </a:extLst>
            </p:cNvPr>
            <p:cNvSpPr/>
            <p:nvPr/>
          </p:nvSpPr>
          <p:spPr>
            <a:xfrm>
              <a:off x="2325060" y="3415321"/>
              <a:ext cx="1266202" cy="506032"/>
            </a:xfrm>
            <a:prstGeom prst="roundRect">
              <a:avLst/>
            </a:prstGeom>
            <a:solidFill>
              <a:srgbClr val="FFFFFF"/>
            </a:solidFill>
            <a:ln w="6350" cap="flat" cmpd="sng" algn="ctr">
              <a:solidFill>
                <a:srgbClr val="9D92B3"/>
              </a:solidFill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Sprint Planning &amp; </a:t>
              </a:r>
              <a:r>
                <a:rPr kumimoji="0" lang="en-US" sz="10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+mn-lt"/>
                  <a:cs typeface="Arial" panose="020B0604020202020204" pitchFamily="34" charset="0"/>
                </a:rPr>
                <a:t>Refinement</a:t>
              </a:r>
              <a:endPara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D84BFD90-FC17-DDB5-DF65-470537995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8250" y="3433869"/>
              <a:ext cx="1098266" cy="314766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wrap="none"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0" marR="0" lvl="0" indent="0" algn="ctr" defTabSz="68570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34" charset="-128"/>
                  <a:cs typeface="Arial" panose="020B0604020202020204" pitchFamily="34" charset="0"/>
                </a:rPr>
                <a:t>Fortnightly</a:t>
              </a:r>
              <a:endPara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AutoShape 3">
              <a:extLst>
                <a:ext uri="{FF2B5EF4-FFF2-40B4-BE49-F238E27FC236}">
                  <a16:creationId xmlns:a16="http://schemas.microsoft.com/office/drawing/2014/main" id="{9FFEDA95-355E-FA16-098B-DD6EA026D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2301" y="5631003"/>
              <a:ext cx="1098266" cy="220026"/>
            </a:xfrm>
            <a:prstGeom prst="roundRect">
              <a:avLst>
                <a:gd name="adj" fmla="val 16667"/>
              </a:avLst>
            </a:prstGeom>
            <a:noFill/>
            <a:ln w="12700">
              <a:noFill/>
              <a:round/>
              <a:headEnd/>
              <a:tailEnd/>
            </a:ln>
          </p:spPr>
          <p:txBody>
            <a:bodyPr wrap="none" lIns="91440" tIns="45720" rIns="91440" bIns="45720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marL="0" marR="0" lvl="0" indent="0" algn="ctr" defTabSz="68570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itchFamily="34" charset="-128"/>
                  <a:cs typeface="Arial" panose="020B0604020202020204" pitchFamily="34" charset="0"/>
                </a:rPr>
                <a:t>Fortnightly</a:t>
              </a:r>
              <a:endPara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Straight Connector 139">
              <a:extLst>
                <a:ext uri="{FF2B5EF4-FFF2-40B4-BE49-F238E27FC236}">
                  <a16:creationId xmlns:a16="http://schemas.microsoft.com/office/drawing/2014/main" id="{2E14F596-6E1C-6FA7-6669-8E1B3758A330}"/>
                </a:ext>
              </a:extLst>
            </p:cNvPr>
            <p:cNvCxnSpPr>
              <a:cxnSpLocks/>
            </p:cNvCxnSpPr>
            <p:nvPr/>
          </p:nvCxnSpPr>
          <p:spPr>
            <a:xfrm>
              <a:off x="7409522" y="1819958"/>
              <a:ext cx="0" cy="408519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ash"/>
              <a:miter lim="800000"/>
            </a:ln>
            <a:effectLst/>
          </p:spPr>
        </p:cxnSp>
        <p:cxnSp>
          <p:nvCxnSpPr>
            <p:cNvPr id="34" name="Straight Connector 139">
              <a:extLst>
                <a:ext uri="{FF2B5EF4-FFF2-40B4-BE49-F238E27FC236}">
                  <a16:creationId xmlns:a16="http://schemas.microsoft.com/office/drawing/2014/main" id="{8F8B4B09-8A64-28FE-3D7D-0D96586DC963}"/>
                </a:ext>
              </a:extLst>
            </p:cNvPr>
            <p:cNvCxnSpPr>
              <a:cxnSpLocks/>
            </p:cNvCxnSpPr>
            <p:nvPr/>
          </p:nvCxnSpPr>
          <p:spPr>
            <a:xfrm>
              <a:off x="8960492" y="1773795"/>
              <a:ext cx="0" cy="408519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ash"/>
              <a:miter lim="800000"/>
            </a:ln>
            <a:effectLst/>
          </p:spPr>
        </p:cxnSp>
        <p:sp>
          <p:nvSpPr>
            <p:cNvPr id="35" name="Rounded Rectangle 181">
              <a:extLst>
                <a:ext uri="{FF2B5EF4-FFF2-40B4-BE49-F238E27FC236}">
                  <a16:creationId xmlns:a16="http://schemas.microsoft.com/office/drawing/2014/main" id="{15818493-49A6-39FF-4EE8-1B9E57997CF8}"/>
                </a:ext>
              </a:extLst>
            </p:cNvPr>
            <p:cNvSpPr/>
            <p:nvPr/>
          </p:nvSpPr>
          <p:spPr>
            <a:xfrm>
              <a:off x="564795" y="2591174"/>
              <a:ext cx="1300810" cy="400090"/>
            </a:xfrm>
            <a:prstGeom prst="round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91428" tIns="45715" rIns="91428" bIns="4571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Delivery Management</a:t>
              </a:r>
            </a:p>
          </p:txBody>
        </p:sp>
        <p:sp>
          <p:nvSpPr>
            <p:cNvPr id="36" name="Rounded Rectangle 181">
              <a:extLst>
                <a:ext uri="{FF2B5EF4-FFF2-40B4-BE49-F238E27FC236}">
                  <a16:creationId xmlns:a16="http://schemas.microsoft.com/office/drawing/2014/main" id="{BFF6EE8E-63CE-0D1B-EE16-2F1EE2AA51E5}"/>
                </a:ext>
              </a:extLst>
            </p:cNvPr>
            <p:cNvSpPr/>
            <p:nvPr/>
          </p:nvSpPr>
          <p:spPr>
            <a:xfrm>
              <a:off x="564795" y="4646642"/>
              <a:ext cx="1300810" cy="400090"/>
            </a:xfrm>
            <a:prstGeom prst="round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91428" tIns="45715" rIns="91428" bIns="4571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Engineering Team</a:t>
              </a:r>
            </a:p>
          </p:txBody>
        </p:sp>
      </p:grpSp>
      <p:sp>
        <p:nvSpPr>
          <p:cNvPr id="37" name="TextBox 29">
            <a:extLst>
              <a:ext uri="{FF2B5EF4-FFF2-40B4-BE49-F238E27FC236}">
                <a16:creationId xmlns:a16="http://schemas.microsoft.com/office/drawing/2014/main" id="{ED26B2FF-2AFE-6AA1-A15D-E1844616F858}"/>
              </a:ext>
            </a:extLst>
          </p:cNvPr>
          <p:cNvSpPr txBox="1"/>
          <p:nvPr/>
        </p:nvSpPr>
        <p:spPr>
          <a:xfrm>
            <a:off x="1677233" y="1474236"/>
            <a:ext cx="100321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OPERATIONAL LEVEL</a:t>
            </a:r>
          </a:p>
        </p:txBody>
      </p:sp>
      <p:sp>
        <p:nvSpPr>
          <p:cNvPr id="38" name="Cirkel">
            <a:extLst>
              <a:ext uri="{FF2B5EF4-FFF2-40B4-BE49-F238E27FC236}">
                <a16:creationId xmlns:a16="http://schemas.microsoft.com/office/drawing/2014/main" id="{5FBBE386-6E70-EAA5-BF36-627D6485EAAB}"/>
              </a:ext>
            </a:extLst>
          </p:cNvPr>
          <p:cNvSpPr>
            <a:spLocks noChangeAspect="1"/>
          </p:cNvSpPr>
          <p:nvPr/>
        </p:nvSpPr>
        <p:spPr>
          <a:xfrm>
            <a:off x="996066" y="4799034"/>
            <a:ext cx="494239" cy="49424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177800" dist="59322" dir="5400000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pP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Proxima Nova Semibold"/>
              <a:cs typeface="Arial" panose="020B0604020202020204" pitchFamily="34" charset="0"/>
              <a:sym typeface="Proxima Nova Semibold"/>
            </a:endParaRPr>
          </a:p>
        </p:txBody>
      </p:sp>
      <p:pic>
        <p:nvPicPr>
          <p:cNvPr id="39" name="Graphic 131">
            <a:extLst>
              <a:ext uri="{FF2B5EF4-FFF2-40B4-BE49-F238E27FC236}">
                <a16:creationId xmlns:a16="http://schemas.microsoft.com/office/drawing/2014/main" id="{A3E2EFBC-BA53-B44C-1A20-C611F427E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234" y="4915796"/>
            <a:ext cx="280069" cy="280069"/>
          </a:xfrm>
          <a:prstGeom prst="rect">
            <a:avLst/>
          </a:prstGeom>
        </p:spPr>
      </p:pic>
      <p:sp>
        <p:nvSpPr>
          <p:cNvPr id="40" name="Cirkel">
            <a:extLst>
              <a:ext uri="{FF2B5EF4-FFF2-40B4-BE49-F238E27FC236}">
                <a16:creationId xmlns:a16="http://schemas.microsoft.com/office/drawing/2014/main" id="{0F52E674-64CF-7E59-49F7-4D633CD55486}"/>
              </a:ext>
            </a:extLst>
          </p:cNvPr>
          <p:cNvSpPr>
            <a:spLocks noChangeAspect="1"/>
          </p:cNvSpPr>
          <p:nvPr/>
        </p:nvSpPr>
        <p:spPr>
          <a:xfrm>
            <a:off x="996066" y="2504775"/>
            <a:ext cx="494239" cy="494240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177800" dist="59322" dir="5400000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pP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Proxima Nova Semibold"/>
              <a:cs typeface="Arial" panose="020B0604020202020204" pitchFamily="34" charset="0"/>
              <a:sym typeface="Proxima Nova Semibold"/>
            </a:endParaRPr>
          </a:p>
        </p:txBody>
      </p:sp>
      <p:pic>
        <p:nvPicPr>
          <p:cNvPr id="41" name="Graphic 135">
            <a:extLst>
              <a:ext uri="{FF2B5EF4-FFF2-40B4-BE49-F238E27FC236}">
                <a16:creationId xmlns:a16="http://schemas.microsoft.com/office/drawing/2014/main" id="{97576207-29FE-22FF-1484-44610BFB94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3234" y="2621775"/>
            <a:ext cx="280069" cy="28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4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E347B4-581F-4BC6-8577-570548F345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328B99-1107-4646-BA7C-2C7284F882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0DF255-2402-47D5-9945-82427FAB7460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Governance Model</vt:lpstr>
      <vt:lpstr>Governance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2026-01-23T11:35:27Z</dcterms:created>
  <dcterms:modified xsi:type="dcterms:W3CDTF">2026-01-23T11:36:07Z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